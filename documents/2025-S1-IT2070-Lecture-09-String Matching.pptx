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presentation.xml" ContentType="application/vnd.openxmlformats-officedocument.presentationml.presentation.main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25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6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79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11.xml" ContentType="application/vnd.openxmlformats-officedocument.theme+xml"/>
  <Override PartName="/ppt/theme/theme10.xml" ContentType="application/vnd.openxmlformats-officedocument.theme+xml"/>
  <Override PartName="/ppt/theme/theme3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  <p:sldMasterId id="2147483731" r:id="rId2"/>
    <p:sldMasterId id="2147483778" r:id="rId3"/>
    <p:sldMasterId id="2147483781" r:id="rId4"/>
    <p:sldMasterId id="2147483854" r:id="rId5"/>
    <p:sldMasterId id="2147483866" r:id="rId6"/>
    <p:sldMasterId id="2147483878" r:id="rId7"/>
    <p:sldMasterId id="2147483890" r:id="rId8"/>
    <p:sldMasterId id="2147483902" r:id="rId9"/>
  </p:sldMasterIdLst>
  <p:notesMasterIdLst>
    <p:notesMasterId r:id="rId38"/>
  </p:notesMasterIdLst>
  <p:handoutMasterIdLst>
    <p:handoutMasterId r:id="rId39"/>
  </p:handoutMasterIdLst>
  <p:sldIdLst>
    <p:sldId id="295" r:id="rId10"/>
    <p:sldId id="259" r:id="rId11"/>
    <p:sldId id="257" r:id="rId12"/>
    <p:sldId id="258" r:id="rId13"/>
    <p:sldId id="261" r:id="rId14"/>
    <p:sldId id="260" r:id="rId15"/>
    <p:sldId id="262" r:id="rId16"/>
    <p:sldId id="263" r:id="rId17"/>
    <p:sldId id="264" r:id="rId18"/>
    <p:sldId id="265" r:id="rId19"/>
    <p:sldId id="268" r:id="rId20"/>
    <p:sldId id="266" r:id="rId21"/>
    <p:sldId id="276" r:id="rId22"/>
    <p:sldId id="291" r:id="rId23"/>
    <p:sldId id="272" r:id="rId24"/>
    <p:sldId id="288" r:id="rId25"/>
    <p:sldId id="270" r:id="rId26"/>
    <p:sldId id="284" r:id="rId27"/>
    <p:sldId id="292" r:id="rId28"/>
    <p:sldId id="275" r:id="rId29"/>
    <p:sldId id="277" r:id="rId30"/>
    <p:sldId id="278" r:id="rId31"/>
    <p:sldId id="279" r:id="rId32"/>
    <p:sldId id="280" r:id="rId33"/>
    <p:sldId id="281" r:id="rId34"/>
    <p:sldId id="293" r:id="rId35"/>
    <p:sldId id="282" r:id="rId36"/>
    <p:sldId id="286" r:id="rId37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49D1"/>
    <a:srgbClr val="2E2EB6"/>
    <a:srgbClr val="333399"/>
    <a:srgbClr val="990033"/>
    <a:srgbClr val="777777"/>
    <a:srgbClr val="CCECFF"/>
    <a:srgbClr val="CCFFFF"/>
    <a:srgbClr val="E1E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79" autoAdjust="0"/>
    <p:restoredTop sz="90929"/>
  </p:normalViewPr>
  <p:slideViewPr>
    <p:cSldViewPr showGuides="1">
      <p:cViewPr varScale="1">
        <p:scale>
          <a:sx n="69" d="100"/>
          <a:sy n="69" d="100"/>
        </p:scale>
        <p:origin x="438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customXml" Target="../customXml/item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notesMaster" Target="notesMasters/notesMaster1.xml"/><Relationship Id="rId46" Type="http://schemas.openxmlformats.org/officeDocument/2006/relationships/customXml" Target="../customXml/item3.xml"/><Relationship Id="rId20" Type="http://schemas.openxmlformats.org/officeDocument/2006/relationships/slide" Target="slides/slide11.xml"/><Relationship Id="rId4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fld id="{41E96F0F-8A5E-42F1-A11B-E797ACA4B8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6090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fld id="{374E8519-6DCB-43DC-8CF6-86141D8379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1632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4E8519-6DCB-43DC-8CF6-86141D83793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79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176A3EF-7A25-4282-8EE9-CB2E0B69A619}" type="slidenum">
              <a:rPr lang="en-US" sz="1300" smtClean="0"/>
              <a:pPr/>
              <a:t>18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657749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4E8519-6DCB-43DC-8CF6-86141D83793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136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ACC91F-6653-44EA-A6DC-985781B04947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9FFA7-30F0-4DA3-B805-39BA26527B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1643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DAA 214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Sri Lanka Institute of Information Technology.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7450A-CB1F-48CA-80C6-361792E890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7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8C6D8-424C-4DC1-9CE5-AEDFF04D0548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7A3F49-D901-4280-9492-3FAD695BF3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4245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6DD49-F5F7-4DE4-A0F9-83CA385305CA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351E86-B198-4F69-B90C-DAD8869B65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6994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70A21-EF49-4191-B016-22106D3CD76B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DD2D06-1BFB-44D8-B42E-6BDE027B1B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9474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66B05-3CE8-4D3C-A930-E8324DF44243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FAA2A-E5BC-4676-8550-EB3B96EE86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3400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336FA6-EAFF-4B10-B25D-1F6170B68C42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DA4854-875F-4891-9D7F-3BF11A9403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5284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6203E-BF4E-4F05-B47C-A01DB86CF0EA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2C210-BF6C-42F9-8A43-33EA290B01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086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83FBA0-B088-41AD-8119-2D7001DB7929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166A55-E892-4195-893F-052FDD5EB6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4228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E0B15F-8784-484D-9D3D-FC35C47D8742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21C3FD-4173-4126-8D6E-2363DE3F6D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6863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E07CB3-32F2-4C97-8A59-6B8EB6EE49D7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FC414B-114C-41B0-A3BA-818F32E1AB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1434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DAA 214</a:t>
            </a: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22D3EE-A054-45D0-93B6-ECF387991F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8698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8DB2BA-527C-4EF6-B7C7-B3BF776B4B65}" type="datetime1">
              <a:rPr lang="en-US" smtClean="0"/>
              <a:pPr>
                <a:defRPr/>
              </a:pPr>
              <a:t>10/16/2022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4FDA9DA1-CE52-8443-B8D6-E23FE3EF4E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D939BDE5-D244-FF40-80F2-B60858EDCF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75838295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9F6CC-FCD5-4344-80DA-742BEEE0FBC1}" type="datetimeFigureOut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55663-5E17-4F3F-B247-1E3445F71F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896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9F6CC-FCD5-4344-80DA-742BEEE0FBC1}" type="datetimeFigureOut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ED73D-FEA5-4488-BF20-A3AED820F6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86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9F6CC-FCD5-4344-80DA-742BEEE0FBC1}" type="datetimeFigureOut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F4265-E12B-43D8-B697-0B5D7950BF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150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9F6CC-FCD5-4344-80DA-742BEEE0FBC1}" type="datetimeFigureOut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08CAE-0CFE-4B27-A7A3-A8ED84620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838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9F6CC-FCD5-4344-80DA-742BEEE0FBC1}" type="datetimeFigureOut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71B2B-3BE4-4600-B538-F44B54D4E1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563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9F6CC-FCD5-4344-80DA-742BEEE0FBC1}" type="datetimeFigureOut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24FF9E-3A37-4347-81D3-D0B9A4C539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657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9F6CC-FCD5-4344-80DA-742BEEE0FBC1}" type="datetimeFigureOut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596CC-EC01-4F9F-8E0A-5B05B8DC7D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462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9F6CC-FCD5-4344-80DA-742BEEE0FBC1}" type="datetimeFigureOut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9200A5-243E-4ECC-AA01-29EBB90FCC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1695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9F6CC-FCD5-4344-80DA-742BEEE0FBC1}" type="datetimeFigureOut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FBB15-04A3-4B96-BA67-671A3EB8FA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223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9F6CC-FCD5-4344-80DA-742BEEE0FBC1}" type="datetimeFigureOut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14025A-E81E-474F-94D0-725A5A9952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356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9F6CC-FCD5-4344-80DA-742BEEE0FBC1}" type="datetimeFigureOut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36CCC-B420-45C0-AE99-63DE1B0978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606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636B8D-EF95-453B-8D62-9E63B128BA75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1480800" y="6386514"/>
            <a:ext cx="609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DEB066-7E72-44C1-A16D-06CF0318C0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522837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DAA 214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Sri Lanka Institute of Information Technology.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461191-691D-4842-9A58-8C6BD581A6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196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A2144-3FC5-4A04-988B-CD1DAC15315A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E9B7F2-E2D5-4BF5-B20C-0C78CBE815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0478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45EE68-0E00-4B6B-9664-F54CB8FBB916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671C6-BBD0-498A-A021-241FB31F31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312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184D55-3A56-4BD4-ABC8-4F82966CCAF0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379D9-ED87-4AC9-BAD8-92F94D46D0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781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9384C-3435-4F38-81FB-16218F98DDAB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B2CBA-8E82-4C10-B088-AF63C630C7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631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049E60-6E1A-40D6-A1C5-87F76CC33F5B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3D855A-5043-44FD-9DBB-70EC3CAD22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007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92DC69-C2AD-495E-933F-F38F2A35D682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BB7D8-B122-419F-868F-FC0EB835A9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658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C7159C-ACCC-48E7-89AC-25705859EF7C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080F1-0C15-4623-BB63-10E7A641C7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105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688D1-5ED8-410C-BB06-53AA76AF03EE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EE2113-1D35-4382-9B36-95A2A03EDD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774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A58F4-8303-424A-AE69-748046CFCF6C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E369BF-31F9-4D21-80DD-F8C0511CE3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493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10B062-E84C-4B4D-8296-DF51C8C7928F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9BBF4-1C45-489C-98B5-51F0F9EE34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90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F4E065-98B3-4D8C-A02E-EFDD16DCD489}" type="datetime1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A87713-B203-4048-8B81-01AF0B5658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143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8DB2BA-527C-4EF6-B7C7-B3BF776B4B65}" type="datetime1">
              <a:rPr lang="en-US" smtClean="0"/>
              <a:pPr>
                <a:defRPr/>
              </a:pPr>
              <a:t>10/16/2022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4FDA9DA1-CE52-8443-B8D6-E23FE3EF4E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D939BDE5-D244-FF40-80F2-B60858EDCF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568149368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xmlns="" id="{1EEF7828-B2C2-6249-ACC8-7F26D0269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8DB2BA-527C-4EF6-B7C7-B3BF776B4B65}" type="datetime1">
              <a:rPr lang="en-US" smtClean="0"/>
              <a:pPr>
                <a:defRPr/>
              </a:pPr>
              <a:t>10/16/2022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4FDA9DA1-CE52-8443-B8D6-E23FE3EF4E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pic>
        <p:nvPicPr>
          <p:cNvPr id="16" name="Picture 15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6374280-EE02-3945-8F18-DCD500B9C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D939BDE5-D244-FF40-80F2-B60858EDCF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787395433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45EE68-0E00-4B6B-9664-F54CB8FBB916}" type="datetime1">
              <a:rPr lang="en-US" smtClean="0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2671C6-BBD0-498A-A021-241FB31F317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783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184D55-3A56-4BD4-ABC8-4F82966CCAF0}" type="datetime1">
              <a:rPr lang="en-US" smtClean="0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9379D9-ED87-4AC9-BAD8-92F94D46D0F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145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39384C-3435-4F38-81FB-16218F98DDAB}" type="datetime1">
              <a:rPr lang="en-US" smtClean="0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9B2CBA-8E82-4C10-B088-AF63C630C7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389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049E60-6E1A-40D6-A1C5-87F76CC33F5B}" type="datetime1">
              <a:rPr lang="en-US" smtClean="0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3D855A-5043-44FD-9DBB-70EC3CAD22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819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A92DC69-C2AD-495E-933F-F38F2A35D682}" type="datetime1">
              <a:rPr lang="en-US" smtClean="0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2BB7D8-B122-419F-868F-FC0EB835A93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221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8C7159C-ACCC-48E7-89AC-25705859EF7C}" type="datetime1">
              <a:rPr lang="en-US" smtClean="0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080F1-0C15-4623-BB63-10E7A641C7E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6879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B688D1-5ED8-410C-BB06-53AA76AF03EE}" type="datetime1">
              <a:rPr lang="en-US" smtClean="0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EE2113-1D35-4382-9B36-95A2A03EDD4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573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7A58F4-8303-424A-AE69-748046CFCF6C}" type="datetime1">
              <a:rPr lang="en-US" smtClean="0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E369BF-31F9-4D21-80DD-F8C0511CE3E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892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10B062-E84C-4B4D-8296-DF51C8C7928F}" type="datetime1">
              <a:rPr lang="en-US" smtClean="0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E9BBF4-1C45-489C-98B5-51F0F9EE347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6889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BF4E065-98B3-4D8C-A02E-EFDD16DCD489}" type="datetime1">
              <a:rPr lang="en-US" smtClean="0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A87713-B203-4048-8B81-01AF0B56582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3638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xmlns="" id="{E241D156-A2A4-AA41-8F24-6F29CD9140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xmlns="" id="{F01D8E5F-8265-9840-9341-6C27A5EEB5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:a16="http://schemas.microsoft.com/office/drawing/2014/main" xmlns="" id="{AFEC7928-F94D-C141-9599-44AA58DCD2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6A55C290-0B7A-CD49-8ED4-25631D938F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98780651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814671-2548-9B4A-BC90-1ABE6275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5569FD-E7A8-A74A-A927-2163C5DE8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F2D0C97-F2BE-1F46-8DF3-8613C7F2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D5D1BA-4427-5F48-BCA8-775A2EAA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31FA457-CD19-7E42-BCE7-19B42ECF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2666880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C28224-E7F2-D948-A75F-27BE76022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A73274C-2B21-0E4A-A8E9-C4D4E96E6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42E7795-320A-AC41-9319-FA00A973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3C24889-94C4-FE4A-9EBD-FA34D044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6BF730-9B59-8B4F-B1CD-A90E43E4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4945690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371C7E-F47F-A740-8161-500BA0D2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7DE7F3-B809-3045-901F-BB3700330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FCA977B-1B4C-1849-A510-DDB31D1A9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56FE30D-E1F2-764A-9FF3-4DDFE8D0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8037FC9-FF28-704F-8F73-3DCC0304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8239922-8FF3-334D-8AC6-167CC3AB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8418532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E6440F-30BD-EC47-8F28-28E35C0C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69DA827-0A00-0648-B3C1-5EB6984BE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6653E0A-ADA9-D640-8D2A-C335F0671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AEB8E11-FD7A-4B4D-8CC4-981C10EC3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2637FC6-D39A-6640-BEFD-A3934C1D6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B38863D-C098-2A48-85BA-53A743E6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58E1737-7D3B-AC4D-B2DE-7CAB5F1F0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6FC1A37-0D4F-1E44-AB54-2A9C08D7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7115352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AD0CF2-4FE2-0C4E-AEC9-EB428EBA2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1089262-86FD-7942-AE17-870A1596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8D7CE8-E9C6-394E-9DAE-F509FDB9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AEAA6A5-D0FA-D541-A385-0FA4D8DE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249937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0B41372-4AA9-3441-B767-BA047677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EC336D2-6CA7-5E40-BEA6-53E1620E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09F1234-6AFD-AA4B-B051-5E11EF96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052907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361E-BD52-844C-8A6A-E222CA60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74FF224-5B8F-DB4D-81C2-5F1D81FE3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93F5B4C-BF1F-734B-BC03-36188B6CA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D1B5693-0A12-1148-B9BA-7B0E67A4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BA2E3EC-0501-DA47-9535-DE116BB8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50B25EA-A6C9-354B-8B1D-1EEAC246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563185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5C0641-E214-4E42-B539-42FF88BF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0E43784-F0EF-6F42-B7A0-9379BC227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01D639B-E1B6-AD43-9162-E3F155046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C16F307-58F8-994F-98FB-536A4E05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7E646F2-FC06-4C49-B044-3A96AD885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3C1C94D-A47C-FE48-BD38-11973AF9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2783450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A67E0F-1F1B-A847-8BEA-0716D072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4A535DE-2758-BE47-87AA-DA04AB40B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130FD5-1ECF-064E-B6B3-F6EC4674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0E3543A-6C83-194B-8589-B5C624CE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88BD9C0-70AE-A44A-8305-6C32BDB1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9130649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CDC077D-2EDB-BC42-B959-CEA813812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40515B0-AD48-6E41-AC9E-DEC15DB56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6F8E1C-5EA0-3D4A-B64B-FD9A0F2E5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0AC8324-3C92-E941-B869-105EBE24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4F6284-20B3-0840-8AEA-87581B17C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539410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xmlns="" id="{C24D18CF-89A3-BF48-A490-7D1906AD74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xmlns="" id="{36E61CA8-E35C-2448-901A-D4F36D2012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xmlns="" id="{2F6304E1-D957-4548-8D94-C8F685FDB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2949BD21-1F58-F74D-9D98-21A3ADDDC7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93043419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355DFE-D4AA-884A-B0AF-909119139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73A78A9-BE45-8147-A585-E8BF901F4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D0ED910-A7F2-3C4F-942D-96EC31BD6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E1B81F6-89F5-094B-B16A-B100DF46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107FA00-28C6-BA47-9BCA-7602B6A4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218346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868632-3FF1-114F-89D8-26506CF7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0DDBC5B-0688-4245-914D-57EEBBBCA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60DCD3-0138-984B-9BCF-6A74A20B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E5E250C-F25C-8346-9557-E4D2F5B1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F5E146A-B9E0-2445-8288-0E18F947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0099614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E12DBE-F99A-AC47-AC4D-FD4FF285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F8C7D9-6025-3D48-B9EF-8468F88C9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47C8ECB-A5E1-6846-B4E5-6725A1E59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C7030B0-F053-F540-A7D4-08C5A3FF4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C28EE3-05A7-C746-A06A-68E7C599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E2372DA-7F41-3B43-AAD3-06278222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376164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5CCD59-2B2F-6342-84CC-CDBFBF00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606C3F1-A786-B74F-87EE-CCD26105F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8B797CC-B575-114C-AC86-C67B45A16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22AE595-D8FB-8848-A7E1-4324FAE22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ED88016-0A86-5B47-B42F-A3FCBEAF9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D4D908D-C1E4-7D48-ABB0-FD884D88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51DCA8C-250C-4E4C-BB6E-24A1E1072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6A10730-617D-044F-9490-2AD97541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5855503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6FC8B4-28B8-7041-BEB1-52BD3610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BCB3380-E09E-3C43-9A92-E6EB0B3D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794D097-9D59-9C4B-BD9A-0A0E9785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39D3078-4BD3-854C-BA6D-351397A8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9442536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013292B-95FC-A54C-9E21-7CA64D61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2F27E7C-3225-5F43-948B-76F37A8FA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876F8A8-3F94-954F-BD63-8F423C03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7581747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531035-7105-3F46-B23E-61880CF3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928537-2308-084C-85CA-D1F5990BF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63C8F6B-0EB7-EF42-B6FC-DED9B2D7D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2235400-3E45-6E4C-ACDA-7B27CF3E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3763210-D575-3D45-AF1D-8B81BF97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F8D18E9-72B9-5447-BBC9-A7B58B6B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0058740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0AAE6D-A7C6-864C-A0E6-98D87046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23753E8-2A7F-BA43-B4B3-415AB2E9C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0DEA259-B848-884C-9F89-9D13CB352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D763B9E-0D38-434D-A026-41C9B601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0D3B9E2-8D80-7742-9888-1EC7509D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2FB6CA9-994F-1245-9771-E23FDCA94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4360411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959689-1C00-884F-82C8-067B59B4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9029053-FF3C-FF48-AEE9-7FA009A38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BA20541-2512-D84F-AD2C-DA512A9E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2571CD-CC46-FA4F-897E-4535749F7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1C40A0A-EA86-7442-BE2F-385D1E22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9553572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655A014-6951-BE44-8A86-DAA0F07B7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FEBB579-260D-AB49-9B80-1A21613D3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6DDAA9-5C47-284E-9934-5E8E122B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C907007-A1FA-1D4F-8D2E-DC92C17B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864ABA-6D4C-764D-8FDA-62C57A76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990345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129F7F3-9F03-6745-82D9-1C58E2ED72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xmlns="" id="{6EB73741-F5ED-864D-931A-858A844D7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51CA3039-84A1-C946-A5F7-5CBD9EE424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24264AD4-A097-5B4B-98C9-A1C1BF02FC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91847867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68BA11-1A32-C54B-9309-C6FC3DF5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DBCA5A-D390-484A-A55D-EBAE9C16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30A0CE0-255B-9D48-9895-1DBBF8FB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5200B41-8B4D-3641-A6E2-4EAEEDAC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60300A-5925-B849-9D04-6ACF5173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5247612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CE10CD-5FF6-D644-8F75-3C6E0F56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FBA6A57-A120-F94D-8EA3-EA3D86415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B221499-307A-7643-ADE6-D298E00C8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A4F30D1-7714-374F-BC33-73B2A620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0E1605-2E39-8141-97F7-8C650BA2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9626834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BD3FCB-D002-214D-B46A-827BC002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EE28CA7-1D76-6E4F-87EA-6BDB547CC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E48C7E8-E7DE-D34B-BA57-8BD8A6E94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5526544-4FE6-B44F-A69D-7A923256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759E1D6-3EEE-B84B-8130-05675423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E8D2B60-A597-0942-BB72-AC0130F4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9355211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7D9156-7ED5-6F41-97D9-1B475000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9787EFE-7F1F-5041-AE5E-693F96ABB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7D5EA84-F4FA-4E4D-852B-D0A78283B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6763292-D36A-5A45-B6AF-B1ACAFB2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63B6209-A769-6240-9DC9-34223F043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E30CFE5-EF40-C04C-A4DD-83D33920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FADC4E6-AD1E-4F43-BC6C-2FF050C6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5D8BF98-4A8B-9D45-BC3D-148F8219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471231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C601A1-9589-2B40-9187-92DC38536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DAB0B05-C27C-7640-8ABE-679BF30C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D38BC55-A0B6-9049-AF6D-5C21E1940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27D89E6-B899-8A41-99BC-FE0CBF25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6731128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B71877D-7DAA-A24D-9830-DA354FB5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EAF4227-3C44-644C-98C2-6091B0D94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4BBBC5F-BACA-B445-ADDB-B88691DE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715351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3282E9-373E-1B42-B3E5-DED5A09B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D3C892-7991-DB4A-9FCB-6BEC76DF3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A5D14E8-9C9F-3C45-8ED5-01DA001F0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A90D87D-73D0-E24D-B666-C32B866F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A8C982A-56C6-6C4B-9164-37536622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1055C7F-5748-A947-9451-D18E491C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7737168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B0E9F9-3F5C-5F4A-AB69-E3FDCC70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9A7E557-0685-DE49-A6F7-FAF3135D1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0058FE6-9CAD-854A-B539-D16466D05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775E515-7DAA-E648-BD3E-E4FEE608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D80FF43-7001-1845-ABEA-41845D26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8757134-E5FE-A54C-9B90-EA4CBFA2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7836988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2B99E8-36B5-0949-8513-689C34F55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68ABE95-8117-C043-8DB8-E267B453A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EF5E56E-ECDE-A644-96DE-56082F59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3C3A234-4F81-A841-B3AF-33C41FFF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F8A6CA2-D71B-C04F-8425-17588281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1159341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5FB5A0C-AF3E-DD4A-9869-9D0CB4AA8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E54FB47-CB7D-D541-AADE-0A562EAAB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217B44-9C32-5040-9951-6284080FB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CD8170D-7439-1C4C-B41A-F911F36F6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B49A723-3CA4-C843-9091-FB60545B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8960654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FE6D7474-90FC-2843-A6C6-7EC64A4399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2137A8-B7A9-2A46-AC45-4250534E91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AC908751-67EF-B24F-9891-A9E6E40477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B8097590-88B5-144D-AFF3-0A7EEBB731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92459197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8D2487-9088-DE47-98DB-6EAF68301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174E3A-DC25-E64A-888C-94941F13A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CA14187-3913-374E-AEAF-80AA66EC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A24E1D9-21DE-9141-9208-3C74FF80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F7364CB-CA1E-5244-A1D2-083E4C3E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855155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58F076-D2AB-2943-AF9A-72D3F807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53F7BF9-0A61-FF4F-8395-027DE0E18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D6C7C4D-D285-9A4B-8BB5-37386095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8D86127-0EA6-214A-B083-D35F0E93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EE0EDF-60E5-5D4D-9636-81771790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4028559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7F3584-DBD9-744B-8E72-102A4829C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902AA3D-4A15-E34C-8AF7-1009883AB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D136B84-F8B1-F84F-BF1F-6272CA329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DC513C1-A08B-2F44-8DA7-121F90D4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4144FEE-4967-624A-9F10-4D7B7D28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5C9A911-0630-4544-BC4F-184673FF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0375770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6A0E63-D2DB-5D47-878D-DDAFFC9B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CFEB6B-B92B-CC49-8718-2EE2EEC1F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675D6C4-21DD-DD4F-B969-021619D9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CC4CCE0-F6C0-C14E-942C-C53C6113F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67CEE15A-649F-F841-861A-E96BFED1A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0E5F3CB-0847-A149-B2D3-F83591B3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48C7ECC-B6CB-2E4D-A93D-44C1F6F4D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25921A9-D953-1441-89E0-852D67E2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641794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B55A48-96BB-C249-92DA-6D671E6A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8E95BC2-7F4F-A74F-8B65-D090BFF7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0B41E8C-783A-3842-BA95-91CFE50A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0657E49-737A-774F-BEED-4D74F350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2969687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E1E19AB-93A9-CB4F-A97D-C6D0E4C5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9093FA0-71C8-3749-A2F2-ECC7B4B2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AFEE156-6187-6141-BD3E-DA6E1C3A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7074430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281BC4-F8C9-5947-940B-1390E37F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9B7F54-094F-B143-83C5-95C52D9AC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A1066C6-C25C-984E-A0DD-D5415E514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760D5CD-069C-1948-8349-80619053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E5A0036-3325-A94F-85AA-183519D7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32C2FD6-A57A-A249-8976-340497AE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5942535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6E09B5-A5B5-A14A-9542-024E78DD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7006178-F035-6845-97F1-5BE5570EB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249A715-7EC3-FB42-9E17-B990CE9D9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8479DB0-B002-9645-AC57-C3D147390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6D3AAF8-51B9-5C45-B2CD-732A4D78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7662CF3-0416-BF4C-AA63-4B8A7263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9957217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2CADB3-2C61-564D-997C-1DA70B29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6FF8161-6881-D741-89D9-C165F33E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DAD1751-1B65-1F49-A8C2-325477A8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DFCD24-4D35-674F-8BF1-400416E7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827FF32-CD5B-FF41-9C75-89644CC9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8848619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CE3B775-5606-8445-B5C6-D71237AC3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E9F18FC-BDED-8C40-9D95-42AC24805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58FA7EB-3179-0548-99F6-45FFD523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81DB21-8761-1A49-86D0-64300BFB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4A24DBE-D2F1-5E4D-A1D3-D403F04B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9878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image" Target="../media/image10.png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image" Target="../media/image12.png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13" Type="http://schemas.openxmlformats.org/officeDocument/2006/relationships/image" Target="../media/image13.png"/><Relationship Id="rId3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9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93.xml"/><Relationship Id="rId5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92.xml"/><Relationship Id="rId4" Type="http://schemas.openxmlformats.org/officeDocument/2006/relationships/slideLayout" Target="../slideLayouts/slideLayout86.xml"/><Relationship Id="rId9" Type="http://schemas.openxmlformats.org/officeDocument/2006/relationships/slideLayout" Target="../slideLayouts/slideLayout9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999"/>
          <a:stretch>
            <a:fillRect/>
          </a:stretch>
        </p:blipFill>
        <p:spPr bwMode="auto">
          <a:xfrm>
            <a:off x="0" y="6400800"/>
            <a:ext cx="1219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80BB570-DDED-4323-B98A-280420913DC8}" type="datetime1">
              <a:rPr lang="en-US"/>
              <a:pPr>
                <a:defRPr/>
              </a:pPr>
              <a:t>10/16/2022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DA5BE2A-8683-4931-9E7C-6F577E8D942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46597B1-F840-40C3-A31C-543B07195EC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2" name="Picture 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1"/>
          <a:stretch>
            <a:fillRect/>
          </a:stretch>
        </p:blipFill>
        <p:spPr bwMode="auto">
          <a:xfrm>
            <a:off x="10160000" y="0"/>
            <a:ext cx="2032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TextBox 10"/>
          <p:cNvSpPr txBox="1">
            <a:spLocks noChangeArrowheads="1"/>
          </p:cNvSpPr>
          <p:nvPr/>
        </p:nvSpPr>
        <p:spPr bwMode="auto">
          <a:xfrm>
            <a:off x="0" y="6553200"/>
            <a:ext cx="12192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defRPr/>
            </a:pPr>
            <a:r>
              <a:rPr lang="en-US" sz="1600" b="1">
                <a:solidFill>
                  <a:srgbClr val="E87A23"/>
                </a:solidFill>
              </a:rPr>
              <a:t>SLIIT  - Faculty of Computing</a:t>
            </a:r>
          </a:p>
        </p:txBody>
      </p:sp>
      <p:pic>
        <p:nvPicPr>
          <p:cNvPr id="1034" name="Picture 1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999"/>
          <a:stretch>
            <a:fillRect/>
          </a:stretch>
        </p:blipFill>
        <p:spPr bwMode="auto">
          <a:xfrm>
            <a:off x="0" y="0"/>
            <a:ext cx="1016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TextBox 9"/>
          <p:cNvSpPr txBox="1">
            <a:spLocks noChangeArrowheads="1"/>
          </p:cNvSpPr>
          <p:nvPr/>
        </p:nvSpPr>
        <p:spPr bwMode="auto">
          <a:xfrm>
            <a:off x="0" y="-76200"/>
            <a:ext cx="5892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sz="1600" b="1">
                <a:solidFill>
                  <a:schemeClr val="bg1"/>
                </a:solidFill>
              </a:rPr>
              <a:t>Data Structures and Algorithms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838200" y="1395413"/>
            <a:ext cx="105156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Line 10"/>
          <p:cNvSpPr>
            <a:spLocks noChangeShapeType="1"/>
          </p:cNvSpPr>
          <p:nvPr userDrawn="1"/>
        </p:nvSpPr>
        <p:spPr bwMode="auto">
          <a:xfrm>
            <a:off x="304800" y="1752600"/>
            <a:ext cx="115824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914" r:id="rId13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D99F6CC-FCD5-4344-80DA-742BEEE0FBC1}" type="datetimeFigureOut">
              <a:rPr lang="en-US"/>
              <a:pPr>
                <a:defRPr/>
              </a:pPr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FFBAF5C-6A02-492B-8BB8-0E2DDC1C6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33" r="73808"/>
          <a:stretch>
            <a:fillRect/>
          </a:stretch>
        </p:blipFill>
        <p:spPr bwMode="auto">
          <a:xfrm>
            <a:off x="1" y="5410200"/>
            <a:ext cx="3266017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F414F81-D791-464D-97D7-7EE9B62D2FF6}" type="datetime1">
              <a:rPr lang="en-US"/>
              <a:pPr>
                <a:defRPr/>
              </a:pPr>
              <a:t>10/16/2022</a:t>
            </a:fld>
            <a:endParaRPr lang="en-US" dirty="0"/>
          </a:p>
        </p:txBody>
      </p:sp>
      <p:pic>
        <p:nvPicPr>
          <p:cNvPr id="307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10" b="76666"/>
          <a:stretch>
            <a:fillRect/>
          </a:stretch>
        </p:blipFill>
        <p:spPr bwMode="auto">
          <a:xfrm>
            <a:off x="8919634" y="0"/>
            <a:ext cx="3272367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2"/>
          <p:cNvSpPr txBox="1">
            <a:spLocks noChangeArrowheads="1"/>
          </p:cNvSpPr>
          <p:nvPr/>
        </p:nvSpPr>
        <p:spPr bwMode="auto">
          <a:xfrm>
            <a:off x="0" y="0"/>
            <a:ext cx="12192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/>
              <a:t>Subject Name</a:t>
            </a:r>
          </a:p>
        </p:txBody>
      </p:sp>
      <p:sp>
        <p:nvSpPr>
          <p:cNvPr id="3078" name="TextBox 6"/>
          <p:cNvSpPr txBox="1">
            <a:spLocks noChangeArrowheads="1"/>
          </p:cNvSpPr>
          <p:nvPr/>
        </p:nvSpPr>
        <p:spPr bwMode="auto">
          <a:xfrm>
            <a:off x="0" y="6519864"/>
            <a:ext cx="12192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sz="1600" b="1"/>
              <a:t>SLIIT  - Faculty of Computing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331200" y="76200"/>
            <a:ext cx="3657600" cy="91440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/>
          </a:p>
        </p:txBody>
      </p:sp>
      <p:pic>
        <p:nvPicPr>
          <p:cNvPr id="3080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1"/>
          <a:stretch>
            <a:fillRect/>
          </a:stretch>
        </p:blipFill>
        <p:spPr bwMode="auto">
          <a:xfrm>
            <a:off x="8331200" y="76200"/>
            <a:ext cx="3657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1" name="Line 10"/>
          <p:cNvSpPr>
            <a:spLocks noChangeShapeType="1"/>
          </p:cNvSpPr>
          <p:nvPr userDrawn="1"/>
        </p:nvSpPr>
        <p:spPr bwMode="auto">
          <a:xfrm>
            <a:off x="304800" y="1752600"/>
            <a:ext cx="115824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999"/>
          <a:stretch>
            <a:fillRect/>
          </a:stretch>
        </p:blipFill>
        <p:spPr bwMode="auto">
          <a:xfrm>
            <a:off x="0" y="6400800"/>
            <a:ext cx="1219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0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68DB2BA-527C-4EF6-B7C7-B3BF776B4B65}" type="datetime1">
              <a:rPr lang="en-US"/>
              <a:pPr>
                <a:defRPr/>
              </a:pPr>
              <a:t>10/16/2022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D28FB1F-F9A4-4942-A293-2BCAA50CCC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C97134E-E8F1-48E2-949A-BC948138DC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4104" name="Picture 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1"/>
          <a:stretch>
            <a:fillRect/>
          </a:stretch>
        </p:blipFill>
        <p:spPr bwMode="auto">
          <a:xfrm>
            <a:off x="10160000" y="0"/>
            <a:ext cx="2032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5" name="TextBox 10"/>
          <p:cNvSpPr txBox="1">
            <a:spLocks noChangeArrowheads="1"/>
          </p:cNvSpPr>
          <p:nvPr/>
        </p:nvSpPr>
        <p:spPr bwMode="auto">
          <a:xfrm>
            <a:off x="0" y="6553200"/>
            <a:ext cx="12192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sz="1600" b="1">
                <a:solidFill>
                  <a:srgbClr val="E87A23"/>
                </a:solidFill>
              </a:rPr>
              <a:t>SLIIT  - Faculty of Computing</a:t>
            </a:r>
          </a:p>
        </p:txBody>
      </p:sp>
      <p:pic>
        <p:nvPicPr>
          <p:cNvPr id="4106" name="Picture 1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999"/>
          <a:stretch>
            <a:fillRect/>
          </a:stretch>
        </p:blipFill>
        <p:spPr bwMode="auto">
          <a:xfrm>
            <a:off x="0" y="0"/>
            <a:ext cx="1016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7" name="TextBox 9"/>
          <p:cNvSpPr txBox="1">
            <a:spLocks noChangeArrowheads="1"/>
          </p:cNvSpPr>
          <p:nvPr/>
        </p:nvSpPr>
        <p:spPr bwMode="auto">
          <a:xfrm>
            <a:off x="0" y="-76200"/>
            <a:ext cx="5892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>
                <a:solidFill>
                  <a:schemeClr val="bg1"/>
                </a:solidFill>
              </a:rPr>
              <a:t>Subject Name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838200" y="1420813"/>
            <a:ext cx="105156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915" r:id="rId12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xmlns="" id="{B74E64AB-3617-6444-977E-451665F3AA0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80BB570-DDED-4323-B98A-280420913DC8}" type="datetime1">
              <a:rPr lang="en-US" smtClean="0"/>
              <a:pPr>
                <a:defRPr/>
              </a:pPr>
              <a:t>10/16/2022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DA5BE2A-8683-4931-9E7C-6F577E8D942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46597B1-F840-40C3-A31C-543B07195EC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519207C1-EF3A-474B-9260-57BDCDAABA5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</p:spTree>
    <p:extLst>
      <p:ext uri="{BB962C8B-B14F-4D97-AF65-F5344CB8AC3E}">
        <p14:creationId xmlns:p14="http://schemas.microsoft.com/office/powerpoint/2010/main" val="118963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xmlns="" id="{6E16D633-DACB-C846-BDA7-A364E505FA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6595381-8FBB-074E-85C0-EC0EE065C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CD59B-C6C2-C84A-A9B5-AB286FEC8FEA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D468D55-7135-BC4F-B4E1-521E101CC930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xmlns="" id="{EEDC7D24-32C7-4B48-9F10-434887CD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A26083DB-7BD6-3E47-B765-25CEE4F6A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597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xmlns="" id="{5DBD57C8-B4C6-3C42-B6F4-C955BD6C8A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E6AAD40-79E3-9A4C-A0B7-F3988464D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5BACE-BCC1-184F-A700-DFA15150D1CF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2E49F6B-E24B-774B-9985-5552F8469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D308542-B565-C84C-A36F-281CEF297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286BD2B-3DFA-E24B-97EC-B151268D4BE7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xmlns="" id="{1AFE1AAF-B956-2C44-8FEC-72B4E552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xmlns="" id="{2253E3D6-10BE-B648-833C-3BF1365C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105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xmlns="" id="{086F86B0-CCE5-C247-8C3E-609758EDD34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9F3B6E8-2F8C-BD44-8621-09962AFC7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0E6BC-1CF3-D548-872D-25FC8E07215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9BA8008-CB95-3B4A-A2A6-E3FFA6232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5499DA9-A326-0744-B496-956389595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B37D14D5-B266-324D-813B-7D2146A87BE8}"/>
              </a:ext>
            </a:extLst>
          </p:cNvPr>
          <p:cNvSpPr/>
          <p:nvPr/>
        </p:nvSpPr>
        <p:spPr>
          <a:xfrm>
            <a:off x="3438283" y="6489700"/>
            <a:ext cx="875371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6BB38998-2073-AE42-9998-1D746B331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7DE789EF-2F79-8949-A254-5D7CCF0BE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53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xmlns="" id="{FDF5791D-2785-FF4E-BB9F-BA95F7A785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422662D-6CBD-3E40-8908-73A2E1800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6062-965F-0D4F-9928-5BD13379ABC1}" type="datetimeFigureOut">
              <a:rPr lang="x-none" smtClean="0"/>
              <a:t>10/16/2022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39A0E31-479D-AC42-8143-0F5CF079B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00B0FD9-7401-9440-955C-2CC29D60A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63CBA682-B826-3E41-9370-D9CBAB4FDED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32C0FA02-C8CF-7F45-AE8B-B2EE204A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46E731A-CE3E-B047-95B9-5CD6C76C5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734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85800" y="1737716"/>
            <a:ext cx="11053482" cy="815352"/>
          </a:xfrm>
        </p:spPr>
        <p:txBody>
          <a:bodyPr/>
          <a:lstStyle/>
          <a:p>
            <a:r>
              <a:rPr lang="en-US" sz="4800" b="1" dirty="0">
                <a:latin typeface="Garamond" panose="02020404030301010803" pitchFamily="18" charset="0"/>
              </a:rPr>
              <a:t>IT2070 – Data Structures and Algorithms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2840837" y="2831350"/>
            <a:ext cx="7195151" cy="1991724"/>
          </a:xfrm>
        </p:spPr>
        <p:txBody>
          <a:bodyPr/>
          <a:lstStyle/>
          <a:p>
            <a:pPr algn="ctr"/>
            <a:r>
              <a:rPr lang="en-US" sz="3200" b="1" dirty="0">
                <a:latin typeface="Garamond" panose="02020404030301010803" pitchFamily="18" charset="0"/>
              </a:rPr>
              <a:t>Lecture 09</a:t>
            </a:r>
          </a:p>
          <a:p>
            <a:pPr algn="ctr"/>
            <a:r>
              <a:rPr lang="en-US" sz="3200" b="1" dirty="0">
                <a:latin typeface="Garamond" panose="02020404030301010803" pitchFamily="18" charset="0"/>
              </a:rPr>
              <a:t>String Matching Algorithms</a:t>
            </a:r>
          </a:p>
          <a:p>
            <a:pPr algn="ctr"/>
            <a:endParaRPr lang="en-US" sz="3200" b="1" dirty="0">
              <a:latin typeface="Garamond" panose="020204040303010108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013460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1A71D3D-F011-47C0-9290-685F7D9F64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64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609600"/>
            <a:ext cx="7772400" cy="762000"/>
          </a:xfrm>
        </p:spPr>
        <p:txBody>
          <a:bodyPr/>
          <a:lstStyle/>
          <a:p>
            <a:r>
              <a:rPr lang="en-US" b="1"/>
              <a:t>Contents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905000"/>
            <a:ext cx="7772400" cy="4114800"/>
          </a:xfrm>
        </p:spPr>
        <p:txBody>
          <a:bodyPr/>
          <a:lstStyle/>
          <a:p>
            <a:r>
              <a:rPr lang="en-US" sz="2000"/>
              <a:t>String Matching</a:t>
            </a:r>
          </a:p>
          <a:p>
            <a:r>
              <a:rPr lang="en-US" sz="2000"/>
              <a:t>The naïve string matching algorithm</a:t>
            </a:r>
          </a:p>
          <a:p>
            <a:r>
              <a:rPr lang="en-US" sz="2000"/>
              <a:t>The Rabin-Karp Algorithm</a:t>
            </a:r>
          </a:p>
          <a:p>
            <a:r>
              <a:rPr lang="en-US" sz="2000"/>
              <a:t>Finite automata</a:t>
            </a:r>
          </a:p>
        </p:txBody>
      </p:sp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75D3ED8-30D0-4A69-99B2-E3C5E8050498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sz="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533400"/>
            <a:ext cx="7772400" cy="838200"/>
          </a:xfrm>
        </p:spPr>
        <p:txBody>
          <a:bodyPr/>
          <a:lstStyle/>
          <a:p>
            <a:r>
              <a:rPr lang="en-US" b="1"/>
              <a:t>String Matching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905000"/>
            <a:ext cx="7772400" cy="4114800"/>
          </a:xfrm>
        </p:spPr>
        <p:txBody>
          <a:bodyPr/>
          <a:lstStyle/>
          <a:p>
            <a:pPr algn="just"/>
            <a:r>
              <a:rPr lang="en-US" sz="2000">
                <a:cs typeface="Times New Roman" panose="02020603050405020304" pitchFamily="18" charset="0"/>
              </a:rPr>
              <a:t>The problem of finding occurrence(s) of a pattern string within another string or body of text. </a:t>
            </a:r>
          </a:p>
          <a:p>
            <a:pPr algn="just"/>
            <a:r>
              <a:rPr lang="en-US" sz="2000">
                <a:cs typeface="Times New Roman" panose="02020603050405020304" pitchFamily="18" charset="0"/>
              </a:rPr>
              <a:t>There are many different algorithms for efficient searching.</a:t>
            </a:r>
          </a:p>
          <a:p>
            <a:pPr algn="just"/>
            <a:r>
              <a:rPr lang="en-US" sz="2000">
                <a:solidFill>
                  <a:srgbClr val="000000"/>
                </a:solidFill>
                <a:cs typeface="Times New Roman" panose="02020603050405020304" pitchFamily="18" charset="0"/>
              </a:rPr>
              <a:t>String matching is a very important subject in the wider domain of text processing.</a:t>
            </a:r>
          </a:p>
        </p:txBody>
      </p:sp>
      <p:sp>
        <p:nvSpPr>
          <p:cNvPr id="3482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DCF81CF-610D-4774-A96C-8994015F3C03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</a:t>
            </a:fld>
            <a:endParaRPr lang="en-US" sz="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981200"/>
            <a:ext cx="8458200" cy="44958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2000"/>
              <a:t>In string matching problems, it is required to find the occurrences of a pattern in a text.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sz="2000"/>
          </a:p>
          <a:p>
            <a:pPr>
              <a:spcBef>
                <a:spcPct val="0"/>
              </a:spcBef>
            </a:pPr>
            <a:r>
              <a:rPr lang="en-US" sz="2000" b="1" u="sng"/>
              <a:t>Applications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2000"/>
              <a:t>   </a:t>
            </a:r>
          </a:p>
          <a:p>
            <a:pPr lvl="1">
              <a:spcBef>
                <a:spcPct val="0"/>
              </a:spcBef>
            </a:pPr>
            <a:r>
              <a:rPr lang="en-US" sz="1800"/>
              <a:t>   </a:t>
            </a:r>
            <a:r>
              <a:rPr lang="en-US" sz="2000"/>
              <a:t>Text processing </a:t>
            </a:r>
          </a:p>
          <a:p>
            <a:pPr lvl="1">
              <a:spcBef>
                <a:spcPct val="0"/>
              </a:spcBef>
            </a:pPr>
            <a:r>
              <a:rPr lang="en-US" sz="2000"/>
              <a:t>   Text-editing e.g.</a:t>
            </a:r>
            <a:r>
              <a:rPr lang="en-US" sz="2000" i="1"/>
              <a:t>Find and Change </a:t>
            </a:r>
            <a:r>
              <a:rPr lang="en-US" sz="2000"/>
              <a:t>in word </a:t>
            </a:r>
          </a:p>
          <a:p>
            <a:pPr lvl="1">
              <a:spcBef>
                <a:spcPct val="0"/>
              </a:spcBef>
            </a:pPr>
            <a:r>
              <a:rPr lang="en-US" sz="2000"/>
              <a:t>   Computer security  (virus detection, password checking)</a:t>
            </a:r>
          </a:p>
          <a:p>
            <a:pPr lvl="1">
              <a:spcBef>
                <a:spcPct val="0"/>
              </a:spcBef>
            </a:pPr>
            <a:r>
              <a:rPr lang="en-US" sz="2000"/>
              <a:t>   DNA sequence analysis.</a:t>
            </a:r>
          </a:p>
          <a:p>
            <a:pPr lvl="1">
              <a:spcBef>
                <a:spcPct val="0"/>
              </a:spcBef>
            </a:pPr>
            <a:r>
              <a:rPr lang="en-US" sz="2000"/>
              <a:t>   Data communications (header analysis)</a:t>
            </a:r>
          </a:p>
        </p:txBody>
      </p:sp>
      <p:sp>
        <p:nvSpPr>
          <p:cNvPr id="3584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0F4D0B0-A650-41E9-8BF9-435B68229CC9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US" sz="800">
              <a:latin typeface="Tahoma" panose="020B0604030504040204" pitchFamily="34" charset="0"/>
            </a:endParaRP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1981200" y="457200"/>
            <a:ext cx="8077200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3600" b="1" dirty="0">
                <a:latin typeface="+mj-lt"/>
              </a:rPr>
              <a:t>Applications</a:t>
            </a:r>
          </a:p>
        </p:txBody>
      </p:sp>
      <p:pic>
        <p:nvPicPr>
          <p:cNvPr id="35845" name="Picture 6" descr="search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2517776"/>
            <a:ext cx="16764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609600"/>
            <a:ext cx="8077200" cy="762000"/>
          </a:xfrm>
        </p:spPr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686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0A33D89-DAC4-498F-B564-D60F819A3C46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</a:t>
            </a:fld>
            <a:endParaRPr lang="en-US" sz="800">
              <a:latin typeface="Tahoma" panose="020B0604030504040204" pitchFamily="34" charset="0"/>
            </a:endParaRPr>
          </a:p>
        </p:txBody>
      </p:sp>
      <p:graphicFrame>
        <p:nvGraphicFramePr>
          <p:cNvPr id="7288" name="Group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122572"/>
              </p:ext>
            </p:extLst>
          </p:nvPr>
        </p:nvGraphicFramePr>
        <p:xfrm>
          <a:off x="4114800" y="1676400"/>
          <a:ext cx="6096000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C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C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C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291" name="Group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299864"/>
              </p:ext>
            </p:extLst>
          </p:nvPr>
        </p:nvGraphicFramePr>
        <p:xfrm>
          <a:off x="4114801" y="2514600"/>
          <a:ext cx="1876425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251" name="Group 83"/>
          <p:cNvGraphicFramePr>
            <a:graphicFrameLocks noGrp="1"/>
          </p:cNvGraphicFramePr>
          <p:nvPr/>
        </p:nvGraphicFramePr>
        <p:xfrm>
          <a:off x="4572001" y="3886200"/>
          <a:ext cx="1876425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263" name="Group 95"/>
          <p:cNvGraphicFramePr>
            <a:graphicFrameLocks noGrp="1"/>
          </p:cNvGraphicFramePr>
          <p:nvPr/>
        </p:nvGraphicFramePr>
        <p:xfrm>
          <a:off x="5105401" y="4724400"/>
          <a:ext cx="1876425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290" name="Group 122"/>
          <p:cNvGraphicFramePr>
            <a:graphicFrameLocks noGrp="1"/>
          </p:cNvGraphicFramePr>
          <p:nvPr/>
        </p:nvGraphicFramePr>
        <p:xfrm>
          <a:off x="5638801" y="5562600"/>
          <a:ext cx="1876425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6949" name="Text Box 124"/>
          <p:cNvSpPr txBox="1">
            <a:spLocks noChangeArrowheads="1"/>
          </p:cNvSpPr>
          <p:nvPr/>
        </p:nvSpPr>
        <p:spPr bwMode="auto">
          <a:xfrm>
            <a:off x="2133600" y="17526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 b="1">
                <a:latin typeface="Times New Roman" panose="02020603050405020304" pitchFamily="18" charset="0"/>
              </a:rPr>
              <a:t>Text </a:t>
            </a:r>
            <a:r>
              <a:rPr lang="en-US" sz="24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6950" name="Text Box 125"/>
          <p:cNvSpPr txBox="1">
            <a:spLocks noChangeArrowheads="1"/>
          </p:cNvSpPr>
          <p:nvPr/>
        </p:nvSpPr>
        <p:spPr bwMode="auto">
          <a:xfrm>
            <a:off x="2133600" y="25146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 b="1">
                <a:latin typeface="Times New Roman" panose="02020603050405020304" pitchFamily="18" charset="0"/>
              </a:rPr>
              <a:t>Pattern </a:t>
            </a:r>
            <a:r>
              <a:rPr lang="en-US" sz="2400" b="1" i="1">
                <a:latin typeface="Times New Roman" panose="02020603050405020304" pitchFamily="18" charset="0"/>
              </a:rPr>
              <a:t>P</a:t>
            </a:r>
          </a:p>
        </p:txBody>
      </p:sp>
      <p:grpSp>
        <p:nvGrpSpPr>
          <p:cNvPr id="7298" name="Group 130"/>
          <p:cNvGrpSpPr>
            <a:grpSpLocks/>
          </p:cNvGrpSpPr>
          <p:nvPr/>
        </p:nvGrpSpPr>
        <p:grpSpPr bwMode="auto">
          <a:xfrm>
            <a:off x="5867400" y="2209800"/>
            <a:ext cx="1295400" cy="3429000"/>
            <a:chOff x="2784" y="1152"/>
            <a:chExt cx="816" cy="1920"/>
          </a:xfrm>
        </p:grpSpPr>
        <p:sp>
          <p:nvSpPr>
            <p:cNvPr id="36956" name="Line 126"/>
            <p:cNvSpPr>
              <a:spLocks noChangeShapeType="1"/>
            </p:cNvSpPr>
            <p:nvPr/>
          </p:nvSpPr>
          <p:spPr bwMode="auto">
            <a:xfrm flipV="1">
              <a:off x="2784" y="1152"/>
              <a:ext cx="0" cy="1872"/>
            </a:xfrm>
            <a:prstGeom prst="line">
              <a:avLst/>
            </a:prstGeom>
            <a:noFill/>
            <a:ln w="19050">
              <a:solidFill>
                <a:srgbClr val="4949D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57" name="Line 127"/>
            <p:cNvSpPr>
              <a:spLocks noChangeShapeType="1"/>
            </p:cNvSpPr>
            <p:nvPr/>
          </p:nvSpPr>
          <p:spPr bwMode="auto">
            <a:xfrm>
              <a:off x="3072" y="1152"/>
              <a:ext cx="0" cy="1872"/>
            </a:xfrm>
            <a:prstGeom prst="line">
              <a:avLst/>
            </a:prstGeom>
            <a:noFill/>
            <a:ln w="19050">
              <a:solidFill>
                <a:srgbClr val="4949D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58" name="Line 128"/>
            <p:cNvSpPr>
              <a:spLocks noChangeShapeType="1"/>
            </p:cNvSpPr>
            <p:nvPr/>
          </p:nvSpPr>
          <p:spPr bwMode="auto">
            <a:xfrm>
              <a:off x="3312" y="1200"/>
              <a:ext cx="0" cy="1824"/>
            </a:xfrm>
            <a:prstGeom prst="line">
              <a:avLst/>
            </a:prstGeom>
            <a:noFill/>
            <a:ln w="19050">
              <a:solidFill>
                <a:srgbClr val="4949D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59" name="Line 129"/>
            <p:cNvSpPr>
              <a:spLocks noChangeShapeType="1"/>
            </p:cNvSpPr>
            <p:nvPr/>
          </p:nvSpPr>
          <p:spPr bwMode="auto">
            <a:xfrm>
              <a:off x="3600" y="1200"/>
              <a:ext cx="0" cy="1872"/>
            </a:xfrm>
            <a:prstGeom prst="line">
              <a:avLst/>
            </a:prstGeom>
            <a:noFill/>
            <a:ln w="19050">
              <a:solidFill>
                <a:srgbClr val="4949D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9" name="Text Box 131"/>
          <p:cNvSpPr txBox="1">
            <a:spLocks noChangeArrowheads="1"/>
          </p:cNvSpPr>
          <p:nvPr/>
        </p:nvSpPr>
        <p:spPr bwMode="auto">
          <a:xfrm>
            <a:off x="2209800" y="39624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 dirty="0">
                <a:latin typeface="Times New Roman" panose="02020603050405020304" pitchFamily="18" charset="0"/>
              </a:rPr>
              <a:t>Shift 1</a:t>
            </a:r>
          </a:p>
        </p:txBody>
      </p:sp>
      <p:sp>
        <p:nvSpPr>
          <p:cNvPr id="7301" name="Text Box 133"/>
          <p:cNvSpPr txBox="1">
            <a:spLocks noChangeArrowheads="1"/>
          </p:cNvSpPr>
          <p:nvPr/>
        </p:nvSpPr>
        <p:spPr bwMode="auto">
          <a:xfrm>
            <a:off x="2209800" y="48006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 dirty="0">
                <a:latin typeface="Times New Roman" panose="02020603050405020304" pitchFamily="18" charset="0"/>
              </a:rPr>
              <a:t>Shift 2</a:t>
            </a:r>
          </a:p>
        </p:txBody>
      </p:sp>
      <p:sp>
        <p:nvSpPr>
          <p:cNvPr id="7302" name="Text Box 134"/>
          <p:cNvSpPr txBox="1">
            <a:spLocks noChangeArrowheads="1"/>
          </p:cNvSpPr>
          <p:nvPr/>
        </p:nvSpPr>
        <p:spPr bwMode="auto">
          <a:xfrm>
            <a:off x="2209800" y="57150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 dirty="0">
                <a:latin typeface="Times New Roman" panose="02020603050405020304" pitchFamily="18" charset="0"/>
              </a:rPr>
              <a:t>Shift 3</a:t>
            </a:r>
          </a:p>
        </p:txBody>
      </p:sp>
      <p:pic>
        <p:nvPicPr>
          <p:cNvPr id="36955" name="Picture 1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175" y="3949700"/>
            <a:ext cx="3629025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Group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63314"/>
              </p:ext>
            </p:extLst>
          </p:nvPr>
        </p:nvGraphicFramePr>
        <p:xfrm>
          <a:off x="4114801" y="3200400"/>
          <a:ext cx="1876425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1" name="Text Box 131"/>
          <p:cNvSpPr txBox="1">
            <a:spLocks noChangeArrowheads="1"/>
          </p:cNvSpPr>
          <p:nvPr/>
        </p:nvSpPr>
        <p:spPr bwMode="auto">
          <a:xfrm>
            <a:off x="2209800" y="32766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 dirty="0">
                <a:latin typeface="Times New Roman" panose="02020603050405020304" pitchFamily="18" charset="0"/>
              </a:rPr>
              <a:t>Shift </a:t>
            </a:r>
            <a:r>
              <a:rPr lang="en-US" sz="2400" dirty="0" smtClean="0">
                <a:latin typeface="Times New Roman" panose="02020603050405020304" pitchFamily="18" charset="0"/>
              </a:rPr>
              <a:t>0</a:t>
            </a:r>
            <a:endParaRPr 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99" grpId="0"/>
      <p:bldP spid="7301" grpId="0"/>
      <p:bldP spid="7302" grpId="0"/>
      <p:bldP spid="2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685800"/>
            <a:ext cx="7772400" cy="6858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>
                <a:solidFill>
                  <a:srgbClr val="000000"/>
                </a:solidFill>
                <a:cs typeface="Times New Roman" panose="02020603050405020304" pitchFamily="18" charset="0"/>
              </a:rPr>
              <a:t>String Matching problem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2133600"/>
            <a:ext cx="7772400" cy="44196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000" dirty="0">
                <a:cs typeface="Times New Roman" panose="02020603050405020304" pitchFamily="18" charset="0"/>
              </a:rPr>
              <a:t>We formulize the </a:t>
            </a:r>
            <a:r>
              <a:rPr lang="en-US" sz="2000" b="1" i="1" dirty="0">
                <a:cs typeface="Times New Roman" panose="02020603050405020304" pitchFamily="18" charset="0"/>
              </a:rPr>
              <a:t>String Matching problem</a:t>
            </a:r>
            <a:r>
              <a:rPr lang="en-US" sz="2000" dirty="0">
                <a:cs typeface="Times New Roman" panose="02020603050405020304" pitchFamily="18" charset="0"/>
              </a:rPr>
              <a:t> as follows. 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2000" dirty="0"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2000" dirty="0">
                <a:cs typeface="Times New Roman" panose="02020603050405020304" pitchFamily="18" charset="0"/>
              </a:rPr>
              <a:t>We assume that the text is an array </a:t>
            </a:r>
            <a:r>
              <a:rPr lang="en-US" sz="2000" b="1" dirty="0">
                <a:cs typeface="Times New Roman" panose="02020603050405020304" pitchFamily="18" charset="0"/>
              </a:rPr>
              <a:t>T[1..</a:t>
            </a:r>
            <a:r>
              <a:rPr lang="en-US" sz="2000" b="1" i="1" dirty="0">
                <a:cs typeface="Times New Roman" panose="02020603050405020304" pitchFamily="18" charset="0"/>
              </a:rPr>
              <a:t>n</a:t>
            </a:r>
            <a:r>
              <a:rPr lang="en-US" sz="2000" b="1" dirty="0">
                <a:cs typeface="Times New Roman" panose="02020603050405020304" pitchFamily="18" charset="0"/>
              </a:rPr>
              <a:t>]</a:t>
            </a:r>
            <a:r>
              <a:rPr lang="en-US" sz="2000" dirty="0">
                <a:cs typeface="Times New Roman" panose="02020603050405020304" pitchFamily="18" charset="0"/>
              </a:rPr>
              <a:t> of length </a:t>
            </a:r>
            <a:r>
              <a:rPr lang="en-US" sz="2000" b="1" i="1" dirty="0">
                <a:cs typeface="Times New Roman" panose="02020603050405020304" pitchFamily="18" charset="0"/>
              </a:rPr>
              <a:t>n</a:t>
            </a:r>
            <a:r>
              <a:rPr lang="en-US" sz="2000" dirty="0">
                <a:cs typeface="Times New Roman" panose="02020603050405020304" pitchFamily="18" charset="0"/>
              </a:rPr>
              <a:t> and the pattern is an array </a:t>
            </a:r>
            <a:r>
              <a:rPr lang="en-US" sz="2000" b="1" dirty="0">
                <a:cs typeface="Times New Roman" panose="02020603050405020304" pitchFamily="18" charset="0"/>
              </a:rPr>
              <a:t>P[1..</a:t>
            </a:r>
            <a:r>
              <a:rPr lang="en-US" sz="2000" b="1" i="1" dirty="0">
                <a:cs typeface="Times New Roman" panose="02020603050405020304" pitchFamily="18" charset="0"/>
              </a:rPr>
              <a:t>m</a:t>
            </a:r>
            <a:r>
              <a:rPr lang="en-US" sz="2000" b="1" dirty="0">
                <a:cs typeface="Times New Roman" panose="02020603050405020304" pitchFamily="18" charset="0"/>
              </a:rPr>
              <a:t>]</a:t>
            </a:r>
            <a:r>
              <a:rPr lang="en-US" sz="2000" dirty="0">
                <a:cs typeface="Times New Roman" panose="02020603050405020304" pitchFamily="18" charset="0"/>
              </a:rPr>
              <a:t> of length </a:t>
            </a:r>
            <a:r>
              <a:rPr lang="en-US" sz="2000" b="1" i="1" dirty="0">
                <a:cs typeface="Times New Roman" panose="02020603050405020304" pitchFamily="18" charset="0"/>
              </a:rPr>
              <a:t>m</a:t>
            </a:r>
            <a:r>
              <a:rPr lang="en-US" sz="2000" dirty="0">
                <a:cs typeface="Times New Roman" panose="02020603050405020304" pitchFamily="18" charset="0"/>
              </a:rPr>
              <a:t>. 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2000" dirty="0"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2000" dirty="0">
                <a:cs typeface="Times New Roman" panose="02020603050405020304" pitchFamily="18" charset="0"/>
              </a:rPr>
              <a:t>We further assume that the elements of P and T are characters drawn from a finite alphabet </a:t>
            </a:r>
            <a:r>
              <a:rPr lang="en-US" sz="2000" b="1" dirty="0">
                <a:cs typeface="Times New Roman" panose="02020603050405020304" pitchFamily="18" charset="0"/>
                <a:sym typeface="Symbol" panose="05050102010706020507" pitchFamily="18" charset="2"/>
              </a:rPr>
              <a:t></a:t>
            </a:r>
            <a:r>
              <a:rPr lang="en-US" sz="2000" dirty="0">
                <a:cs typeface="Times New Roman" panose="02020603050405020304" pitchFamily="18" charset="0"/>
              </a:rPr>
              <a:t>. 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2000" dirty="0"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2000" dirty="0">
                <a:cs typeface="Times New Roman" panose="02020603050405020304" pitchFamily="18" charset="0"/>
              </a:rPr>
              <a:t>For example we may have </a:t>
            </a:r>
            <a:r>
              <a:rPr 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</a:t>
            </a:r>
            <a:r>
              <a:rPr lang="en-US" sz="2000" dirty="0">
                <a:cs typeface="Times New Roman" panose="02020603050405020304" pitchFamily="18" charset="0"/>
              </a:rPr>
              <a:t>={0,1} or </a:t>
            </a:r>
            <a:r>
              <a:rPr 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</a:t>
            </a:r>
            <a:r>
              <a:rPr lang="en-US" sz="2000" dirty="0">
                <a:cs typeface="Times New Roman" panose="02020603050405020304" pitchFamily="18" charset="0"/>
              </a:rPr>
              <a:t>={</a:t>
            </a:r>
            <a:r>
              <a:rPr lang="en-US" sz="2000" dirty="0" err="1">
                <a:cs typeface="Times New Roman" panose="02020603050405020304" pitchFamily="18" charset="0"/>
              </a:rPr>
              <a:t>a,b,..z</a:t>
            </a:r>
            <a:r>
              <a:rPr lang="en-US" sz="2000" dirty="0">
                <a:cs typeface="Times New Roman" panose="02020603050405020304" pitchFamily="18" charset="0"/>
              </a:rPr>
              <a:t>}. 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2000" dirty="0"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2000" dirty="0">
                <a:cs typeface="Times New Roman" panose="02020603050405020304" pitchFamily="18" charset="0"/>
              </a:rPr>
              <a:t>The character arrays P and T are often called </a:t>
            </a:r>
            <a:r>
              <a:rPr lang="en-US" sz="2000" b="1" i="1" dirty="0">
                <a:cs typeface="Times New Roman" panose="02020603050405020304" pitchFamily="18" charset="0"/>
              </a:rPr>
              <a:t>Strings</a:t>
            </a:r>
            <a:r>
              <a:rPr lang="en-US" sz="2000" dirty="0">
                <a:cs typeface="Times New Roman" panose="02020603050405020304" pitchFamily="18" charset="0"/>
              </a:rPr>
              <a:t> of characters.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2400" dirty="0"/>
          </a:p>
        </p:txBody>
      </p:sp>
      <p:sp>
        <p:nvSpPr>
          <p:cNvPr id="3789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6F11816-A959-4033-B082-37DCFD503153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sz="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/>
          <p:cNvSpPr>
            <a:spLocks noGrp="1" noChangeArrowheads="1"/>
          </p:cNvSpPr>
          <p:nvPr>
            <p:ph type="title"/>
          </p:nvPr>
        </p:nvSpPr>
        <p:spPr>
          <a:xfrm>
            <a:off x="2133600" y="762001"/>
            <a:ext cx="7315200" cy="512763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>
                <a:solidFill>
                  <a:srgbClr val="000000"/>
                </a:solidFill>
                <a:cs typeface="Times New Roman" panose="02020603050405020304" pitchFamily="18" charset="0"/>
              </a:rPr>
              <a:t>String Matching problem(contd.)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981200"/>
            <a:ext cx="8534400" cy="1143000"/>
          </a:xfrm>
        </p:spPr>
        <p:txBody>
          <a:bodyPr/>
          <a:lstStyle/>
          <a:p>
            <a:r>
              <a:rPr lang="en-US" sz="2000">
                <a:cs typeface="Times New Roman" panose="02020603050405020304" pitchFamily="18" charset="0"/>
              </a:rPr>
              <a:t>We say that pattern </a:t>
            </a:r>
            <a:r>
              <a:rPr lang="en-US" sz="2000" b="1" i="1">
                <a:cs typeface="Times New Roman" panose="02020603050405020304" pitchFamily="18" charset="0"/>
              </a:rPr>
              <a:t>P</a:t>
            </a:r>
            <a:r>
              <a:rPr lang="en-US" sz="2000">
                <a:cs typeface="Times New Roman" panose="02020603050405020304" pitchFamily="18" charset="0"/>
              </a:rPr>
              <a:t> occurs with shift </a:t>
            </a:r>
            <a:r>
              <a:rPr lang="en-US" sz="2000" b="1" i="1">
                <a:cs typeface="Times New Roman" panose="02020603050405020304" pitchFamily="18" charset="0"/>
              </a:rPr>
              <a:t>s</a:t>
            </a:r>
            <a:r>
              <a:rPr lang="en-US" sz="2000">
                <a:cs typeface="Times New Roman" panose="02020603050405020304" pitchFamily="18" charset="0"/>
              </a:rPr>
              <a:t> in text </a:t>
            </a:r>
            <a:r>
              <a:rPr lang="en-US" sz="2000" b="1" i="1">
                <a:cs typeface="Times New Roman" panose="02020603050405020304" pitchFamily="18" charset="0"/>
              </a:rPr>
              <a:t>T</a:t>
            </a:r>
            <a:r>
              <a:rPr lang="en-US" sz="2000">
                <a:cs typeface="Times New Roman" panose="02020603050405020304" pitchFamily="18" charset="0"/>
              </a:rPr>
              <a:t> (or, equivalently that pattern P occurs beginning at position </a:t>
            </a:r>
            <a:r>
              <a:rPr lang="en-US" sz="2000" i="1">
                <a:cs typeface="Times New Roman" panose="02020603050405020304" pitchFamily="18" charset="0"/>
              </a:rPr>
              <a:t>s</a:t>
            </a:r>
            <a:r>
              <a:rPr lang="en-US" sz="2000">
                <a:cs typeface="Times New Roman" panose="02020603050405020304" pitchFamily="18" charset="0"/>
              </a:rPr>
              <a:t> +1 in text </a:t>
            </a:r>
            <a:r>
              <a:rPr lang="en-US" sz="2000" b="1" i="1">
                <a:cs typeface="Times New Roman" panose="02020603050405020304" pitchFamily="18" charset="0"/>
              </a:rPr>
              <a:t>T</a:t>
            </a:r>
            <a:r>
              <a:rPr lang="en-US" sz="2000"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000">
                <a:cs typeface="Times New Roman" panose="02020603050405020304" pitchFamily="18" charset="0"/>
              </a:rPr>
              <a:t>                                     </a:t>
            </a:r>
          </a:p>
          <a:p>
            <a:endParaRPr lang="en-US"/>
          </a:p>
        </p:txBody>
      </p:sp>
      <p:sp>
        <p:nvSpPr>
          <p:cNvPr id="3891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41FAEA2-BAAD-4AE0-90D7-920968028049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en-US" sz="800">
              <a:latin typeface="Tahoma" panose="020B0604030504040204" pitchFamily="34" charset="0"/>
            </a:endParaRP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209800" y="3276601"/>
            <a:ext cx="7543800" cy="588963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3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3200">
                <a:solidFill>
                  <a:srgbClr val="000000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≤ </a:t>
            </a:r>
            <a:r>
              <a:rPr lang="en-US" sz="3200" b="1" i="1">
                <a:solidFill>
                  <a:srgbClr val="000000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s </a:t>
            </a:r>
            <a:r>
              <a:rPr lang="en-US" sz="3200">
                <a:solidFill>
                  <a:srgbClr val="000000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≤ </a:t>
            </a:r>
            <a:r>
              <a:rPr lang="en-US" sz="3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3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+1.. </a:t>
            </a:r>
            <a:r>
              <a:rPr lang="en-US" sz="3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lang="en-US" sz="3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sz="3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[1..</a:t>
            </a:r>
            <a:r>
              <a:rPr lang="en-US" sz="3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2209800" y="4495801"/>
            <a:ext cx="7696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>
                <a:latin typeface="Helvetica" panose="020B0604020202020204" pitchFamily="34" charset="0"/>
                <a:cs typeface="Times New Roman" panose="02020603050405020304" pitchFamily="18" charset="0"/>
              </a:rPr>
              <a:t>If P occurs with shift </a:t>
            </a:r>
            <a:r>
              <a:rPr lang="en-US" sz="2000" b="1" i="1">
                <a:latin typeface="Helvetica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n-US" sz="2000">
                <a:latin typeface="Helvetica" panose="020B0604020202020204" pitchFamily="34" charset="0"/>
                <a:cs typeface="Times New Roman" panose="02020603050405020304" pitchFamily="18" charset="0"/>
              </a:rPr>
              <a:t> in </a:t>
            </a:r>
            <a:r>
              <a:rPr lang="en-US" sz="2000" b="1" i="1">
                <a:latin typeface="Helvetica" panose="020B06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2000">
                <a:latin typeface="Helvetica" panose="020B0604020202020204" pitchFamily="34" charset="0"/>
                <a:cs typeface="Times New Roman" panose="02020603050405020304" pitchFamily="18" charset="0"/>
              </a:rPr>
              <a:t>, then we call s a </a:t>
            </a:r>
            <a:r>
              <a:rPr lang="en-US" sz="2000" b="1" i="1">
                <a:latin typeface="Helvetica" panose="020B0604020202020204" pitchFamily="34" charset="0"/>
                <a:cs typeface="Times New Roman" panose="02020603050405020304" pitchFamily="18" charset="0"/>
              </a:rPr>
              <a:t>valid shift</a:t>
            </a:r>
            <a:r>
              <a:rPr lang="en-US" sz="2000">
                <a:latin typeface="Helvetica" panose="020B0604020202020204" pitchFamily="34" charset="0"/>
                <a:cs typeface="Times New Roman" panose="02020603050405020304" pitchFamily="18" charset="0"/>
              </a:rPr>
              <a:t>; otherwise we call </a:t>
            </a:r>
            <a:r>
              <a:rPr lang="en-US" sz="2000" b="1" i="1">
                <a:latin typeface="Helvetica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n-US" sz="2000">
                <a:latin typeface="Helvetica" panose="020B0604020202020204" pitchFamily="34" charset="0"/>
                <a:cs typeface="Times New Roman" panose="02020603050405020304" pitchFamily="18" charset="0"/>
              </a:rPr>
              <a:t> an </a:t>
            </a:r>
            <a:r>
              <a:rPr lang="en-US" sz="2000" b="1" i="1">
                <a:latin typeface="Helvetica" panose="020B0604020202020204" pitchFamily="34" charset="0"/>
                <a:cs typeface="Times New Roman" panose="02020603050405020304" pitchFamily="18" charset="0"/>
              </a:rPr>
              <a:t>invalid shift</a:t>
            </a:r>
            <a:r>
              <a:rPr lang="en-US" sz="2000">
                <a:latin typeface="Helvetica" panose="020B06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autoUpdateAnimBg="0"/>
      <p:bldP spid="8196" grpId="0" animBg="1" autoUpdateAnimBg="0"/>
      <p:bldP spid="819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6AE602E-61F2-4A41-BE98-12987FEBFDA5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sz="800">
              <a:latin typeface="Tahoma" panose="020B0604030504040204" pitchFamily="34" charset="0"/>
            </a:endParaRPr>
          </a:p>
        </p:txBody>
      </p:sp>
      <p:graphicFrame>
        <p:nvGraphicFramePr>
          <p:cNvPr id="9220" name="Group 4"/>
          <p:cNvGraphicFramePr>
            <a:graphicFrameLocks noGrp="1"/>
          </p:cNvGraphicFramePr>
          <p:nvPr/>
        </p:nvGraphicFramePr>
        <p:xfrm>
          <a:off x="4191000" y="1828800"/>
          <a:ext cx="6096000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C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C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9253" name="Group 37"/>
          <p:cNvGraphicFramePr>
            <a:graphicFrameLocks noGrp="1"/>
          </p:cNvGraphicFramePr>
          <p:nvPr/>
        </p:nvGraphicFramePr>
        <p:xfrm>
          <a:off x="4191001" y="2667000"/>
          <a:ext cx="1876425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9265" name="Group 49"/>
          <p:cNvGraphicFramePr>
            <a:graphicFrameLocks noGrp="1"/>
          </p:cNvGraphicFramePr>
          <p:nvPr/>
        </p:nvGraphicFramePr>
        <p:xfrm>
          <a:off x="4676776" y="3429000"/>
          <a:ext cx="1876425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9277" name="Group 61"/>
          <p:cNvGraphicFramePr>
            <a:graphicFrameLocks noGrp="1"/>
          </p:cNvGraphicFramePr>
          <p:nvPr/>
        </p:nvGraphicFramePr>
        <p:xfrm>
          <a:off x="5157789" y="4087813"/>
          <a:ext cx="1876425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9289" name="Group 73"/>
          <p:cNvGraphicFramePr>
            <a:graphicFrameLocks noGrp="1"/>
          </p:cNvGraphicFramePr>
          <p:nvPr/>
        </p:nvGraphicFramePr>
        <p:xfrm>
          <a:off x="5708651" y="4816475"/>
          <a:ext cx="1876425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0020" name="Text Box 85"/>
          <p:cNvSpPr txBox="1">
            <a:spLocks noChangeArrowheads="1"/>
          </p:cNvSpPr>
          <p:nvPr/>
        </p:nvSpPr>
        <p:spPr bwMode="auto">
          <a:xfrm>
            <a:off x="2286000" y="19050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 b="1">
                <a:latin typeface="Times New Roman" panose="02020603050405020304" pitchFamily="18" charset="0"/>
              </a:rPr>
              <a:t>Text </a:t>
            </a:r>
            <a:r>
              <a:rPr lang="en-US" sz="24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0021" name="Text Box 86"/>
          <p:cNvSpPr txBox="1">
            <a:spLocks noChangeArrowheads="1"/>
          </p:cNvSpPr>
          <p:nvPr/>
        </p:nvSpPr>
        <p:spPr bwMode="auto">
          <a:xfrm>
            <a:off x="2286000" y="26670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 b="1">
                <a:latin typeface="Times New Roman" panose="02020603050405020304" pitchFamily="18" charset="0"/>
              </a:rPr>
              <a:t>Pattern </a:t>
            </a:r>
            <a:r>
              <a:rPr lang="en-US" sz="2400" b="1" i="1">
                <a:latin typeface="Times New Roman" panose="02020603050405020304" pitchFamily="18" charset="0"/>
              </a:rPr>
              <a:t>P</a:t>
            </a:r>
          </a:p>
        </p:txBody>
      </p:sp>
      <p:grpSp>
        <p:nvGrpSpPr>
          <p:cNvPr id="9303" name="Group 87"/>
          <p:cNvGrpSpPr>
            <a:grpSpLocks/>
          </p:cNvGrpSpPr>
          <p:nvPr/>
        </p:nvGrpSpPr>
        <p:grpSpPr bwMode="auto">
          <a:xfrm>
            <a:off x="5943600" y="2286000"/>
            <a:ext cx="1295400" cy="3048000"/>
            <a:chOff x="2784" y="1152"/>
            <a:chExt cx="816" cy="1920"/>
          </a:xfrm>
        </p:grpSpPr>
        <p:sp>
          <p:nvSpPr>
            <p:cNvPr id="40029" name="Line 88"/>
            <p:cNvSpPr>
              <a:spLocks noChangeShapeType="1"/>
            </p:cNvSpPr>
            <p:nvPr/>
          </p:nvSpPr>
          <p:spPr bwMode="auto">
            <a:xfrm flipV="1">
              <a:off x="2784" y="1152"/>
              <a:ext cx="0" cy="1872"/>
            </a:xfrm>
            <a:prstGeom prst="line">
              <a:avLst/>
            </a:prstGeom>
            <a:noFill/>
            <a:ln w="22225">
              <a:solidFill>
                <a:srgbClr val="4949D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0" name="Line 89"/>
            <p:cNvSpPr>
              <a:spLocks noChangeShapeType="1"/>
            </p:cNvSpPr>
            <p:nvPr/>
          </p:nvSpPr>
          <p:spPr bwMode="auto">
            <a:xfrm>
              <a:off x="3072" y="1152"/>
              <a:ext cx="0" cy="1872"/>
            </a:xfrm>
            <a:prstGeom prst="line">
              <a:avLst/>
            </a:prstGeom>
            <a:noFill/>
            <a:ln w="22225">
              <a:solidFill>
                <a:srgbClr val="4949D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1" name="Line 90"/>
            <p:cNvSpPr>
              <a:spLocks noChangeShapeType="1"/>
            </p:cNvSpPr>
            <p:nvPr/>
          </p:nvSpPr>
          <p:spPr bwMode="auto">
            <a:xfrm>
              <a:off x="3312" y="1200"/>
              <a:ext cx="0" cy="1824"/>
            </a:xfrm>
            <a:prstGeom prst="line">
              <a:avLst/>
            </a:prstGeom>
            <a:noFill/>
            <a:ln w="22225">
              <a:solidFill>
                <a:srgbClr val="2E2EB6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2" name="Line 91"/>
            <p:cNvSpPr>
              <a:spLocks noChangeShapeType="1"/>
            </p:cNvSpPr>
            <p:nvPr/>
          </p:nvSpPr>
          <p:spPr bwMode="auto">
            <a:xfrm>
              <a:off x="3600" y="1200"/>
              <a:ext cx="0" cy="1872"/>
            </a:xfrm>
            <a:prstGeom prst="line">
              <a:avLst/>
            </a:prstGeom>
            <a:noFill/>
            <a:ln w="22225">
              <a:solidFill>
                <a:srgbClr val="4949D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308" name="Text Box 92"/>
          <p:cNvSpPr txBox="1">
            <a:spLocks noChangeArrowheads="1"/>
          </p:cNvSpPr>
          <p:nvPr/>
        </p:nvSpPr>
        <p:spPr bwMode="auto">
          <a:xfrm>
            <a:off x="2266950" y="35052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>
                <a:latin typeface="Times New Roman" panose="02020603050405020304" pitchFamily="18" charset="0"/>
              </a:rPr>
              <a:t>Shift 1</a:t>
            </a:r>
          </a:p>
        </p:txBody>
      </p:sp>
      <p:sp>
        <p:nvSpPr>
          <p:cNvPr id="9309" name="Text Box 93"/>
          <p:cNvSpPr txBox="1">
            <a:spLocks noChangeArrowheads="1"/>
          </p:cNvSpPr>
          <p:nvPr/>
        </p:nvSpPr>
        <p:spPr bwMode="auto">
          <a:xfrm>
            <a:off x="2266950" y="4114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>
                <a:latin typeface="Times New Roman" panose="02020603050405020304" pitchFamily="18" charset="0"/>
              </a:rPr>
              <a:t>Shift 2</a:t>
            </a:r>
          </a:p>
        </p:txBody>
      </p:sp>
      <p:sp>
        <p:nvSpPr>
          <p:cNvPr id="9310" name="Text Box 94"/>
          <p:cNvSpPr txBox="1">
            <a:spLocks noChangeArrowheads="1"/>
          </p:cNvSpPr>
          <p:nvPr/>
        </p:nvSpPr>
        <p:spPr bwMode="auto">
          <a:xfrm>
            <a:off x="2286000" y="48006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 b="1">
                <a:latin typeface="Times New Roman" panose="02020603050405020304" pitchFamily="18" charset="0"/>
              </a:rPr>
              <a:t>Shift 3</a:t>
            </a:r>
          </a:p>
        </p:txBody>
      </p:sp>
      <p:sp>
        <p:nvSpPr>
          <p:cNvPr id="9311" name="Text Box 95"/>
          <p:cNvSpPr txBox="1">
            <a:spLocks noChangeArrowheads="1"/>
          </p:cNvSpPr>
          <p:nvPr/>
        </p:nvSpPr>
        <p:spPr bwMode="auto">
          <a:xfrm>
            <a:off x="7661276" y="5419726"/>
            <a:ext cx="30067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>
                <a:latin typeface="Helvetica" panose="020B0604020202020204" pitchFamily="34" charset="0"/>
              </a:rPr>
              <a:t>Here, n = 13 m = 4 s = 3</a:t>
            </a:r>
            <a:r>
              <a:rPr lang="en-US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9312" name="Text Box 96"/>
          <p:cNvSpPr txBox="1">
            <a:spLocks noChangeArrowheads="1"/>
          </p:cNvSpPr>
          <p:nvPr/>
        </p:nvSpPr>
        <p:spPr bwMode="auto">
          <a:xfrm>
            <a:off x="2286000" y="5791201"/>
            <a:ext cx="75438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>
                <a:latin typeface="Helvetica" panose="020B0604020202020204" pitchFamily="34" charset="0"/>
              </a:rPr>
              <a:t>S = 3 is a valid shift because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>
                <a:latin typeface="Helvetica" panose="020B0604020202020204" pitchFamily="34" charset="0"/>
              </a:rPr>
              <a:t> </a:t>
            </a:r>
            <a:r>
              <a:rPr lang="en-US" sz="2000">
                <a:solidFill>
                  <a:srgbClr val="000000"/>
                </a:solidFill>
                <a:latin typeface="Helvetica" panose="020B0604020202020204" pitchFamily="34" charset="0"/>
                <a:cs typeface="Times New Roman" panose="02020603050405020304" pitchFamily="18" charset="0"/>
              </a:rPr>
              <a:t>0≤ </a:t>
            </a:r>
            <a:r>
              <a:rPr lang="en-US" sz="2000" b="1">
                <a:solidFill>
                  <a:srgbClr val="000000"/>
                </a:solidFill>
                <a:latin typeface="Helvetica" panose="020B0604020202020204" pitchFamily="34" charset="0"/>
                <a:cs typeface="Times New Roman" panose="02020603050405020304" pitchFamily="18" charset="0"/>
              </a:rPr>
              <a:t>3</a:t>
            </a:r>
            <a:r>
              <a:rPr lang="en-US" sz="2000" b="1" i="1">
                <a:solidFill>
                  <a:srgbClr val="000000"/>
                </a:solidFill>
                <a:latin typeface="Helvetica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>
                <a:solidFill>
                  <a:srgbClr val="000000"/>
                </a:solidFill>
                <a:latin typeface="Helvetica" panose="020B0604020202020204" pitchFamily="34" charset="0"/>
                <a:cs typeface="Times New Roman" panose="02020603050405020304" pitchFamily="18" charset="0"/>
              </a:rPr>
              <a:t>≤ 13-4 and </a:t>
            </a:r>
            <a:r>
              <a:rPr lang="en-US" sz="2000" i="1">
                <a:solidFill>
                  <a:srgbClr val="000000"/>
                </a:solidFill>
                <a:latin typeface="Helvetica" panose="020B06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2000">
                <a:solidFill>
                  <a:srgbClr val="000000"/>
                </a:solidFill>
                <a:latin typeface="Helvetica" panose="020B0604020202020204" pitchFamily="34" charset="0"/>
                <a:cs typeface="Times New Roman" panose="02020603050405020304" pitchFamily="18" charset="0"/>
              </a:rPr>
              <a:t>[3 +1.. 3 +4] = </a:t>
            </a:r>
            <a:r>
              <a:rPr lang="en-US" sz="2000" i="1">
                <a:solidFill>
                  <a:srgbClr val="000000"/>
                </a:solidFill>
                <a:latin typeface="Helvetica" panose="020B0604020202020204" pitchFamily="34" charset="0"/>
                <a:cs typeface="Times New Roman" panose="02020603050405020304" pitchFamily="18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Helvetica" panose="020B0604020202020204" pitchFamily="34" charset="0"/>
                <a:cs typeface="Times New Roman" panose="02020603050405020304" pitchFamily="18" charset="0"/>
              </a:rPr>
              <a:t>[1..4].</a:t>
            </a:r>
          </a:p>
        </p:txBody>
      </p:sp>
      <p:sp>
        <p:nvSpPr>
          <p:cNvPr id="9313" name="Text Box 97"/>
          <p:cNvSpPr txBox="1">
            <a:spLocks noChangeArrowheads="1"/>
          </p:cNvSpPr>
          <p:nvPr/>
        </p:nvSpPr>
        <p:spPr bwMode="auto">
          <a:xfrm>
            <a:off x="2266950" y="29718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>
                <a:latin typeface="Times New Roman" panose="02020603050405020304" pitchFamily="18" charset="0"/>
              </a:rPr>
              <a:t>Shift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92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6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AEAEA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2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7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AEAEA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9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9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6" dur="500"/>
                                        <p:tgtEl>
                                          <p:spTgt spid="9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1" dur="500"/>
                                        <p:tgtEl>
                                          <p:spTgt spid="9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08" grpId="0" autoUpdateAnimBg="0"/>
      <p:bldP spid="9309" grpId="0" autoUpdateAnimBg="0"/>
      <p:bldP spid="9310" grpId="0" autoUpdateAnimBg="0"/>
      <p:bldP spid="9311" grpId="0" autoUpdateAnimBg="0"/>
      <p:bldP spid="9312" grpId="0" autoUpdateAnimBg="0"/>
      <p:bldP spid="931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08"/>
          <p:cNvSpPr>
            <a:spLocks noGrp="1" noChangeArrowheads="1"/>
          </p:cNvSpPr>
          <p:nvPr>
            <p:ph type="title"/>
          </p:nvPr>
        </p:nvSpPr>
        <p:spPr>
          <a:xfrm>
            <a:off x="2057400" y="838200"/>
            <a:ext cx="7772400" cy="4572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>
                <a:solidFill>
                  <a:srgbClr val="000000"/>
                </a:solidFill>
                <a:cs typeface="Times New Roman" panose="02020603050405020304" pitchFamily="18" charset="0"/>
              </a:rPr>
              <a:t>String Matching problem(contd.)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830388"/>
            <a:ext cx="8001000" cy="989012"/>
          </a:xfrm>
        </p:spPr>
        <p:txBody>
          <a:bodyPr/>
          <a:lstStyle/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2000" b="1"/>
              <a:t>The string-matching problem is the problem of finding all valid shifts with which a given pattern </a:t>
            </a:r>
            <a:r>
              <a:rPr lang="en-US" sz="2000" b="1" i="1"/>
              <a:t>P</a:t>
            </a:r>
            <a:r>
              <a:rPr lang="en-US" sz="2000" b="1"/>
              <a:t> occurs in a given text </a:t>
            </a:r>
            <a:r>
              <a:rPr lang="en-US" sz="2000" b="1" i="1"/>
              <a:t>T</a:t>
            </a:r>
            <a:r>
              <a:rPr lang="en-US" sz="2000" b="1"/>
              <a:t>.</a:t>
            </a:r>
            <a:endParaRPr lang="en-US" sz="2000"/>
          </a:p>
        </p:txBody>
      </p:sp>
      <p:sp>
        <p:nvSpPr>
          <p:cNvPr id="4096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B747E28-A9FE-429D-8D0A-98D57472BDED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en-US" sz="800">
              <a:latin typeface="Tahoma" panose="020B0604030504040204" pitchFamily="34" charset="0"/>
            </a:endParaRPr>
          </a:p>
        </p:txBody>
      </p:sp>
      <p:graphicFrame>
        <p:nvGraphicFramePr>
          <p:cNvPr id="10447" name="Group 207"/>
          <p:cNvGraphicFramePr>
            <a:graphicFrameLocks noGrp="1"/>
          </p:cNvGraphicFramePr>
          <p:nvPr/>
        </p:nvGraphicFramePr>
        <p:xfrm>
          <a:off x="2971800" y="2438400"/>
          <a:ext cx="6096000" cy="975064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45689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777777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646" marB="4564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777777"/>
                          </a:solidFill>
                          <a:effectLst/>
                          <a:latin typeface="Helvetica" panose="020B0604020202020204" pitchFamily="34" charset="0"/>
                        </a:rPr>
                        <a:t>2</a:t>
                      </a:r>
                    </a:p>
                  </a:txBody>
                  <a:tcPr marT="45646" marB="4564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777777"/>
                          </a:solidFill>
                          <a:effectLst/>
                          <a:latin typeface="Helvetica" panose="020B0604020202020204" pitchFamily="34" charset="0"/>
                        </a:rPr>
                        <a:t>3</a:t>
                      </a:r>
                    </a:p>
                  </a:txBody>
                  <a:tcPr marT="45646" marB="4564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777777"/>
                          </a:solidFill>
                          <a:effectLst/>
                          <a:latin typeface="Helvetica" panose="020B0604020202020204" pitchFamily="34" charset="0"/>
                        </a:rPr>
                        <a:t>4</a:t>
                      </a:r>
                    </a:p>
                  </a:txBody>
                  <a:tcPr marT="45646" marB="4564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777777"/>
                          </a:solidFill>
                          <a:effectLst/>
                          <a:latin typeface="Helvetica" panose="020B0604020202020204" pitchFamily="34" charset="0"/>
                        </a:rPr>
                        <a:t>5</a:t>
                      </a:r>
                    </a:p>
                  </a:txBody>
                  <a:tcPr marT="45646" marB="4564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777777"/>
                          </a:solidFill>
                          <a:effectLst/>
                          <a:latin typeface="Helvetica" panose="020B0604020202020204" pitchFamily="34" charset="0"/>
                        </a:rPr>
                        <a:t>6</a:t>
                      </a:r>
                    </a:p>
                  </a:txBody>
                  <a:tcPr marT="45646" marB="4564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777777"/>
                          </a:solidFill>
                          <a:effectLst/>
                          <a:latin typeface="Helvetica" panose="020B0604020202020204" pitchFamily="34" charset="0"/>
                        </a:rPr>
                        <a:t>7</a:t>
                      </a:r>
                    </a:p>
                  </a:txBody>
                  <a:tcPr marT="45646" marB="4564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777777"/>
                          </a:solidFill>
                          <a:effectLst/>
                          <a:latin typeface="Helvetica" panose="020B0604020202020204" pitchFamily="34" charset="0"/>
                        </a:rPr>
                        <a:t>8</a:t>
                      </a:r>
                    </a:p>
                  </a:txBody>
                  <a:tcPr marT="45646" marB="4564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777777"/>
                          </a:solidFill>
                          <a:effectLst/>
                          <a:latin typeface="Helvetica" panose="020B0604020202020204" pitchFamily="34" charset="0"/>
                        </a:rPr>
                        <a:t>9</a:t>
                      </a:r>
                    </a:p>
                  </a:txBody>
                  <a:tcPr marT="45646" marB="4564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777777"/>
                          </a:solidFill>
                          <a:effectLst/>
                          <a:latin typeface="Helvetica" panose="020B0604020202020204" pitchFamily="34" charset="0"/>
                        </a:rPr>
                        <a:t>10</a:t>
                      </a:r>
                    </a:p>
                  </a:txBody>
                  <a:tcPr marT="45646" marB="4564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777777"/>
                          </a:solidFill>
                          <a:effectLst/>
                          <a:latin typeface="Helvetica" panose="020B0604020202020204" pitchFamily="34" charset="0"/>
                        </a:rPr>
                        <a:t>11</a:t>
                      </a:r>
                    </a:p>
                  </a:txBody>
                  <a:tcPr marT="45646" marB="4564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777777"/>
                          </a:solidFill>
                          <a:effectLst/>
                          <a:latin typeface="Helvetica" panose="020B0604020202020204" pitchFamily="34" charset="0"/>
                        </a:rPr>
                        <a:t>12</a:t>
                      </a:r>
                    </a:p>
                  </a:txBody>
                  <a:tcPr marT="45646" marB="4564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777777"/>
                          </a:solidFill>
                          <a:effectLst/>
                          <a:latin typeface="Helvetica" panose="020B0604020202020204" pitchFamily="34" charset="0"/>
                        </a:rPr>
                        <a:t>13</a:t>
                      </a:r>
                    </a:p>
                  </a:txBody>
                  <a:tcPr marT="45646" marB="4564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78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646" marB="456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C</a:t>
                      </a: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C</a:t>
                      </a: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0278" name="Group 38"/>
          <p:cNvGraphicFramePr>
            <a:graphicFrameLocks noGrp="1"/>
          </p:cNvGraphicFramePr>
          <p:nvPr/>
        </p:nvGraphicFramePr>
        <p:xfrm>
          <a:off x="4495801" y="4114800"/>
          <a:ext cx="1876425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0290" name="Group 50"/>
          <p:cNvGraphicFramePr>
            <a:graphicFrameLocks noGrp="1"/>
          </p:cNvGraphicFramePr>
          <p:nvPr/>
        </p:nvGraphicFramePr>
        <p:xfrm>
          <a:off x="7239001" y="5029200"/>
          <a:ext cx="1876425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0302" name="Text Box 62"/>
          <p:cNvSpPr txBox="1">
            <a:spLocks noChangeArrowheads="1"/>
          </p:cNvSpPr>
          <p:nvPr/>
        </p:nvSpPr>
        <p:spPr bwMode="auto">
          <a:xfrm>
            <a:off x="2819400" y="4038601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>
                <a:latin typeface="Times New Roman" panose="02020603050405020304" pitchFamily="18" charset="0"/>
              </a:rPr>
              <a:t>Shift 3</a:t>
            </a:r>
          </a:p>
        </p:txBody>
      </p:sp>
      <p:sp>
        <p:nvSpPr>
          <p:cNvPr id="10303" name="Text Box 63"/>
          <p:cNvSpPr txBox="1">
            <a:spLocks noChangeArrowheads="1"/>
          </p:cNvSpPr>
          <p:nvPr/>
        </p:nvSpPr>
        <p:spPr bwMode="auto">
          <a:xfrm>
            <a:off x="2819400" y="5105401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dirty="0">
                <a:latin typeface="Times New Roman" panose="02020603050405020304" pitchFamily="18" charset="0"/>
              </a:rPr>
              <a:t>Shift 9</a:t>
            </a:r>
          </a:p>
        </p:txBody>
      </p:sp>
      <p:grpSp>
        <p:nvGrpSpPr>
          <p:cNvPr id="10313" name="Group 73"/>
          <p:cNvGrpSpPr>
            <a:grpSpLocks/>
          </p:cNvGrpSpPr>
          <p:nvPr/>
        </p:nvGrpSpPr>
        <p:grpSpPr bwMode="auto">
          <a:xfrm>
            <a:off x="4724400" y="3429000"/>
            <a:ext cx="1371600" cy="685800"/>
            <a:chOff x="1728" y="2160"/>
            <a:chExt cx="864" cy="432"/>
          </a:xfrm>
        </p:grpSpPr>
        <p:sp>
          <p:nvSpPr>
            <p:cNvPr id="41042" name="Line 64"/>
            <p:cNvSpPr>
              <a:spLocks noChangeShapeType="1"/>
            </p:cNvSpPr>
            <p:nvPr/>
          </p:nvSpPr>
          <p:spPr bwMode="auto">
            <a:xfrm>
              <a:off x="1728" y="2160"/>
              <a:ext cx="0" cy="432"/>
            </a:xfrm>
            <a:prstGeom prst="line">
              <a:avLst/>
            </a:prstGeom>
            <a:noFill/>
            <a:ln w="34925">
              <a:solidFill>
                <a:schemeClr val="hlink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3" name="Line 65"/>
            <p:cNvSpPr>
              <a:spLocks noChangeShapeType="1"/>
            </p:cNvSpPr>
            <p:nvPr/>
          </p:nvSpPr>
          <p:spPr bwMode="auto">
            <a:xfrm>
              <a:off x="2016" y="2160"/>
              <a:ext cx="0" cy="432"/>
            </a:xfrm>
            <a:prstGeom prst="line">
              <a:avLst/>
            </a:prstGeom>
            <a:noFill/>
            <a:ln w="34925">
              <a:solidFill>
                <a:schemeClr val="hlink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4" name="Line 66"/>
            <p:cNvSpPr>
              <a:spLocks noChangeShapeType="1"/>
            </p:cNvSpPr>
            <p:nvPr/>
          </p:nvSpPr>
          <p:spPr bwMode="auto">
            <a:xfrm>
              <a:off x="2304" y="2160"/>
              <a:ext cx="0" cy="432"/>
            </a:xfrm>
            <a:prstGeom prst="line">
              <a:avLst/>
            </a:prstGeom>
            <a:noFill/>
            <a:ln w="34925">
              <a:solidFill>
                <a:schemeClr val="hlink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5" name="Line 67"/>
            <p:cNvSpPr>
              <a:spLocks noChangeShapeType="1"/>
            </p:cNvSpPr>
            <p:nvPr/>
          </p:nvSpPr>
          <p:spPr bwMode="auto">
            <a:xfrm>
              <a:off x="2592" y="2160"/>
              <a:ext cx="0" cy="432"/>
            </a:xfrm>
            <a:prstGeom prst="line">
              <a:avLst/>
            </a:prstGeom>
            <a:noFill/>
            <a:ln w="34925">
              <a:solidFill>
                <a:schemeClr val="hlink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312" name="Group 72"/>
          <p:cNvGrpSpPr>
            <a:grpSpLocks/>
          </p:cNvGrpSpPr>
          <p:nvPr/>
        </p:nvGrpSpPr>
        <p:grpSpPr bwMode="auto">
          <a:xfrm>
            <a:off x="7467600" y="3429000"/>
            <a:ext cx="1371600" cy="1562100"/>
            <a:chOff x="3456" y="2160"/>
            <a:chExt cx="864" cy="984"/>
          </a:xfrm>
        </p:grpSpPr>
        <p:sp>
          <p:nvSpPr>
            <p:cNvPr id="41038" name="Line 68"/>
            <p:cNvSpPr>
              <a:spLocks noChangeShapeType="1"/>
            </p:cNvSpPr>
            <p:nvPr/>
          </p:nvSpPr>
          <p:spPr bwMode="auto">
            <a:xfrm>
              <a:off x="3456" y="2160"/>
              <a:ext cx="0" cy="960"/>
            </a:xfrm>
            <a:prstGeom prst="line">
              <a:avLst/>
            </a:prstGeom>
            <a:noFill/>
            <a:ln w="34925">
              <a:solidFill>
                <a:schemeClr val="hlink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9" name="Line 69"/>
            <p:cNvSpPr>
              <a:spLocks noChangeShapeType="1"/>
            </p:cNvSpPr>
            <p:nvPr/>
          </p:nvSpPr>
          <p:spPr bwMode="auto">
            <a:xfrm>
              <a:off x="3744" y="2160"/>
              <a:ext cx="0" cy="960"/>
            </a:xfrm>
            <a:prstGeom prst="line">
              <a:avLst/>
            </a:prstGeom>
            <a:noFill/>
            <a:ln w="34925">
              <a:solidFill>
                <a:schemeClr val="hlink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0" name="Line 70"/>
            <p:cNvSpPr>
              <a:spLocks noChangeShapeType="1"/>
            </p:cNvSpPr>
            <p:nvPr/>
          </p:nvSpPr>
          <p:spPr bwMode="auto">
            <a:xfrm>
              <a:off x="4032" y="2160"/>
              <a:ext cx="0" cy="960"/>
            </a:xfrm>
            <a:prstGeom prst="line">
              <a:avLst/>
            </a:prstGeom>
            <a:noFill/>
            <a:ln w="34925">
              <a:solidFill>
                <a:schemeClr val="hlink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1" name="Line 71"/>
            <p:cNvSpPr>
              <a:spLocks noChangeShapeType="1"/>
            </p:cNvSpPr>
            <p:nvPr/>
          </p:nvSpPr>
          <p:spPr bwMode="auto">
            <a:xfrm>
              <a:off x="4320" y="2184"/>
              <a:ext cx="0" cy="960"/>
            </a:xfrm>
            <a:prstGeom prst="line">
              <a:avLst/>
            </a:prstGeom>
            <a:noFill/>
            <a:ln w="34925">
              <a:solidFill>
                <a:schemeClr val="hlink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036" name="Text Box 209"/>
          <p:cNvSpPr txBox="1">
            <a:spLocks noChangeArrowheads="1"/>
          </p:cNvSpPr>
          <p:nvPr/>
        </p:nvSpPr>
        <p:spPr bwMode="auto">
          <a:xfrm>
            <a:off x="1600200" y="2895601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 b="1">
                <a:latin typeface="Helvetica" panose="020B0604020202020204" pitchFamily="34" charset="0"/>
              </a:rPr>
              <a:t>Text </a:t>
            </a:r>
            <a:r>
              <a:rPr lang="en-US" sz="2000" b="1" i="1">
                <a:latin typeface="Helvetica" panose="020B0604020202020204" pitchFamily="34" charset="0"/>
              </a:rPr>
              <a:t>T</a:t>
            </a:r>
          </a:p>
        </p:txBody>
      </p:sp>
      <p:sp>
        <p:nvSpPr>
          <p:cNvPr id="21" name="Text Box 67"/>
          <p:cNvSpPr txBox="1">
            <a:spLocks noChangeArrowheads="1"/>
          </p:cNvSpPr>
          <p:nvPr/>
        </p:nvSpPr>
        <p:spPr bwMode="auto">
          <a:xfrm>
            <a:off x="4876800" y="4572000"/>
            <a:ext cx="2895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3200" b="1">
                <a:latin typeface="Times New Roman" panose="02020603050405020304" pitchFamily="18" charset="0"/>
              </a:rPr>
              <a:t>…………..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02" grpId="0" autoUpdateAnimBg="0"/>
      <p:bldP spid="10303" grpId="0"/>
      <p:bldP spid="2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609600"/>
            <a:ext cx="8229600" cy="762000"/>
          </a:xfrm>
        </p:spPr>
        <p:txBody>
          <a:bodyPr/>
          <a:lstStyle/>
          <a:p>
            <a:r>
              <a:rPr lang="en-US" sz="3200" b="1">
                <a:cs typeface="Times New Roman" panose="02020603050405020304" pitchFamily="18" charset="0"/>
              </a:rPr>
              <a:t>The naive string-matching algorithm</a:t>
            </a:r>
            <a:endParaRPr lang="en-US" sz="3200" b="1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1828800"/>
            <a:ext cx="8153400" cy="685800"/>
          </a:xfrm>
        </p:spPr>
        <p:txBody>
          <a:bodyPr/>
          <a:lstStyle/>
          <a:p>
            <a:r>
              <a:rPr lang="en-US" sz="2000">
                <a:cs typeface="Times New Roman" panose="02020603050405020304" pitchFamily="18" charset="0"/>
              </a:rPr>
              <a:t>The naïve algorithm finds all valid shifts using a loop that checks the condition P[1..m] = T[s+1..s+m] for each of the n-m+1 possible values of s.</a:t>
            </a:r>
            <a:endParaRPr lang="en-US" sz="2000"/>
          </a:p>
        </p:txBody>
      </p:sp>
      <p:sp>
        <p:nvSpPr>
          <p:cNvPr id="4198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4B78508-31D2-4BA0-AD3C-D3AC0BBD88BA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en-US" sz="800">
              <a:latin typeface="Tahoma" panose="020B0604030504040204" pitchFamily="34" charset="0"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057400" y="3124200"/>
            <a:ext cx="8153400" cy="2692400"/>
          </a:xfrm>
          <a:prstGeom prst="rect">
            <a:avLst/>
          </a:prstGeom>
          <a:solidFill>
            <a:srgbClr val="E1E1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Naïve-String-Matcher (T, P)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1    </a:t>
            </a:r>
            <a:r>
              <a:rPr lang="en-US" sz="2000" b="1" i="1" dirty="0">
                <a:latin typeface="Helvetica" panose="020B0604020202020204" pitchFamily="34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T.length</a:t>
            </a:r>
            <a:endParaRPr lang="en-US" sz="2000" dirty="0">
              <a:latin typeface="Helvetica" panose="020B0604020202020204" pitchFamily="34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2    </a:t>
            </a:r>
            <a:r>
              <a:rPr lang="en-US" sz="2000" b="1" i="1" dirty="0">
                <a:latin typeface="Helvetica" panose="020B0604020202020204" pitchFamily="34" charset="0"/>
                <a:cs typeface="Times New Roman" panose="02020603050405020304" pitchFamily="18" charset="0"/>
              </a:rPr>
              <a:t>m</a:t>
            </a: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P.length</a:t>
            </a:r>
            <a:endParaRPr lang="en-US" sz="2000" dirty="0">
              <a:latin typeface="Helvetica" panose="020B0604020202020204" pitchFamily="34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3    </a:t>
            </a:r>
            <a:r>
              <a:rPr lang="en-US" sz="2000" b="1" dirty="0">
                <a:latin typeface="Helvetica" panose="020B0604020202020204" pitchFamily="34" charset="0"/>
                <a:cs typeface="Times New Roman" panose="02020603050405020304" pitchFamily="18" charset="0"/>
              </a:rPr>
              <a:t>for</a:t>
            </a: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i="1" dirty="0">
                <a:latin typeface="Helvetica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 0 </a:t>
            </a:r>
            <a:r>
              <a:rPr lang="en-US" sz="2000" b="1" dirty="0">
                <a:latin typeface="Helvetica" panose="020B0604020202020204" pitchFamily="34" charset="0"/>
                <a:cs typeface="Times New Roman" panose="02020603050405020304" pitchFamily="18" charset="0"/>
              </a:rPr>
              <a:t>to</a:t>
            </a: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i="1" dirty="0">
                <a:latin typeface="Helvetica" panose="020B0604020202020204" pitchFamily="34" charset="0"/>
                <a:cs typeface="Times New Roman" panose="02020603050405020304" pitchFamily="18" charset="0"/>
              </a:rPr>
              <a:t>n-m</a:t>
            </a: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4         </a:t>
            </a:r>
            <a:r>
              <a:rPr lang="en-US" sz="2000" b="1" dirty="0">
                <a:latin typeface="Helvetica" panose="020B0604020202020204" pitchFamily="34" charset="0"/>
                <a:cs typeface="Times New Roman" panose="02020603050405020304" pitchFamily="18" charset="0"/>
              </a:rPr>
              <a:t>if</a:t>
            </a: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 P[1..</a:t>
            </a:r>
            <a:r>
              <a:rPr lang="en-US" sz="2000" b="1" i="1" dirty="0">
                <a:latin typeface="Helvetica" panose="020B0604020202020204" pitchFamily="34" charset="0"/>
                <a:cs typeface="Times New Roman" panose="02020603050405020304" pitchFamily="18" charset="0"/>
              </a:rPr>
              <a:t>m</a:t>
            </a: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] = T[</a:t>
            </a:r>
            <a:r>
              <a:rPr lang="en-US" sz="2000" b="1" i="1" dirty="0">
                <a:latin typeface="Helvetica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+1..</a:t>
            </a:r>
            <a:r>
              <a:rPr lang="en-US" sz="2000" b="1" i="1" dirty="0">
                <a:latin typeface="Helvetica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+</a:t>
            </a:r>
            <a:r>
              <a:rPr lang="en-US" sz="2000" b="1" i="1" dirty="0">
                <a:latin typeface="Helvetica" panose="020B0604020202020204" pitchFamily="34" charset="0"/>
                <a:cs typeface="Times New Roman" panose="02020603050405020304" pitchFamily="18" charset="0"/>
              </a:rPr>
              <a:t>m</a:t>
            </a: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]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5                  print "Pattern occurs with shift" </a:t>
            </a:r>
            <a:r>
              <a:rPr lang="en-US" sz="2000" b="1" i="1" dirty="0">
                <a:latin typeface="Helvetica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n-US" sz="2000" dirty="0">
                <a:latin typeface="Helvetica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 autoUpdateAnimBg="0"/>
      <p:bldP spid="11268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533400"/>
            <a:ext cx="7772400" cy="762000"/>
          </a:xfrm>
        </p:spPr>
        <p:txBody>
          <a:bodyPr/>
          <a:lstStyle/>
          <a:p>
            <a:r>
              <a:rPr lang="en-US" sz="3600" dirty="0"/>
              <a:t>When does worst case happen?</a:t>
            </a:r>
          </a:p>
        </p:txBody>
      </p:sp>
      <p:sp>
        <p:nvSpPr>
          <p:cNvPr id="4301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4036B27-711C-4FEA-9988-F77330587202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en-US" sz="800">
              <a:latin typeface="Tahoma" panose="020B0604030504040204" pitchFamily="34" charset="0"/>
            </a:endParaRPr>
          </a:p>
        </p:txBody>
      </p:sp>
      <p:graphicFrame>
        <p:nvGraphicFramePr>
          <p:cNvPr id="14508" name="Group 172"/>
          <p:cNvGraphicFramePr>
            <a:graphicFrameLocks noGrp="1"/>
          </p:cNvGraphicFramePr>
          <p:nvPr/>
        </p:nvGraphicFramePr>
        <p:xfrm>
          <a:off x="3124200" y="1676400"/>
          <a:ext cx="6096000" cy="91440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152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13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8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4374" name="Group 38"/>
          <p:cNvGraphicFramePr>
            <a:graphicFrameLocks noGrp="1"/>
          </p:cNvGraphicFramePr>
          <p:nvPr/>
        </p:nvGraphicFramePr>
        <p:xfrm>
          <a:off x="3124201" y="3276600"/>
          <a:ext cx="1876425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X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pSp>
        <p:nvGrpSpPr>
          <p:cNvPr id="14390" name="Group 54"/>
          <p:cNvGrpSpPr>
            <a:grpSpLocks/>
          </p:cNvGrpSpPr>
          <p:nvPr/>
        </p:nvGrpSpPr>
        <p:grpSpPr bwMode="auto">
          <a:xfrm>
            <a:off x="3352800" y="2743200"/>
            <a:ext cx="1460500" cy="533400"/>
            <a:chOff x="864" y="1728"/>
            <a:chExt cx="920" cy="336"/>
          </a:xfrm>
        </p:grpSpPr>
        <p:sp>
          <p:nvSpPr>
            <p:cNvPr id="43100" name="Line 50"/>
            <p:cNvSpPr>
              <a:spLocks noChangeShapeType="1"/>
            </p:cNvSpPr>
            <p:nvPr/>
          </p:nvSpPr>
          <p:spPr bwMode="auto">
            <a:xfrm>
              <a:off x="864" y="1728"/>
              <a:ext cx="0" cy="336"/>
            </a:xfrm>
            <a:prstGeom prst="line">
              <a:avLst/>
            </a:prstGeom>
            <a:noFill/>
            <a:ln w="349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01" name="Line 51"/>
            <p:cNvSpPr>
              <a:spLocks noChangeShapeType="1"/>
            </p:cNvSpPr>
            <p:nvPr/>
          </p:nvSpPr>
          <p:spPr bwMode="auto">
            <a:xfrm>
              <a:off x="1152" y="1728"/>
              <a:ext cx="0" cy="288"/>
            </a:xfrm>
            <a:prstGeom prst="line">
              <a:avLst/>
            </a:prstGeom>
            <a:noFill/>
            <a:ln w="349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02" name="Line 52"/>
            <p:cNvSpPr>
              <a:spLocks noChangeShapeType="1"/>
            </p:cNvSpPr>
            <p:nvPr/>
          </p:nvSpPr>
          <p:spPr bwMode="auto">
            <a:xfrm>
              <a:off x="1440" y="1728"/>
              <a:ext cx="0" cy="336"/>
            </a:xfrm>
            <a:prstGeom prst="line">
              <a:avLst/>
            </a:prstGeom>
            <a:noFill/>
            <a:ln w="349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03" name="Freeform 53"/>
            <p:cNvSpPr>
              <a:spLocks/>
            </p:cNvSpPr>
            <p:nvPr/>
          </p:nvSpPr>
          <p:spPr bwMode="auto">
            <a:xfrm>
              <a:off x="1680" y="1728"/>
              <a:ext cx="104" cy="336"/>
            </a:xfrm>
            <a:custGeom>
              <a:avLst/>
              <a:gdLst>
                <a:gd name="T0" fmla="*/ 0 w 104"/>
                <a:gd name="T1" fmla="*/ 0 h 336"/>
                <a:gd name="T2" fmla="*/ 96 w 104"/>
                <a:gd name="T3" fmla="*/ 144 h 336"/>
                <a:gd name="T4" fmla="*/ 0 w 104"/>
                <a:gd name="T5" fmla="*/ 192 h 336"/>
                <a:gd name="T6" fmla="*/ 96 w 104"/>
                <a:gd name="T7" fmla="*/ 240 h 336"/>
                <a:gd name="T8" fmla="*/ 48 w 104"/>
                <a:gd name="T9" fmla="*/ 336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336">
                  <a:moveTo>
                    <a:pt x="0" y="0"/>
                  </a:moveTo>
                  <a:cubicBezTo>
                    <a:pt x="48" y="56"/>
                    <a:pt x="96" y="112"/>
                    <a:pt x="96" y="144"/>
                  </a:cubicBezTo>
                  <a:cubicBezTo>
                    <a:pt x="96" y="176"/>
                    <a:pt x="0" y="176"/>
                    <a:pt x="0" y="192"/>
                  </a:cubicBezTo>
                  <a:cubicBezTo>
                    <a:pt x="0" y="208"/>
                    <a:pt x="88" y="216"/>
                    <a:pt x="96" y="240"/>
                  </a:cubicBezTo>
                  <a:cubicBezTo>
                    <a:pt x="104" y="264"/>
                    <a:pt x="56" y="320"/>
                    <a:pt x="48" y="336"/>
                  </a:cubicBezTo>
                </a:path>
              </a:pathLst>
            </a:custGeom>
            <a:noFill/>
            <a:ln w="349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4404" name="Group 68"/>
          <p:cNvGraphicFramePr>
            <a:graphicFrameLocks noGrp="1"/>
          </p:cNvGraphicFramePr>
          <p:nvPr/>
        </p:nvGraphicFramePr>
        <p:xfrm>
          <a:off x="3581401" y="4267200"/>
          <a:ext cx="1876425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X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4403" name="Text Box 67"/>
          <p:cNvSpPr txBox="1">
            <a:spLocks noChangeArrowheads="1"/>
          </p:cNvSpPr>
          <p:nvPr/>
        </p:nvSpPr>
        <p:spPr bwMode="auto">
          <a:xfrm>
            <a:off x="5105400" y="5029200"/>
            <a:ext cx="2895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3200" b="1">
                <a:latin typeface="Times New Roman" panose="02020603050405020304" pitchFamily="18" charset="0"/>
              </a:rPr>
              <a:t>…………..</a:t>
            </a:r>
          </a:p>
        </p:txBody>
      </p:sp>
      <p:graphicFrame>
        <p:nvGraphicFramePr>
          <p:cNvPr id="14405" name="Group 69"/>
          <p:cNvGraphicFramePr>
            <a:graphicFrameLocks noGrp="1"/>
          </p:cNvGraphicFramePr>
          <p:nvPr/>
        </p:nvGraphicFramePr>
        <p:xfrm>
          <a:off x="7391401" y="5715000"/>
          <a:ext cx="1876425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X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pSp>
        <p:nvGrpSpPr>
          <p:cNvPr id="14424" name="Group 88"/>
          <p:cNvGrpSpPr>
            <a:grpSpLocks/>
          </p:cNvGrpSpPr>
          <p:nvPr/>
        </p:nvGrpSpPr>
        <p:grpSpPr bwMode="auto">
          <a:xfrm>
            <a:off x="7620000" y="2743200"/>
            <a:ext cx="1371600" cy="2971800"/>
            <a:chOff x="3552" y="1728"/>
            <a:chExt cx="864" cy="1872"/>
          </a:xfrm>
        </p:grpSpPr>
        <p:sp>
          <p:nvSpPr>
            <p:cNvPr id="43096" name="Line 81"/>
            <p:cNvSpPr>
              <a:spLocks noChangeShapeType="1"/>
            </p:cNvSpPr>
            <p:nvPr/>
          </p:nvSpPr>
          <p:spPr bwMode="auto">
            <a:xfrm>
              <a:off x="3552" y="1728"/>
              <a:ext cx="0" cy="1872"/>
            </a:xfrm>
            <a:prstGeom prst="line">
              <a:avLst/>
            </a:prstGeom>
            <a:noFill/>
            <a:ln w="34925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7" name="Line 82"/>
            <p:cNvSpPr>
              <a:spLocks noChangeShapeType="1"/>
            </p:cNvSpPr>
            <p:nvPr/>
          </p:nvSpPr>
          <p:spPr bwMode="auto">
            <a:xfrm>
              <a:off x="3840" y="1728"/>
              <a:ext cx="0" cy="1872"/>
            </a:xfrm>
            <a:prstGeom prst="line">
              <a:avLst/>
            </a:prstGeom>
            <a:noFill/>
            <a:ln w="34925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8" name="Line 83"/>
            <p:cNvSpPr>
              <a:spLocks noChangeShapeType="1"/>
            </p:cNvSpPr>
            <p:nvPr/>
          </p:nvSpPr>
          <p:spPr bwMode="auto">
            <a:xfrm>
              <a:off x="4128" y="1728"/>
              <a:ext cx="0" cy="1872"/>
            </a:xfrm>
            <a:prstGeom prst="line">
              <a:avLst/>
            </a:prstGeom>
            <a:noFill/>
            <a:ln w="34925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9" name="Line 87"/>
            <p:cNvSpPr>
              <a:spLocks noChangeShapeType="1"/>
            </p:cNvSpPr>
            <p:nvPr/>
          </p:nvSpPr>
          <p:spPr bwMode="auto">
            <a:xfrm>
              <a:off x="4416" y="1728"/>
              <a:ext cx="0" cy="1872"/>
            </a:xfrm>
            <a:prstGeom prst="line">
              <a:avLst/>
            </a:prstGeom>
            <a:noFill/>
            <a:ln w="34925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094" name="Text Box 173"/>
          <p:cNvSpPr txBox="1">
            <a:spLocks noChangeArrowheads="1"/>
          </p:cNvSpPr>
          <p:nvPr/>
        </p:nvSpPr>
        <p:spPr bwMode="auto">
          <a:xfrm>
            <a:off x="1600200" y="20574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 b="1">
                <a:latin typeface="Times New Roman" panose="02020603050405020304" pitchFamily="18" charset="0"/>
              </a:rPr>
              <a:t>Text </a:t>
            </a:r>
            <a:r>
              <a:rPr lang="en-US" sz="24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3095" name="Text Box 174"/>
          <p:cNvSpPr txBox="1">
            <a:spLocks noChangeArrowheads="1"/>
          </p:cNvSpPr>
          <p:nvPr/>
        </p:nvSpPr>
        <p:spPr bwMode="auto">
          <a:xfrm>
            <a:off x="1600200" y="32766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 b="1">
                <a:latin typeface="Times New Roman" panose="02020603050405020304" pitchFamily="18" charset="0"/>
              </a:rPr>
              <a:t>Pattern </a:t>
            </a:r>
            <a:r>
              <a:rPr lang="en-US" sz="2400" b="1" i="1">
                <a:latin typeface="Times New Roman" panose="02020603050405020304" pitchFamily="18" charset="0"/>
              </a:rPr>
              <a:t>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3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AEAEA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0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533400"/>
            <a:ext cx="7772400" cy="6858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Worst case Analysis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2514600" y="2438400"/>
            <a:ext cx="7772400" cy="3505200"/>
          </a:xfrm>
        </p:spPr>
        <p:txBody>
          <a:bodyPr/>
          <a:lstStyle/>
          <a:p>
            <a:r>
              <a:rPr lang="en-US" sz="2000" dirty="0"/>
              <a:t>This algorithm takes </a:t>
            </a:r>
            <a:r>
              <a:rPr lang="en-US" sz="2000" dirty="0">
                <a:sym typeface="Symbol" panose="05050102010706020507" pitchFamily="18" charset="2"/>
              </a:rPr>
              <a:t>O</a:t>
            </a:r>
            <a:r>
              <a:rPr lang="en-US" sz="2000" dirty="0"/>
              <a:t>((n-m+1)m) in the worst case</a:t>
            </a:r>
          </a:p>
          <a:p>
            <a:r>
              <a:rPr lang="en-US" sz="2000" dirty="0"/>
              <a:t>There are at most n-m +1 shifts</a:t>
            </a:r>
          </a:p>
          <a:p>
            <a:r>
              <a:rPr lang="en-US" sz="2000" dirty="0"/>
              <a:t>m is to compare each string after shifting</a:t>
            </a:r>
          </a:p>
          <a:p>
            <a:r>
              <a:rPr lang="en-US" sz="2000" dirty="0"/>
              <a:t>Therefore worst case takes </a:t>
            </a:r>
            <a:r>
              <a:rPr lang="en-US" sz="2000" dirty="0">
                <a:sym typeface="Symbol" panose="05050102010706020507" pitchFamily="18" charset="2"/>
              </a:rPr>
              <a:t>O</a:t>
            </a:r>
            <a:r>
              <a:rPr lang="en-US" sz="2000" dirty="0"/>
              <a:t>((n-m+1)m) </a:t>
            </a:r>
          </a:p>
          <a:p>
            <a:r>
              <a:rPr lang="en-US" sz="2000" dirty="0"/>
              <a:t>E.g. In above example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000" dirty="0"/>
              <a:t>    O( (</a:t>
            </a:r>
            <a:r>
              <a:rPr lang="en-US" sz="2000" dirty="0">
                <a:solidFill>
                  <a:srgbClr val="7030A0"/>
                </a:solidFill>
              </a:rPr>
              <a:t>13-4+1</a:t>
            </a:r>
            <a:r>
              <a:rPr lang="en-US" sz="2000" dirty="0"/>
              <a:t>) 4 ) comparisons</a:t>
            </a:r>
          </a:p>
        </p:txBody>
      </p:sp>
      <p:sp>
        <p:nvSpPr>
          <p:cNvPr id="4403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D03AC7E-0544-4B4D-8771-E3A6EC396836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US" sz="800">
              <a:latin typeface="Tahoma" panose="020B0604030504040204" pitchFamily="34" charset="0"/>
            </a:endParaRP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2590800" y="5638801"/>
            <a:ext cx="1828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>
                <a:latin typeface="Helvetica" panose="020B0604020202020204" pitchFamily="34" charset="0"/>
              </a:rPr>
              <a:t>Shiftings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5257800" y="5715001"/>
            <a:ext cx="3810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>
                <a:latin typeface="Helvetica" panose="020B0604020202020204" pitchFamily="34" charset="0"/>
              </a:rPr>
              <a:t>Comparing for each shift</a:t>
            </a:r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 flipV="1">
            <a:off x="3276600" y="4648200"/>
            <a:ext cx="228600" cy="838200"/>
          </a:xfrm>
          <a:prstGeom prst="line">
            <a:avLst/>
          </a:prstGeom>
          <a:noFill/>
          <a:ln w="476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 flipV="1">
            <a:off x="4038600" y="4718050"/>
            <a:ext cx="914400" cy="990600"/>
          </a:xfrm>
          <a:prstGeom prst="line">
            <a:avLst/>
          </a:prstGeom>
          <a:noFill/>
          <a:ln w="476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  <p:bldP spid="12292" grpId="0" autoUpdateAnimBg="0"/>
      <p:bldP spid="12293" grpId="0" autoUpdateAnimBg="0"/>
      <p:bldP spid="12294" grpId="0" animBg="1"/>
      <p:bldP spid="1229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72400" cy="6096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Best case analysis</a:t>
            </a:r>
          </a:p>
        </p:txBody>
      </p:sp>
      <p:sp>
        <p:nvSpPr>
          <p:cNvPr id="4505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5C98372-D7FC-4352-A7F0-EFC911B8485A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US" sz="800">
              <a:latin typeface="Tahoma" panose="020B0604030504040204" pitchFamily="34" charset="0"/>
            </a:endParaRPr>
          </a:p>
        </p:txBody>
      </p:sp>
      <p:graphicFrame>
        <p:nvGraphicFramePr>
          <p:cNvPr id="22683" name="Group 155"/>
          <p:cNvGraphicFramePr>
            <a:graphicFrameLocks noGrp="1"/>
          </p:cNvGraphicFramePr>
          <p:nvPr/>
        </p:nvGraphicFramePr>
        <p:xfrm>
          <a:off x="3505200" y="1524000"/>
          <a:ext cx="6096000" cy="91440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152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13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8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2565" name="Group 37"/>
          <p:cNvGraphicFramePr>
            <a:graphicFrameLocks noGrp="1"/>
          </p:cNvGraphicFramePr>
          <p:nvPr/>
        </p:nvGraphicFramePr>
        <p:xfrm>
          <a:off x="3505201" y="2911475"/>
          <a:ext cx="1876425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C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2578" name="Freeform 50"/>
          <p:cNvSpPr>
            <a:spLocks/>
          </p:cNvSpPr>
          <p:nvPr/>
        </p:nvSpPr>
        <p:spPr bwMode="auto">
          <a:xfrm>
            <a:off x="3657600" y="2438400"/>
            <a:ext cx="152400" cy="457200"/>
          </a:xfrm>
          <a:custGeom>
            <a:avLst/>
            <a:gdLst>
              <a:gd name="T0" fmla="*/ 0 w 96"/>
              <a:gd name="T1" fmla="*/ 2147483646 h 288"/>
              <a:gd name="T2" fmla="*/ 2147483646 w 96"/>
              <a:gd name="T3" fmla="*/ 2147483646 h 288"/>
              <a:gd name="T4" fmla="*/ 0 w 96"/>
              <a:gd name="T5" fmla="*/ 2147483646 h 288"/>
              <a:gd name="T6" fmla="*/ 2147483646 w 96"/>
              <a:gd name="T7" fmla="*/ 0 h 28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6" h="288">
                <a:moveTo>
                  <a:pt x="0" y="288"/>
                </a:moveTo>
                <a:cubicBezTo>
                  <a:pt x="48" y="236"/>
                  <a:pt x="96" y="184"/>
                  <a:pt x="96" y="144"/>
                </a:cubicBezTo>
                <a:cubicBezTo>
                  <a:pt x="96" y="104"/>
                  <a:pt x="0" y="72"/>
                  <a:pt x="0" y="48"/>
                </a:cubicBezTo>
                <a:cubicBezTo>
                  <a:pt x="0" y="24"/>
                  <a:pt x="48" y="12"/>
                  <a:pt x="96" y="0"/>
                </a:cubicBezTo>
              </a:path>
            </a:pathLst>
          </a:custGeom>
          <a:noFill/>
          <a:ln w="349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2579" name="Group 51"/>
          <p:cNvGraphicFramePr>
            <a:graphicFrameLocks noGrp="1"/>
          </p:cNvGraphicFramePr>
          <p:nvPr/>
        </p:nvGraphicFramePr>
        <p:xfrm>
          <a:off x="4038601" y="3825875"/>
          <a:ext cx="1876425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C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2591" name="Freeform 63"/>
          <p:cNvSpPr>
            <a:spLocks/>
          </p:cNvSpPr>
          <p:nvPr/>
        </p:nvSpPr>
        <p:spPr bwMode="auto">
          <a:xfrm>
            <a:off x="4114800" y="2438400"/>
            <a:ext cx="254000" cy="1295400"/>
          </a:xfrm>
          <a:custGeom>
            <a:avLst/>
            <a:gdLst>
              <a:gd name="T0" fmla="*/ 2147483646 w 160"/>
              <a:gd name="T1" fmla="*/ 2147483646 h 816"/>
              <a:gd name="T2" fmla="*/ 2147483646 w 160"/>
              <a:gd name="T3" fmla="*/ 2147483646 h 816"/>
              <a:gd name="T4" fmla="*/ 2147483646 w 160"/>
              <a:gd name="T5" fmla="*/ 2147483646 h 816"/>
              <a:gd name="T6" fmla="*/ 2147483646 w 160"/>
              <a:gd name="T7" fmla="*/ 2147483646 h 816"/>
              <a:gd name="T8" fmla="*/ 2147483646 w 160"/>
              <a:gd name="T9" fmla="*/ 2147483646 h 816"/>
              <a:gd name="T10" fmla="*/ 2147483646 w 160"/>
              <a:gd name="T11" fmla="*/ 0 h 81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60" h="816">
                <a:moveTo>
                  <a:pt x="104" y="816"/>
                </a:moveTo>
                <a:cubicBezTo>
                  <a:pt x="56" y="768"/>
                  <a:pt x="8" y="720"/>
                  <a:pt x="8" y="672"/>
                </a:cubicBezTo>
                <a:cubicBezTo>
                  <a:pt x="8" y="624"/>
                  <a:pt x="104" y="600"/>
                  <a:pt x="104" y="528"/>
                </a:cubicBezTo>
                <a:cubicBezTo>
                  <a:pt x="104" y="456"/>
                  <a:pt x="0" y="304"/>
                  <a:pt x="8" y="240"/>
                </a:cubicBezTo>
                <a:cubicBezTo>
                  <a:pt x="16" y="176"/>
                  <a:pt x="144" y="184"/>
                  <a:pt x="152" y="144"/>
                </a:cubicBezTo>
                <a:cubicBezTo>
                  <a:pt x="160" y="104"/>
                  <a:pt x="72" y="24"/>
                  <a:pt x="56" y="0"/>
                </a:cubicBezTo>
              </a:path>
            </a:pathLst>
          </a:custGeom>
          <a:noFill/>
          <a:ln w="349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92" name="Text Box 64"/>
          <p:cNvSpPr txBox="1">
            <a:spLocks noChangeArrowheads="1"/>
          </p:cNvSpPr>
          <p:nvPr/>
        </p:nvSpPr>
        <p:spPr bwMode="auto">
          <a:xfrm>
            <a:off x="5562600" y="4144964"/>
            <a:ext cx="2133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3200" b="1">
                <a:latin typeface="Times New Roman" panose="02020603050405020304" pitchFamily="18" charset="0"/>
              </a:rPr>
              <a:t>…………..</a:t>
            </a:r>
          </a:p>
        </p:txBody>
      </p:sp>
      <p:graphicFrame>
        <p:nvGraphicFramePr>
          <p:cNvPr id="22593" name="Group 65"/>
          <p:cNvGraphicFramePr>
            <a:graphicFrameLocks noGrp="1"/>
          </p:cNvGraphicFramePr>
          <p:nvPr/>
        </p:nvGraphicFramePr>
        <p:xfrm>
          <a:off x="7772401" y="4664075"/>
          <a:ext cx="1876425" cy="5178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C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2605" name="Freeform 77"/>
          <p:cNvSpPr>
            <a:spLocks/>
          </p:cNvSpPr>
          <p:nvPr/>
        </p:nvSpPr>
        <p:spPr bwMode="auto">
          <a:xfrm>
            <a:off x="7683500" y="2438400"/>
            <a:ext cx="495300" cy="2362200"/>
          </a:xfrm>
          <a:custGeom>
            <a:avLst/>
            <a:gdLst>
              <a:gd name="T0" fmla="*/ 2147483646 w 312"/>
              <a:gd name="T1" fmla="*/ 2147483646 h 1488"/>
              <a:gd name="T2" fmla="*/ 2147483646 w 312"/>
              <a:gd name="T3" fmla="*/ 2147483646 h 1488"/>
              <a:gd name="T4" fmla="*/ 2147483646 w 312"/>
              <a:gd name="T5" fmla="*/ 2147483646 h 1488"/>
              <a:gd name="T6" fmla="*/ 2147483646 w 312"/>
              <a:gd name="T7" fmla="*/ 2147483646 h 1488"/>
              <a:gd name="T8" fmla="*/ 2147483646 w 312"/>
              <a:gd name="T9" fmla="*/ 2147483646 h 1488"/>
              <a:gd name="T10" fmla="*/ 2147483646 w 312"/>
              <a:gd name="T11" fmla="*/ 2147483646 h 1488"/>
              <a:gd name="T12" fmla="*/ 2147483646 w 312"/>
              <a:gd name="T13" fmla="*/ 0 h 14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12" h="1488">
                <a:moveTo>
                  <a:pt x="152" y="1488"/>
                </a:moveTo>
                <a:cubicBezTo>
                  <a:pt x="96" y="1376"/>
                  <a:pt x="40" y="1264"/>
                  <a:pt x="56" y="1200"/>
                </a:cubicBezTo>
                <a:cubicBezTo>
                  <a:pt x="72" y="1136"/>
                  <a:pt x="240" y="1176"/>
                  <a:pt x="248" y="1104"/>
                </a:cubicBezTo>
                <a:cubicBezTo>
                  <a:pt x="256" y="1032"/>
                  <a:pt x="96" y="864"/>
                  <a:pt x="104" y="768"/>
                </a:cubicBezTo>
                <a:cubicBezTo>
                  <a:pt x="112" y="672"/>
                  <a:pt x="312" y="608"/>
                  <a:pt x="296" y="528"/>
                </a:cubicBezTo>
                <a:cubicBezTo>
                  <a:pt x="280" y="448"/>
                  <a:pt x="16" y="376"/>
                  <a:pt x="8" y="288"/>
                </a:cubicBezTo>
                <a:cubicBezTo>
                  <a:pt x="0" y="200"/>
                  <a:pt x="208" y="48"/>
                  <a:pt x="248" y="0"/>
                </a:cubicBezTo>
              </a:path>
            </a:pathLst>
          </a:custGeom>
          <a:noFill/>
          <a:ln w="349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606" name="Text Box 78"/>
          <p:cNvSpPr txBox="1">
            <a:spLocks noChangeArrowheads="1"/>
          </p:cNvSpPr>
          <p:nvPr/>
        </p:nvSpPr>
        <p:spPr bwMode="auto">
          <a:xfrm>
            <a:off x="2133600" y="5257801"/>
            <a:ext cx="75438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 dirty="0">
                <a:latin typeface="Helvetica" panose="020B0604020202020204" pitchFamily="34" charset="0"/>
              </a:rPr>
              <a:t>No of shifts (13-4+1)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 dirty="0">
                <a:latin typeface="Helvetica" panose="020B0604020202020204" pitchFamily="34" charset="0"/>
              </a:rPr>
              <a:t>No of comparisons O((n-m+1) 1)</a:t>
            </a:r>
          </a:p>
        </p:txBody>
      </p:sp>
      <p:sp>
        <p:nvSpPr>
          <p:cNvPr id="45144" name="Text Box 156"/>
          <p:cNvSpPr txBox="1">
            <a:spLocks noChangeArrowheads="1"/>
          </p:cNvSpPr>
          <p:nvPr/>
        </p:nvSpPr>
        <p:spPr bwMode="auto">
          <a:xfrm>
            <a:off x="1752600" y="18288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 b="1">
                <a:latin typeface="Times New Roman" panose="02020603050405020304" pitchFamily="18" charset="0"/>
              </a:rPr>
              <a:t>Text </a:t>
            </a:r>
            <a:r>
              <a:rPr lang="en-US" sz="24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5145" name="Text Box 157"/>
          <p:cNvSpPr txBox="1">
            <a:spLocks noChangeArrowheads="1"/>
          </p:cNvSpPr>
          <p:nvPr/>
        </p:nvSpPr>
        <p:spPr bwMode="auto">
          <a:xfrm>
            <a:off x="1676400" y="29718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 b="1">
                <a:latin typeface="Times New Roman" panose="02020603050405020304" pitchFamily="18" charset="0"/>
              </a:rPr>
              <a:t>Pattern </a:t>
            </a:r>
            <a:r>
              <a:rPr lang="en-US" sz="2400" b="1" i="1">
                <a:latin typeface="Times New Roman" panose="02020603050405020304" pitchFamily="18" charset="0"/>
              </a:rPr>
              <a:t>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22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78" grpId="0" animBg="1"/>
      <p:bldP spid="22591" grpId="0" animBg="1"/>
      <p:bldP spid="22592" grpId="0" autoUpdateAnimBg="0"/>
      <p:bldP spid="22605" grpId="0" animBg="1"/>
      <p:bldP spid="2260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57200"/>
            <a:ext cx="7793038" cy="914400"/>
          </a:xfrm>
        </p:spPr>
        <p:txBody>
          <a:bodyPr/>
          <a:lstStyle/>
          <a:p>
            <a:r>
              <a:rPr lang="en-US" b="1"/>
              <a:t>The Rabin-Karp Algorithm</a:t>
            </a:r>
          </a:p>
        </p:txBody>
      </p:sp>
      <p:sp>
        <p:nvSpPr>
          <p:cNvPr id="4608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363003C-889E-4EBC-985D-135C79BFAFB4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14</a:t>
            </a:fld>
            <a:endParaRPr lang="en-US" sz="800">
              <a:latin typeface="Tahoma" panose="020B0604030504040204" pitchFamily="34" charset="0"/>
            </a:endParaRPr>
          </a:p>
        </p:txBody>
      </p:sp>
      <p:pic>
        <p:nvPicPr>
          <p:cNvPr id="46084" name="Picture 4" descr="Michael_Rab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133601"/>
            <a:ext cx="160020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5" name="Text Box 5"/>
          <p:cNvSpPr txBox="1">
            <a:spLocks noChangeArrowheads="1"/>
          </p:cNvSpPr>
          <p:nvPr/>
        </p:nvSpPr>
        <p:spPr bwMode="auto">
          <a:xfrm>
            <a:off x="6629400" y="4114801"/>
            <a:ext cx="3429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 b="1">
                <a:latin typeface="Helvetica" panose="020B0604020202020204" pitchFamily="34" charset="0"/>
              </a:rPr>
              <a:t>Professor Michel Rabin                Harvard University</a:t>
            </a:r>
            <a:endParaRPr lang="en-US" sz="2000">
              <a:latin typeface="Helvetica" panose="020B0604020202020204" pitchFamily="34" charset="0"/>
            </a:endParaRPr>
          </a:p>
        </p:txBody>
      </p:sp>
      <p:pic>
        <p:nvPicPr>
          <p:cNvPr id="46086" name="Picture 6" descr="kar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1" y="2133600"/>
            <a:ext cx="126047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2286000" y="4114801"/>
            <a:ext cx="4267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>
                <a:latin typeface="Helvetica" panose="020B0604020202020204" pitchFamily="34" charset="0"/>
              </a:rPr>
              <a:t>Professor.Richard Karp  </a:t>
            </a:r>
            <a:r>
              <a:rPr lang="en-US" sz="2000" b="1">
                <a:latin typeface="Helvetica" panose="020B0604020202020204" pitchFamily="34" charset="0"/>
              </a:rPr>
              <a:t>Harvard University</a:t>
            </a:r>
            <a:endParaRPr lang="en-US" sz="2000">
              <a:latin typeface="Helvetica" panose="020B0604020202020204" pitchFamily="34" charset="0"/>
            </a:endParaRPr>
          </a:p>
        </p:txBody>
      </p:sp>
      <p:sp>
        <p:nvSpPr>
          <p:cNvPr id="46088" name="Text Box 9"/>
          <p:cNvSpPr txBox="1">
            <a:spLocks noChangeArrowheads="1"/>
          </p:cNvSpPr>
          <p:nvPr/>
        </p:nvSpPr>
        <p:spPr bwMode="auto">
          <a:xfrm>
            <a:off x="1981200" y="5410201"/>
            <a:ext cx="830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>
                <a:latin typeface="Helvetica" panose="020B0604020202020204" pitchFamily="34" charset="0"/>
              </a:rPr>
              <a:t>Invented by Professor Richard Karp an Professor Michel Rabin in 1984.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617538"/>
            <a:ext cx="7793038" cy="6858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cs typeface="Times New Roman" panose="02020603050405020304" pitchFamily="18" charset="0"/>
              </a:rPr>
              <a:t>The Rabin-Karp Algorithm</a:t>
            </a:r>
          </a:p>
        </p:txBody>
      </p:sp>
      <p:sp>
        <p:nvSpPr>
          <p:cNvPr id="4710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4103663-970F-481F-82E4-3BBFFB5C0FAC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15</a:t>
            </a:fld>
            <a:endParaRPr lang="en-US" sz="800">
              <a:latin typeface="Tahoma" panose="020B0604030504040204" pitchFamily="34" charset="0"/>
            </a:endParaRPr>
          </a:p>
        </p:txBody>
      </p:sp>
      <p:graphicFrame>
        <p:nvGraphicFramePr>
          <p:cNvPr id="18502" name="Group 70"/>
          <p:cNvGraphicFramePr>
            <a:graphicFrameLocks noGrp="1"/>
          </p:cNvGraphicFramePr>
          <p:nvPr/>
        </p:nvGraphicFramePr>
        <p:xfrm>
          <a:off x="1981200" y="2362200"/>
          <a:ext cx="8001000" cy="517880"/>
        </p:xfrm>
        <a:graphic>
          <a:graphicData uri="http://schemas.openxmlformats.org/drawingml/2006/table">
            <a:tbl>
              <a:tblPr/>
              <a:tblGrid>
                <a:gridCol w="4206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2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3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9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0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2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3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4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2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6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7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3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9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9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2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7150" name="Text Box 50"/>
          <p:cNvSpPr txBox="1">
            <a:spLocks noChangeArrowheads="1"/>
          </p:cNvSpPr>
          <p:nvPr/>
        </p:nvSpPr>
        <p:spPr bwMode="auto">
          <a:xfrm>
            <a:off x="1905000" y="1752601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>
                <a:latin typeface="Times New Roman" panose="02020603050405020304" pitchFamily="18" charset="0"/>
              </a:rPr>
              <a:t>Given Text</a:t>
            </a:r>
          </a:p>
        </p:txBody>
      </p:sp>
      <p:sp>
        <p:nvSpPr>
          <p:cNvPr id="47151" name="Text Box 51"/>
          <p:cNvSpPr txBox="1">
            <a:spLocks noChangeArrowheads="1"/>
          </p:cNvSpPr>
          <p:nvPr/>
        </p:nvSpPr>
        <p:spPr bwMode="auto">
          <a:xfrm>
            <a:off x="1752600" y="3505201"/>
            <a:ext cx="449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>
                <a:latin typeface="Times New Roman" panose="02020603050405020304" pitchFamily="18" charset="0"/>
              </a:rPr>
              <a:t>Find the occurrence of pattern</a:t>
            </a:r>
          </a:p>
        </p:txBody>
      </p:sp>
      <p:graphicFrame>
        <p:nvGraphicFramePr>
          <p:cNvPr id="18500" name="Group 68"/>
          <p:cNvGraphicFramePr>
            <a:graphicFrameLocks noGrp="1"/>
          </p:cNvGraphicFramePr>
          <p:nvPr/>
        </p:nvGraphicFramePr>
        <p:xfrm>
          <a:off x="6172200" y="3505200"/>
          <a:ext cx="2209800" cy="517880"/>
        </p:xfrm>
        <a:graphic>
          <a:graphicData uri="http://schemas.openxmlformats.org/drawingml/2006/table">
            <a:tbl>
              <a:tblPr/>
              <a:tblGrid>
                <a:gridCol w="4413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429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413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4291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413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3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4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8545" name="Group 113"/>
          <p:cNvGraphicFramePr>
            <a:graphicFrameLocks noGrp="1"/>
          </p:cNvGraphicFramePr>
          <p:nvPr/>
        </p:nvGraphicFramePr>
        <p:xfrm>
          <a:off x="2057400" y="4800600"/>
          <a:ext cx="8001000" cy="517880"/>
        </p:xfrm>
        <a:graphic>
          <a:graphicData uri="http://schemas.openxmlformats.org/drawingml/2006/table">
            <a:tbl>
              <a:tblPr/>
              <a:tblGrid>
                <a:gridCol w="4206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2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3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9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0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2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3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4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2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6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7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3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9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9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2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8546" name="Group 114"/>
          <p:cNvGraphicFramePr>
            <a:graphicFrameLocks noGrp="1"/>
          </p:cNvGraphicFramePr>
          <p:nvPr/>
        </p:nvGraphicFramePr>
        <p:xfrm>
          <a:off x="4572000" y="5562600"/>
          <a:ext cx="2133600" cy="517880"/>
        </p:xfrm>
        <a:graphic>
          <a:graphicData uri="http://schemas.openxmlformats.org/drawingml/2006/table">
            <a:tbl>
              <a:tblPr/>
              <a:tblGrid>
                <a:gridCol w="4254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3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4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8560" name="Text Box 128"/>
          <p:cNvSpPr txBox="1">
            <a:spLocks noChangeArrowheads="1"/>
          </p:cNvSpPr>
          <p:nvPr/>
        </p:nvSpPr>
        <p:spPr bwMode="auto">
          <a:xfrm>
            <a:off x="8534400" y="3352800"/>
            <a:ext cx="1752600" cy="94615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>
                <a:latin typeface="Times New Roman" panose="02020603050405020304" pitchFamily="18" charset="0"/>
              </a:rPr>
              <a:t>Using modulo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8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60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609600"/>
            <a:ext cx="7772400" cy="6858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Method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828800"/>
            <a:ext cx="7620000" cy="20574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sz="2000"/>
              <a:t>Take the window size of the pattern     </a:t>
            </a:r>
          </a:p>
          <a:p>
            <a:pPr>
              <a:spcBef>
                <a:spcPct val="50000"/>
              </a:spcBef>
            </a:pPr>
            <a:r>
              <a:rPr lang="en-US" sz="2000"/>
              <a:t>Start from the beginning of the text taking windows</a:t>
            </a:r>
          </a:p>
          <a:p>
            <a:pPr>
              <a:spcBef>
                <a:spcPct val="50000"/>
              </a:spcBef>
            </a:pPr>
            <a:r>
              <a:rPr lang="en-US" sz="2000"/>
              <a:t>Calculate the modulo value of that window</a:t>
            </a:r>
          </a:p>
          <a:p>
            <a:pPr>
              <a:spcBef>
                <a:spcPct val="50000"/>
              </a:spcBef>
            </a:pPr>
            <a:r>
              <a:rPr lang="en-US" sz="2000"/>
              <a:t>Check it with the modulo value of the pattern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sz="2000"/>
          </a:p>
        </p:txBody>
      </p:sp>
      <p:sp>
        <p:nvSpPr>
          <p:cNvPr id="4813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0CB62BA-09D1-4B59-955C-7985C228C68B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16</a:t>
            </a:fld>
            <a:endParaRPr lang="en-US" sz="800">
              <a:latin typeface="Tahoma" panose="020B0604030504040204" pitchFamily="34" charset="0"/>
            </a:endParaRPr>
          </a:p>
        </p:txBody>
      </p:sp>
      <p:graphicFrame>
        <p:nvGraphicFramePr>
          <p:cNvPr id="36868" name="Group 4"/>
          <p:cNvGraphicFramePr>
            <a:graphicFrameLocks noGrp="1"/>
          </p:cNvGraphicFramePr>
          <p:nvPr/>
        </p:nvGraphicFramePr>
        <p:xfrm>
          <a:off x="2895600" y="4267200"/>
          <a:ext cx="2133600" cy="517880"/>
        </p:xfrm>
        <a:graphic>
          <a:graphicData uri="http://schemas.openxmlformats.org/drawingml/2006/table">
            <a:tbl>
              <a:tblPr/>
              <a:tblGrid>
                <a:gridCol w="4254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3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4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8147" name="AutoShape 18"/>
          <p:cNvSpPr>
            <a:spLocks/>
          </p:cNvSpPr>
          <p:nvPr/>
        </p:nvSpPr>
        <p:spPr bwMode="auto">
          <a:xfrm rot="5386399">
            <a:off x="3694113" y="4002088"/>
            <a:ext cx="460375" cy="2209800"/>
          </a:xfrm>
          <a:prstGeom prst="rightBrace">
            <a:avLst>
              <a:gd name="adj1" fmla="val 4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48148" name="Line 19"/>
          <p:cNvSpPr>
            <a:spLocks noChangeShapeType="1"/>
          </p:cNvSpPr>
          <p:nvPr/>
        </p:nvSpPr>
        <p:spPr bwMode="auto">
          <a:xfrm>
            <a:off x="3962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1" name="Text Box 20"/>
          <p:cNvSpPr txBox="1">
            <a:spLocks noChangeArrowheads="1"/>
          </p:cNvSpPr>
          <p:nvPr/>
        </p:nvSpPr>
        <p:spPr bwMode="auto">
          <a:xfrm>
            <a:off x="3733800" y="6019800"/>
            <a:ext cx="533400" cy="5413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800" dirty="0"/>
              <a:t>7</a:t>
            </a:r>
          </a:p>
        </p:txBody>
      </p:sp>
      <p:sp>
        <p:nvSpPr>
          <p:cNvPr id="48150" name="Text Box 21"/>
          <p:cNvSpPr txBox="1">
            <a:spLocks noChangeArrowheads="1"/>
          </p:cNvSpPr>
          <p:nvPr/>
        </p:nvSpPr>
        <p:spPr bwMode="auto">
          <a:xfrm>
            <a:off x="4419600" y="5334001"/>
            <a:ext cx="2057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>
                <a:latin typeface="Helvetica" panose="020B0604020202020204" pitchFamily="34" charset="0"/>
              </a:rPr>
              <a:t>mod 13</a:t>
            </a:r>
          </a:p>
        </p:txBody>
      </p:sp>
      <p:sp>
        <p:nvSpPr>
          <p:cNvPr id="36886" name="Text Box 22"/>
          <p:cNvSpPr txBox="1">
            <a:spLocks noChangeArrowheads="1"/>
          </p:cNvSpPr>
          <p:nvPr/>
        </p:nvSpPr>
        <p:spPr bwMode="auto">
          <a:xfrm>
            <a:off x="5334000" y="6019801"/>
            <a:ext cx="419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>
                <a:latin typeface="Helvetica" panose="020B0604020202020204" pitchFamily="34" charset="0"/>
              </a:rPr>
              <a:t>Modulo value of the pattern</a:t>
            </a:r>
          </a:p>
        </p:txBody>
      </p:sp>
      <p:sp>
        <p:nvSpPr>
          <p:cNvPr id="36887" name="Line 23"/>
          <p:cNvSpPr>
            <a:spLocks noChangeShapeType="1"/>
          </p:cNvSpPr>
          <p:nvPr/>
        </p:nvSpPr>
        <p:spPr bwMode="auto">
          <a:xfrm flipH="1">
            <a:off x="4495800" y="6324600"/>
            <a:ext cx="609600" cy="0"/>
          </a:xfrm>
          <a:prstGeom prst="line">
            <a:avLst/>
          </a:prstGeom>
          <a:noFill/>
          <a:ln w="476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86" grpId="0" autoUpdateAnimBg="0"/>
      <p:bldP spid="3688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609600"/>
            <a:ext cx="8077200" cy="838200"/>
          </a:xfrm>
        </p:spPr>
        <p:txBody>
          <a:bodyPr/>
          <a:lstStyle/>
          <a:p>
            <a:r>
              <a:rPr lang="en-US" sz="4000">
                <a:cs typeface="Times New Roman" panose="02020603050405020304" pitchFamily="18" charset="0"/>
              </a:rPr>
              <a:t>The Rabin-Karp Algorithm(contd.)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000"/>
              <a:t>Let us assume that the input alphabet is {0,1,2,…,9},so that each character is a decimal digit.</a:t>
            </a:r>
          </a:p>
          <a:p>
            <a:r>
              <a:rPr lang="en-US" sz="2000"/>
              <a:t>We can then view a string of k consecutive characters as representing a length-k decimal number.</a:t>
            </a:r>
          </a:p>
          <a:p>
            <a:r>
              <a:rPr lang="en-US" sz="2000"/>
              <a:t>The character string 31425 thus corresponds to the decimal number 31,425.</a:t>
            </a:r>
          </a:p>
        </p:txBody>
      </p:sp>
      <p:sp>
        <p:nvSpPr>
          <p:cNvPr id="4915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5B8B364-2761-49AF-A613-9DA9AC6566CB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17</a:t>
            </a:fld>
            <a:endParaRPr lang="en-US" sz="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93"/>
          <p:cNvSpPr>
            <a:spLocks noGrp="1" noChangeArrowheads="1"/>
          </p:cNvSpPr>
          <p:nvPr>
            <p:ph type="title"/>
          </p:nvPr>
        </p:nvSpPr>
        <p:spPr>
          <a:xfrm>
            <a:off x="2209800" y="457200"/>
            <a:ext cx="7772400" cy="762000"/>
          </a:xfrm>
        </p:spPr>
        <p:txBody>
          <a:bodyPr/>
          <a:lstStyle/>
          <a:p>
            <a:r>
              <a:rPr lang="en-US">
                <a:cs typeface="Times New Roman" panose="02020603050405020304" pitchFamily="18" charset="0"/>
              </a:rPr>
              <a:t>The Rabin-Karp Algorithm </a:t>
            </a:r>
          </a:p>
        </p:txBody>
      </p:sp>
      <p:sp>
        <p:nvSpPr>
          <p:cNvPr id="5017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89DD82B-C6D1-4A05-8733-6C680B170D0C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18</a:t>
            </a:fld>
            <a:endParaRPr lang="en-US" sz="800">
              <a:latin typeface="Tahoma" panose="020B0604030504040204" pitchFamily="34" charset="0"/>
            </a:endParaRPr>
          </a:p>
        </p:txBody>
      </p:sp>
      <p:graphicFrame>
        <p:nvGraphicFramePr>
          <p:cNvPr id="31746" name="Group 2"/>
          <p:cNvGraphicFramePr>
            <a:graphicFrameLocks noGrp="1"/>
          </p:cNvGraphicFramePr>
          <p:nvPr/>
        </p:nvGraphicFramePr>
        <p:xfrm>
          <a:off x="1828800" y="1981200"/>
          <a:ext cx="8001000" cy="517880"/>
        </p:xfrm>
        <a:graphic>
          <a:graphicData uri="http://schemas.openxmlformats.org/drawingml/2006/table">
            <a:tbl>
              <a:tblPr/>
              <a:tblGrid>
                <a:gridCol w="4206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2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3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9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0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2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3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4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2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6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7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3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9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9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2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1840" name="Group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342238"/>
              </p:ext>
            </p:extLst>
          </p:nvPr>
        </p:nvGraphicFramePr>
        <p:xfrm>
          <a:off x="2743200" y="3886201"/>
          <a:ext cx="6629400" cy="944563"/>
        </p:xfrm>
        <a:graphic>
          <a:graphicData uri="http://schemas.openxmlformats.org/drawingml/2006/table">
            <a:tbl>
              <a:tblPr/>
              <a:tblGrid>
                <a:gridCol w="31529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52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9328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3058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729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9328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31529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9328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393284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3949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30581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28921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394943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393284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564204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</a:tblGrid>
              <a:tr h="944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8</a:t>
                      </a:r>
                    </a:p>
                  </a:txBody>
                  <a:tcPr marT="45678" marB="45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0256" name="AutoShape 78"/>
          <p:cNvSpPr>
            <a:spLocks/>
          </p:cNvSpPr>
          <p:nvPr/>
        </p:nvSpPr>
        <p:spPr bwMode="auto">
          <a:xfrm rot="5379930">
            <a:off x="2705100" y="1712913"/>
            <a:ext cx="304800" cy="2057400"/>
          </a:xfrm>
          <a:prstGeom prst="rightBrace">
            <a:avLst>
              <a:gd name="adj1" fmla="val 56250"/>
              <a:gd name="adj2" fmla="val 50000"/>
            </a:avLst>
          </a:prstGeom>
          <a:noFill/>
          <a:ln w="349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50257" name="Line 79"/>
          <p:cNvSpPr>
            <a:spLocks noChangeShapeType="1"/>
          </p:cNvSpPr>
          <p:nvPr/>
        </p:nvSpPr>
        <p:spPr bwMode="auto">
          <a:xfrm>
            <a:off x="2838450" y="2895600"/>
            <a:ext cx="0" cy="91440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609" name="AutoShape 80"/>
          <p:cNvSpPr>
            <a:spLocks/>
          </p:cNvSpPr>
          <p:nvPr/>
        </p:nvSpPr>
        <p:spPr bwMode="auto">
          <a:xfrm rot="5379930">
            <a:off x="3086100" y="1865313"/>
            <a:ext cx="457200" cy="2057400"/>
          </a:xfrm>
          <a:prstGeom prst="rightBrace">
            <a:avLst>
              <a:gd name="adj1" fmla="val 37500"/>
              <a:gd name="adj2" fmla="val 58491"/>
            </a:avLst>
          </a:prstGeom>
          <a:noFill/>
          <a:ln w="22225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22610" name="Line 81"/>
          <p:cNvSpPr>
            <a:spLocks noChangeShapeType="1"/>
          </p:cNvSpPr>
          <p:nvPr/>
        </p:nvSpPr>
        <p:spPr bwMode="auto">
          <a:xfrm>
            <a:off x="3162300" y="3200400"/>
            <a:ext cx="0" cy="609600"/>
          </a:xfrm>
          <a:prstGeom prst="line">
            <a:avLst/>
          </a:prstGeom>
          <a:noFill/>
          <a:ln w="34925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260" name="Text Box 82"/>
          <p:cNvSpPr txBox="1">
            <a:spLocks noChangeArrowheads="1"/>
          </p:cNvSpPr>
          <p:nvPr/>
        </p:nvSpPr>
        <p:spPr bwMode="auto">
          <a:xfrm>
            <a:off x="3581400" y="32004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• •</a:t>
            </a:r>
          </a:p>
        </p:txBody>
      </p:sp>
      <p:sp>
        <p:nvSpPr>
          <p:cNvPr id="50261" name="AutoShape 83"/>
          <p:cNvSpPr>
            <a:spLocks/>
          </p:cNvSpPr>
          <p:nvPr/>
        </p:nvSpPr>
        <p:spPr bwMode="auto">
          <a:xfrm rot="5379930">
            <a:off x="5219700" y="1714500"/>
            <a:ext cx="304800" cy="2057400"/>
          </a:xfrm>
          <a:prstGeom prst="rightBrace">
            <a:avLst>
              <a:gd name="adj1" fmla="val 56250"/>
              <a:gd name="adj2" fmla="val 52986"/>
            </a:avLst>
          </a:prstGeom>
          <a:noFill/>
          <a:ln w="349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50262" name="Line 84"/>
          <p:cNvSpPr>
            <a:spLocks noChangeShapeType="1"/>
          </p:cNvSpPr>
          <p:nvPr/>
        </p:nvSpPr>
        <p:spPr bwMode="auto">
          <a:xfrm>
            <a:off x="5334000" y="2895600"/>
            <a:ext cx="0" cy="91440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63" name="Text Box 85"/>
          <p:cNvSpPr txBox="1">
            <a:spLocks noChangeArrowheads="1"/>
          </p:cNvSpPr>
          <p:nvPr/>
        </p:nvSpPr>
        <p:spPr bwMode="auto">
          <a:xfrm>
            <a:off x="5715000" y="32004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• •</a:t>
            </a:r>
          </a:p>
        </p:txBody>
      </p:sp>
      <p:sp>
        <p:nvSpPr>
          <p:cNvPr id="50264" name="Text Box 86"/>
          <p:cNvSpPr txBox="1">
            <a:spLocks noChangeArrowheads="1"/>
          </p:cNvSpPr>
          <p:nvPr/>
        </p:nvSpPr>
        <p:spPr bwMode="auto">
          <a:xfrm>
            <a:off x="8686800" y="32004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• •</a:t>
            </a:r>
          </a:p>
        </p:txBody>
      </p:sp>
      <p:sp>
        <p:nvSpPr>
          <p:cNvPr id="50265" name="AutoShape 87"/>
          <p:cNvSpPr>
            <a:spLocks/>
          </p:cNvSpPr>
          <p:nvPr/>
        </p:nvSpPr>
        <p:spPr bwMode="auto">
          <a:xfrm rot="5379930">
            <a:off x="7962027" y="1714500"/>
            <a:ext cx="304800" cy="2057400"/>
          </a:xfrm>
          <a:prstGeom prst="rightBrace">
            <a:avLst>
              <a:gd name="adj1" fmla="val 56250"/>
              <a:gd name="adj2" fmla="val 52986"/>
            </a:avLst>
          </a:prstGeom>
          <a:noFill/>
          <a:ln w="349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50266" name="Line 88"/>
          <p:cNvSpPr>
            <a:spLocks noChangeShapeType="1"/>
          </p:cNvSpPr>
          <p:nvPr/>
        </p:nvSpPr>
        <p:spPr bwMode="auto">
          <a:xfrm>
            <a:off x="8077200" y="2895600"/>
            <a:ext cx="0" cy="91440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67" name="Text Box 89"/>
          <p:cNvSpPr txBox="1">
            <a:spLocks noChangeArrowheads="1"/>
          </p:cNvSpPr>
          <p:nvPr/>
        </p:nvSpPr>
        <p:spPr bwMode="auto">
          <a:xfrm>
            <a:off x="9372600" y="3124201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>
                <a:latin typeface="Times New Roman" panose="02020603050405020304" pitchFamily="18" charset="0"/>
              </a:rPr>
              <a:t>mod 13</a:t>
            </a:r>
          </a:p>
        </p:txBody>
      </p:sp>
      <p:sp>
        <p:nvSpPr>
          <p:cNvPr id="31834" name="Text Box 90"/>
          <p:cNvSpPr txBox="1">
            <a:spLocks noChangeArrowheads="1"/>
          </p:cNvSpPr>
          <p:nvPr/>
        </p:nvSpPr>
        <p:spPr bwMode="auto">
          <a:xfrm>
            <a:off x="4800600" y="4800600"/>
            <a:ext cx="1371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>
                <a:latin typeface="Times New Roman" panose="02020603050405020304" pitchFamily="18" charset="0"/>
              </a:rPr>
              <a:t>Valid match</a:t>
            </a:r>
          </a:p>
        </p:txBody>
      </p:sp>
      <p:sp>
        <p:nvSpPr>
          <p:cNvPr id="31835" name="Text Box 91"/>
          <p:cNvSpPr txBox="1">
            <a:spLocks noChangeArrowheads="1"/>
          </p:cNvSpPr>
          <p:nvPr/>
        </p:nvSpPr>
        <p:spPr bwMode="auto">
          <a:xfrm>
            <a:off x="7696200" y="4800600"/>
            <a:ext cx="1600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dirty="0">
                <a:latin typeface="Times New Roman" panose="02020603050405020304" pitchFamily="18" charset="0"/>
              </a:rPr>
              <a:t>Spurious hit</a:t>
            </a:r>
          </a:p>
        </p:txBody>
      </p:sp>
      <p:sp>
        <p:nvSpPr>
          <p:cNvPr id="31836" name="Text Box 92"/>
          <p:cNvSpPr txBox="1">
            <a:spLocks noChangeArrowheads="1"/>
          </p:cNvSpPr>
          <p:nvPr/>
        </p:nvSpPr>
        <p:spPr bwMode="auto">
          <a:xfrm>
            <a:off x="1905000" y="5867401"/>
            <a:ext cx="815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>
                <a:latin typeface="Helvetica" panose="020B0604020202020204" pitchFamily="34" charset="0"/>
              </a:rPr>
              <a:t>All the hits should be checked further.</a:t>
            </a:r>
          </a:p>
        </p:txBody>
      </p:sp>
      <p:sp>
        <p:nvSpPr>
          <p:cNvPr id="31838" name="Line 94"/>
          <p:cNvSpPr>
            <a:spLocks noChangeShapeType="1"/>
          </p:cNvSpPr>
          <p:nvPr/>
        </p:nvSpPr>
        <p:spPr bwMode="auto">
          <a:xfrm flipV="1">
            <a:off x="5334000" y="4419600"/>
            <a:ext cx="0" cy="457200"/>
          </a:xfrm>
          <a:prstGeom prst="line">
            <a:avLst/>
          </a:prstGeom>
          <a:noFill/>
          <a:ln w="476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9" name="Line 95"/>
          <p:cNvSpPr>
            <a:spLocks noChangeShapeType="1"/>
          </p:cNvSpPr>
          <p:nvPr/>
        </p:nvSpPr>
        <p:spPr bwMode="auto">
          <a:xfrm flipV="1">
            <a:off x="8153400" y="4419600"/>
            <a:ext cx="0" cy="457200"/>
          </a:xfrm>
          <a:prstGeom prst="line">
            <a:avLst/>
          </a:prstGeom>
          <a:noFill/>
          <a:ln w="476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1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34" grpId="0" autoUpdateAnimBg="0"/>
      <p:bldP spid="31835" grpId="0" autoUpdateAnimBg="0"/>
      <p:bldP spid="31836" grpId="0" autoUpdateAnimBg="0"/>
      <p:bldP spid="31838" grpId="0" animBg="1"/>
      <p:bldP spid="3183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222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007A4EC-813A-401D-B883-CE1DF9322B1C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19</a:t>
            </a:fld>
            <a:endParaRPr lang="en-US" sz="800">
              <a:latin typeface="Tahoma" panose="020B0604030504040204" pitchFamily="34" charset="0"/>
            </a:endParaRPr>
          </a:p>
        </p:txBody>
      </p:sp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588"/>
            <a:ext cx="7732713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4"/>
          <p:cNvSpPr>
            <a:spLocks noGrp="1" noChangeArrowheads="1"/>
          </p:cNvSpPr>
          <p:nvPr>
            <p:ph type="title"/>
          </p:nvPr>
        </p:nvSpPr>
        <p:spPr>
          <a:xfrm>
            <a:off x="2133600" y="609600"/>
            <a:ext cx="7772400" cy="6858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Analysis of Rabin-Karp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2133600"/>
            <a:ext cx="8458200" cy="3581400"/>
          </a:xfrm>
        </p:spPr>
        <p:txBody>
          <a:bodyPr/>
          <a:lstStyle/>
          <a:p>
            <a:r>
              <a:rPr lang="en-US" sz="2000" dirty="0"/>
              <a:t>Comparing only the modulo value does not guarantee that the exact pattern is found.</a:t>
            </a:r>
          </a:p>
          <a:p>
            <a:r>
              <a:rPr lang="en-US" sz="2000" dirty="0"/>
              <a:t>On the other hand, if modulo values are not matched, then we definitely know that it is not the pattern.</a:t>
            </a:r>
          </a:p>
          <a:p>
            <a:r>
              <a:rPr lang="en-US" sz="2000" dirty="0"/>
              <a:t>All the hits must be tested further to see if the hit is a valid shift or just a spurious hit.</a:t>
            </a:r>
          </a:p>
          <a:p>
            <a:r>
              <a:rPr lang="en-US" sz="2000" dirty="0"/>
              <a:t>This testing can be done by explicitly checking the condition                      </a:t>
            </a:r>
            <a:r>
              <a:rPr lang="en-US" sz="2000" i="1" dirty="0">
                <a:cs typeface="Times New Roman" panose="02020603050405020304" pitchFamily="18" charset="0"/>
              </a:rPr>
              <a:t>P</a:t>
            </a:r>
            <a:r>
              <a:rPr lang="en-US" sz="2000" dirty="0">
                <a:cs typeface="Times New Roman" panose="02020603050405020304" pitchFamily="18" charset="0"/>
              </a:rPr>
              <a:t>[1..</a:t>
            </a:r>
            <a:r>
              <a:rPr lang="en-US" sz="2000" i="1" dirty="0">
                <a:cs typeface="Times New Roman" panose="02020603050405020304" pitchFamily="18" charset="0"/>
              </a:rPr>
              <a:t>m</a:t>
            </a:r>
            <a:r>
              <a:rPr lang="en-US" sz="2000" dirty="0">
                <a:cs typeface="Times New Roman" panose="02020603050405020304" pitchFamily="18" charset="0"/>
              </a:rPr>
              <a:t>]</a:t>
            </a:r>
            <a:r>
              <a:rPr lang="en-US" sz="2000" dirty="0"/>
              <a:t> </a:t>
            </a:r>
            <a:r>
              <a:rPr lang="en-US" sz="2000" dirty="0">
                <a:cs typeface="Times New Roman" panose="02020603050405020304" pitchFamily="18" charset="0"/>
              </a:rPr>
              <a:t>=</a:t>
            </a:r>
            <a:r>
              <a:rPr lang="en-US" sz="2000" i="1" dirty="0">
                <a:cs typeface="Times New Roman" panose="02020603050405020304" pitchFamily="18" charset="0"/>
              </a:rPr>
              <a:t>T</a:t>
            </a:r>
            <a:r>
              <a:rPr lang="en-US" sz="2000" dirty="0">
                <a:cs typeface="Times New Roman" panose="02020603050405020304" pitchFamily="18" charset="0"/>
              </a:rPr>
              <a:t>[</a:t>
            </a:r>
            <a:r>
              <a:rPr lang="en-US" sz="2000" i="1" dirty="0">
                <a:cs typeface="Times New Roman" panose="02020603050405020304" pitchFamily="18" charset="0"/>
              </a:rPr>
              <a:t>s</a:t>
            </a:r>
            <a:r>
              <a:rPr lang="en-US" sz="2000" dirty="0">
                <a:cs typeface="Times New Roman" panose="02020603050405020304" pitchFamily="18" charset="0"/>
              </a:rPr>
              <a:t> +1.. </a:t>
            </a:r>
            <a:r>
              <a:rPr lang="en-US" sz="2000" i="1" dirty="0">
                <a:cs typeface="Times New Roman" panose="02020603050405020304" pitchFamily="18" charset="0"/>
              </a:rPr>
              <a:t>s</a:t>
            </a:r>
            <a:r>
              <a:rPr lang="en-US" sz="2000" dirty="0">
                <a:cs typeface="Times New Roman" panose="02020603050405020304" pitchFamily="18" charset="0"/>
              </a:rPr>
              <a:t> +</a:t>
            </a:r>
            <a:r>
              <a:rPr lang="en-US" sz="2000" i="1" dirty="0">
                <a:cs typeface="Times New Roman" panose="02020603050405020304" pitchFamily="18" charset="0"/>
              </a:rPr>
              <a:t>m</a:t>
            </a:r>
            <a:r>
              <a:rPr lang="en-US" sz="2000" dirty="0">
                <a:cs typeface="Times New Roman" panose="02020603050405020304" pitchFamily="18" charset="0"/>
              </a:rPr>
              <a:t>]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If </a:t>
            </a:r>
            <a:r>
              <a:rPr lang="en-US" sz="2000" i="1" dirty="0">
                <a:cs typeface="Times New Roman" panose="02020603050405020304" pitchFamily="18" charset="0"/>
              </a:rPr>
              <a:t>q</a:t>
            </a:r>
            <a:r>
              <a:rPr lang="en-US" sz="2000" dirty="0">
                <a:cs typeface="Times New Roman" panose="02020603050405020304" pitchFamily="18" charset="0"/>
              </a:rPr>
              <a:t> is large enough, then we can hope that spurious hits occur infrequently enough that the cost of the extra checking is low.</a:t>
            </a:r>
          </a:p>
        </p:txBody>
      </p:sp>
      <p:sp>
        <p:nvSpPr>
          <p:cNvPr id="5325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5A30D72-E526-497D-8746-10608BCF3F42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20</a:t>
            </a:fld>
            <a:endParaRPr lang="en-US" sz="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609600"/>
            <a:ext cx="7772400" cy="762000"/>
          </a:xfrm>
        </p:spPr>
        <p:txBody>
          <a:bodyPr/>
          <a:lstStyle/>
          <a:p>
            <a:r>
              <a:rPr lang="en-US" dirty="0"/>
              <a:t>Worst case &amp; Best case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2057400"/>
            <a:ext cx="8077200" cy="1143000"/>
          </a:xfrm>
        </p:spPr>
        <p:txBody>
          <a:bodyPr/>
          <a:lstStyle/>
          <a:p>
            <a:r>
              <a:rPr lang="en-US" sz="2000" dirty="0"/>
              <a:t>If all the hits are spurious hits then we have to check each of those.</a:t>
            </a:r>
          </a:p>
          <a:p>
            <a:r>
              <a:rPr lang="en-US" sz="2000" dirty="0"/>
              <a:t>Therefore the worst case occurs when all the hits are spurious hits </a:t>
            </a:r>
          </a:p>
        </p:txBody>
      </p:sp>
      <p:sp>
        <p:nvSpPr>
          <p:cNvPr id="5427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92CF31C-3FEA-452E-9E2A-1F8D0FFF2802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21</a:t>
            </a:fld>
            <a:endParaRPr lang="en-US" sz="800">
              <a:latin typeface="Tahoma" panose="020B0604030504040204" pitchFamily="34" charset="0"/>
            </a:endParaRP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2057400" y="3200400"/>
            <a:ext cx="81534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20000"/>
              </a:spcBef>
              <a:buFontTx/>
              <a:buChar char="•"/>
            </a:pPr>
            <a:r>
              <a:rPr lang="en-US" sz="2000">
                <a:latin typeface="Helvetica" panose="020B0604020202020204" pitchFamily="34" charset="0"/>
              </a:rPr>
              <a:t>If all the hits are neither spurious hits nor valid hits we don’t have to check each of those.</a:t>
            </a:r>
          </a:p>
          <a:p>
            <a:pPr lvl="1" eaLnBrk="1" hangingPunct="1">
              <a:spcBef>
                <a:spcPct val="20000"/>
              </a:spcBef>
              <a:buFontTx/>
              <a:buChar char="•"/>
            </a:pPr>
            <a:r>
              <a:rPr lang="en-US" sz="2000">
                <a:latin typeface="Helvetica" panose="020B0604020202020204" pitchFamily="34" charset="0"/>
              </a:rPr>
              <a:t>Therefore the best case occurs when no hits occurred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  <p:bldP spid="23556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7620000" cy="12954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>
                <a:cs typeface="Times New Roman" panose="02020603050405020304" pitchFamily="18" charset="0"/>
              </a:rPr>
              <a:t>String matching with finite automata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981200"/>
            <a:ext cx="7772400" cy="44958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000" dirty="0">
                <a:cs typeface="Times New Roman" panose="02020603050405020304" pitchFamily="18" charset="0"/>
              </a:rPr>
              <a:t>Many string-matching algorithms build a finite automaton that scans the text string </a:t>
            </a:r>
            <a:r>
              <a:rPr lang="en-US" sz="2000" i="1" dirty="0">
                <a:cs typeface="Times New Roman" panose="02020603050405020304" pitchFamily="18" charset="0"/>
              </a:rPr>
              <a:t>T </a:t>
            </a:r>
            <a:r>
              <a:rPr lang="en-US" sz="2000" dirty="0">
                <a:cs typeface="Times New Roman" panose="02020603050405020304" pitchFamily="18" charset="0"/>
              </a:rPr>
              <a:t>for all occurrences of the pattern </a:t>
            </a:r>
            <a:r>
              <a:rPr lang="en-US" sz="2000" i="1" dirty="0">
                <a:cs typeface="Times New Roman" panose="02020603050405020304" pitchFamily="18" charset="0"/>
              </a:rPr>
              <a:t>P. 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2000" i="1" dirty="0"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2000" dirty="0">
                <a:cs typeface="Times New Roman" panose="02020603050405020304" pitchFamily="18" charset="0"/>
              </a:rPr>
              <a:t>This section presents a method for building such an automaton. 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2000" dirty="0"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2000" dirty="0">
                <a:cs typeface="Times New Roman" panose="02020603050405020304" pitchFamily="18" charset="0"/>
              </a:rPr>
              <a:t>These string-matching automata are very efficient: they examine each text character </a:t>
            </a:r>
            <a:r>
              <a:rPr lang="en-US" sz="2000" i="1" dirty="0">
                <a:cs typeface="Times New Roman" panose="02020603050405020304" pitchFamily="18" charset="0"/>
              </a:rPr>
              <a:t>exactly once, </a:t>
            </a:r>
            <a:r>
              <a:rPr lang="en-US" sz="2000" dirty="0">
                <a:cs typeface="Times New Roman" panose="02020603050405020304" pitchFamily="18" charset="0"/>
              </a:rPr>
              <a:t>taking constant time per text character.</a:t>
            </a:r>
            <a:r>
              <a:rPr lang="en-US" sz="2000" dirty="0"/>
              <a:t> </a:t>
            </a:r>
          </a:p>
        </p:txBody>
      </p:sp>
      <p:sp>
        <p:nvSpPr>
          <p:cNvPr id="5530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48216EC-991D-4587-ACC3-EBA20A79B950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22</a:t>
            </a:fld>
            <a:endParaRPr lang="en-US" sz="800">
              <a:latin typeface="Tahoma" panose="020B0604030504040204" pitchFamily="34" charset="0"/>
            </a:endParaRPr>
          </a:p>
        </p:txBody>
      </p:sp>
      <p:pic>
        <p:nvPicPr>
          <p:cNvPr id="55301" name="Picture 4" descr="finite-state-minimization-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857"/>
          <a:stretch>
            <a:fillRect/>
          </a:stretch>
        </p:blipFill>
        <p:spPr bwMode="auto">
          <a:xfrm>
            <a:off x="6781800" y="4800600"/>
            <a:ext cx="2057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609600"/>
            <a:ext cx="7772400" cy="838200"/>
          </a:xfrm>
        </p:spPr>
        <p:txBody>
          <a:bodyPr/>
          <a:lstStyle/>
          <a:p>
            <a:r>
              <a:rPr lang="en-US">
                <a:cs typeface="Times New Roman" panose="02020603050405020304" pitchFamily="18" charset="0"/>
              </a:rPr>
              <a:t>Definition of a finite automaton</a:t>
            </a:r>
            <a:r>
              <a:rPr lang="en-US"/>
              <a:t> 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752600"/>
            <a:ext cx="7772400" cy="40386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sz="2000">
                <a:cs typeface="Times New Roman" panose="02020603050405020304" pitchFamily="18" charset="0"/>
              </a:rPr>
              <a:t>A</a:t>
            </a:r>
            <a:r>
              <a:rPr lang="en-US" sz="2000" b="1">
                <a:cs typeface="Times New Roman" panose="02020603050405020304" pitchFamily="18" charset="0"/>
              </a:rPr>
              <a:t> </a:t>
            </a:r>
            <a:r>
              <a:rPr lang="en-US" sz="2000" b="1" i="1">
                <a:cs typeface="Times New Roman" panose="02020603050405020304" pitchFamily="18" charset="0"/>
              </a:rPr>
              <a:t>finite automaton M</a:t>
            </a:r>
            <a:r>
              <a:rPr lang="en-US" sz="2000" i="1">
                <a:cs typeface="Times New Roman" panose="02020603050405020304" pitchFamily="18" charset="0"/>
              </a:rPr>
              <a:t> </a:t>
            </a:r>
            <a:r>
              <a:rPr lang="en-US" sz="2000">
                <a:cs typeface="Times New Roman" panose="02020603050405020304" pitchFamily="18" charset="0"/>
              </a:rPr>
              <a:t>is a 5-tuple </a:t>
            </a:r>
            <a:r>
              <a:rPr lang="en-US" sz="2000" b="1" i="1">
                <a:cs typeface="Times New Roman" panose="02020603050405020304" pitchFamily="18" charset="0"/>
              </a:rPr>
              <a:t>(Q, q</a:t>
            </a:r>
            <a:r>
              <a:rPr lang="en-US" sz="2000" b="1" i="1" baseline="-30000">
                <a:cs typeface="Times New Roman" panose="02020603050405020304" pitchFamily="18" charset="0"/>
              </a:rPr>
              <a:t>o</a:t>
            </a:r>
            <a:r>
              <a:rPr lang="en-US" sz="2000" b="1" i="1">
                <a:cs typeface="Times New Roman" panose="02020603050405020304" pitchFamily="18" charset="0"/>
              </a:rPr>
              <a:t>, A, </a:t>
            </a:r>
            <a:r>
              <a:rPr lang="en-US" sz="2000" b="1" i="1"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sz="2000" b="1" i="1">
                <a:cs typeface="Times New Roman" panose="02020603050405020304" pitchFamily="18" charset="0"/>
              </a:rPr>
              <a:t>, </a:t>
            </a:r>
            <a:r>
              <a:rPr lang="en-US" sz="2000" b="1" i="1"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sz="2000" b="1">
                <a:cs typeface="Times New Roman" panose="02020603050405020304" pitchFamily="18" charset="0"/>
              </a:rPr>
              <a:t>)</a:t>
            </a:r>
            <a:r>
              <a:rPr lang="en-US" sz="2000" b="1" i="1">
                <a:cs typeface="Times New Roman" panose="02020603050405020304" pitchFamily="18" charset="0"/>
              </a:rPr>
              <a:t>, </a:t>
            </a:r>
            <a:r>
              <a:rPr lang="en-US" sz="2000">
                <a:cs typeface="Times New Roman" panose="02020603050405020304" pitchFamily="18" charset="0"/>
              </a:rPr>
              <a:t>where </a:t>
            </a:r>
          </a:p>
          <a:p>
            <a:pPr algn="just"/>
            <a:r>
              <a:rPr lang="en-US" sz="2000" b="1" i="1"/>
              <a:t>Q</a:t>
            </a:r>
            <a:r>
              <a:rPr lang="en-US" sz="2000" i="1"/>
              <a:t> </a:t>
            </a:r>
            <a:r>
              <a:rPr lang="en-US" sz="2000"/>
              <a:t>is a finite set of </a:t>
            </a:r>
            <a:r>
              <a:rPr lang="en-US" sz="2000" b="1" i="1"/>
              <a:t>states</a:t>
            </a:r>
            <a:r>
              <a:rPr lang="en-US" sz="2000" i="1"/>
              <a:t>,</a:t>
            </a:r>
            <a:endParaRPr lang="en-US" sz="2000"/>
          </a:p>
          <a:p>
            <a:pPr algn="just"/>
            <a:r>
              <a:rPr lang="en-US" sz="2000" b="1" i="1"/>
              <a:t>q</a:t>
            </a:r>
            <a:r>
              <a:rPr lang="en-US" sz="2000" i="1"/>
              <a:t> </a:t>
            </a:r>
            <a:r>
              <a:rPr lang="en-US" sz="2000">
                <a:sym typeface="Symbol" panose="05050102010706020507" pitchFamily="18" charset="2"/>
              </a:rPr>
              <a:t></a:t>
            </a:r>
            <a:r>
              <a:rPr lang="en-US" sz="2000"/>
              <a:t> </a:t>
            </a:r>
            <a:r>
              <a:rPr lang="en-US" sz="2000" i="1"/>
              <a:t>Q </a:t>
            </a:r>
            <a:r>
              <a:rPr lang="en-US" sz="2000"/>
              <a:t>is the </a:t>
            </a:r>
            <a:r>
              <a:rPr lang="en-US" sz="2000" b="1" i="1"/>
              <a:t>start state</a:t>
            </a:r>
            <a:r>
              <a:rPr lang="en-US" sz="2000" i="1"/>
              <a:t>,</a:t>
            </a:r>
            <a:endParaRPr lang="en-US" sz="2000"/>
          </a:p>
          <a:p>
            <a:pPr algn="just"/>
            <a:r>
              <a:rPr lang="en-US" sz="2000" b="1" i="1"/>
              <a:t>A</a:t>
            </a:r>
            <a:r>
              <a:rPr lang="en-US" sz="2000" i="1"/>
              <a:t> </a:t>
            </a:r>
            <a:r>
              <a:rPr lang="en-US" sz="2000">
                <a:sym typeface="Symbol" panose="05050102010706020507" pitchFamily="18" charset="2"/>
              </a:rPr>
              <a:t></a:t>
            </a:r>
            <a:r>
              <a:rPr lang="en-US" sz="2000"/>
              <a:t> </a:t>
            </a:r>
            <a:r>
              <a:rPr lang="en-US" sz="2000" i="1"/>
              <a:t>Q </a:t>
            </a:r>
            <a:r>
              <a:rPr lang="en-US" sz="2000"/>
              <a:t>is a distinguished set of </a:t>
            </a:r>
            <a:r>
              <a:rPr lang="en-US" sz="2000" b="1" i="1"/>
              <a:t>accepting states</a:t>
            </a:r>
            <a:r>
              <a:rPr lang="en-US" sz="2000" i="1"/>
              <a:t>,</a:t>
            </a:r>
            <a:endParaRPr lang="en-US" sz="2000"/>
          </a:p>
          <a:p>
            <a:pPr algn="just"/>
            <a:r>
              <a:rPr lang="en-US" sz="2000" b="1">
                <a:sym typeface="Symbol" panose="05050102010706020507" pitchFamily="18" charset="2"/>
              </a:rPr>
              <a:t></a:t>
            </a:r>
            <a:r>
              <a:rPr lang="en-US" sz="2000"/>
              <a:t> is a finite </a:t>
            </a:r>
            <a:r>
              <a:rPr lang="en-US" sz="2000" b="1" i="1"/>
              <a:t>input alphabet,</a:t>
            </a:r>
            <a:endParaRPr lang="en-US" sz="2000"/>
          </a:p>
          <a:p>
            <a:pPr algn="just"/>
            <a:r>
              <a:rPr lang="en-US" sz="2000" b="1">
                <a:sym typeface="Symbol" panose="05050102010706020507" pitchFamily="18" charset="2"/>
              </a:rPr>
              <a:t></a:t>
            </a:r>
            <a:r>
              <a:rPr lang="en-US" sz="2000"/>
              <a:t> is a function from </a:t>
            </a:r>
            <a:r>
              <a:rPr lang="en-US" sz="2000" i="1"/>
              <a:t>Q </a:t>
            </a:r>
            <a:r>
              <a:rPr lang="en-US" sz="2000"/>
              <a:t>x </a:t>
            </a:r>
            <a:r>
              <a:rPr lang="en-US" sz="2000">
                <a:sym typeface="Symbol" panose="05050102010706020507" pitchFamily="18" charset="2"/>
              </a:rPr>
              <a:t></a:t>
            </a:r>
            <a:r>
              <a:rPr lang="en-US" sz="2000"/>
              <a:t> into </a:t>
            </a:r>
            <a:r>
              <a:rPr lang="en-US" sz="2000" i="1"/>
              <a:t>Q,, </a:t>
            </a:r>
            <a:r>
              <a:rPr lang="en-US" sz="2000"/>
              <a:t>called the </a:t>
            </a:r>
            <a:r>
              <a:rPr lang="en-US" sz="2000" b="1" i="1"/>
              <a:t>transition function</a:t>
            </a:r>
            <a:r>
              <a:rPr lang="en-US" sz="2000" i="1"/>
              <a:t> of M.</a:t>
            </a:r>
            <a:endParaRPr lang="en-US" sz="2000"/>
          </a:p>
        </p:txBody>
      </p:sp>
      <p:sp>
        <p:nvSpPr>
          <p:cNvPr id="5632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6B7F129-3DF7-4700-A0A6-46F561A940F6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23</a:t>
            </a:fld>
            <a:endParaRPr lang="en-US" sz="800">
              <a:latin typeface="Tahoma" panose="020B0604030504040204" pitchFamily="34" charset="0"/>
            </a:endParaRPr>
          </a:p>
        </p:txBody>
      </p:sp>
      <p:pic>
        <p:nvPicPr>
          <p:cNvPr id="25605" name="Picture 5" descr="ima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4267200"/>
            <a:ext cx="14478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4" name="Rectangle 91"/>
          <p:cNvSpPr>
            <a:spLocks noGrp="1" noChangeArrowheads="1"/>
          </p:cNvSpPr>
          <p:nvPr>
            <p:ph type="title"/>
          </p:nvPr>
        </p:nvSpPr>
        <p:spPr>
          <a:xfrm>
            <a:off x="2057400" y="609600"/>
            <a:ext cx="7772400" cy="5334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Example</a:t>
            </a:r>
          </a:p>
        </p:txBody>
      </p:sp>
      <p:sp>
        <p:nvSpPr>
          <p:cNvPr id="5734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D2C9836-2C00-473D-A402-3BACAA6E5A81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24</a:t>
            </a:fld>
            <a:endParaRPr lang="en-US" sz="800">
              <a:latin typeface="Tahoma" panose="020B0604030504040204" pitchFamily="34" charset="0"/>
            </a:endParaRPr>
          </a:p>
        </p:txBody>
      </p:sp>
      <p:grpSp>
        <p:nvGrpSpPr>
          <p:cNvPr id="26657" name="Group 33"/>
          <p:cNvGrpSpPr>
            <a:grpSpLocks/>
          </p:cNvGrpSpPr>
          <p:nvPr/>
        </p:nvGrpSpPr>
        <p:grpSpPr bwMode="auto">
          <a:xfrm>
            <a:off x="1905000" y="1524000"/>
            <a:ext cx="5486400" cy="2667000"/>
            <a:chOff x="672" y="1536"/>
            <a:chExt cx="3456" cy="1680"/>
          </a:xfrm>
        </p:grpSpPr>
        <p:sp>
          <p:nvSpPr>
            <p:cNvPr id="57368" name="Text Box 19"/>
            <p:cNvSpPr txBox="1">
              <a:spLocks noChangeArrowheads="1"/>
            </p:cNvSpPr>
            <p:nvPr/>
          </p:nvSpPr>
          <p:spPr bwMode="auto">
            <a:xfrm>
              <a:off x="672" y="2131"/>
              <a:ext cx="49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b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7369" name="Text Box 20"/>
            <p:cNvSpPr txBox="1">
              <a:spLocks noChangeArrowheads="1"/>
            </p:cNvSpPr>
            <p:nvPr/>
          </p:nvSpPr>
          <p:spPr bwMode="auto">
            <a:xfrm>
              <a:off x="2647" y="2429"/>
              <a:ext cx="494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b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7370" name="Oval 21"/>
            <p:cNvSpPr>
              <a:spLocks noChangeArrowheads="1"/>
            </p:cNvSpPr>
            <p:nvPr/>
          </p:nvSpPr>
          <p:spPr bwMode="auto">
            <a:xfrm>
              <a:off x="3634" y="1982"/>
              <a:ext cx="494" cy="447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7371" name="Oval 22"/>
            <p:cNvSpPr>
              <a:spLocks noChangeArrowheads="1"/>
            </p:cNvSpPr>
            <p:nvPr/>
          </p:nvSpPr>
          <p:spPr bwMode="auto">
            <a:xfrm>
              <a:off x="1495" y="1982"/>
              <a:ext cx="494" cy="447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7372" name="Freeform 23"/>
            <p:cNvSpPr>
              <a:spLocks/>
            </p:cNvSpPr>
            <p:nvPr/>
          </p:nvSpPr>
          <p:spPr bwMode="auto">
            <a:xfrm>
              <a:off x="1824" y="1825"/>
              <a:ext cx="1865" cy="207"/>
            </a:xfrm>
            <a:custGeom>
              <a:avLst/>
              <a:gdLst>
                <a:gd name="T0" fmla="*/ 0 w 2040"/>
                <a:gd name="T1" fmla="*/ 108 h 250"/>
                <a:gd name="T2" fmla="*/ 756 w 2040"/>
                <a:gd name="T3" fmla="*/ 6 h 250"/>
                <a:gd name="T4" fmla="*/ 1559 w 2040"/>
                <a:gd name="T5" fmla="*/ 142 h 2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40" h="250">
                  <a:moveTo>
                    <a:pt x="0" y="190"/>
                  </a:moveTo>
                  <a:cubicBezTo>
                    <a:pt x="330" y="100"/>
                    <a:pt x="650" y="0"/>
                    <a:pt x="990" y="10"/>
                  </a:cubicBezTo>
                  <a:cubicBezTo>
                    <a:pt x="1330" y="20"/>
                    <a:pt x="1821" y="200"/>
                    <a:pt x="2040" y="250"/>
                  </a:cubicBezTo>
                </a:path>
              </a:pathLst>
            </a:custGeom>
            <a:noFill/>
            <a:ln w="476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3" name="Freeform 24"/>
            <p:cNvSpPr>
              <a:spLocks/>
            </p:cNvSpPr>
            <p:nvPr/>
          </p:nvSpPr>
          <p:spPr bwMode="auto">
            <a:xfrm>
              <a:off x="1824" y="2429"/>
              <a:ext cx="2139" cy="297"/>
            </a:xfrm>
            <a:custGeom>
              <a:avLst/>
              <a:gdLst>
                <a:gd name="T0" fmla="*/ 1787 w 2340"/>
                <a:gd name="T1" fmla="*/ 0 h 360"/>
                <a:gd name="T2" fmla="*/ 825 w 2340"/>
                <a:gd name="T3" fmla="*/ 202 h 360"/>
                <a:gd name="T4" fmla="*/ 0 w 2340"/>
                <a:gd name="T5" fmla="*/ 0 h 3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40" h="360">
                  <a:moveTo>
                    <a:pt x="2340" y="0"/>
                  </a:moveTo>
                  <a:cubicBezTo>
                    <a:pt x="1905" y="180"/>
                    <a:pt x="1470" y="360"/>
                    <a:pt x="1080" y="360"/>
                  </a:cubicBezTo>
                  <a:cubicBezTo>
                    <a:pt x="690" y="360"/>
                    <a:pt x="345" y="180"/>
                    <a:pt x="0" y="0"/>
                  </a:cubicBezTo>
                </a:path>
              </a:pathLst>
            </a:custGeom>
            <a:noFill/>
            <a:ln w="476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4" name="Freeform 25"/>
            <p:cNvSpPr>
              <a:spLocks/>
            </p:cNvSpPr>
            <p:nvPr/>
          </p:nvSpPr>
          <p:spPr bwMode="auto">
            <a:xfrm>
              <a:off x="1659" y="2429"/>
              <a:ext cx="2304" cy="595"/>
            </a:xfrm>
            <a:custGeom>
              <a:avLst/>
              <a:gdLst>
                <a:gd name="T0" fmla="*/ 1926 w 2520"/>
                <a:gd name="T1" fmla="*/ 0 h 720"/>
                <a:gd name="T2" fmla="*/ 1101 w 2520"/>
                <a:gd name="T3" fmla="*/ 407 h 720"/>
                <a:gd name="T4" fmla="*/ 0 w 2520"/>
                <a:gd name="T5" fmla="*/ 0 h 7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20" h="720">
                  <a:moveTo>
                    <a:pt x="2520" y="0"/>
                  </a:moveTo>
                  <a:cubicBezTo>
                    <a:pt x="2190" y="360"/>
                    <a:pt x="1860" y="720"/>
                    <a:pt x="1440" y="720"/>
                  </a:cubicBezTo>
                  <a:cubicBezTo>
                    <a:pt x="1020" y="720"/>
                    <a:pt x="510" y="360"/>
                    <a:pt x="0" y="0"/>
                  </a:cubicBezTo>
                </a:path>
              </a:pathLst>
            </a:custGeom>
            <a:noFill/>
            <a:ln w="476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5" name="Freeform 26"/>
            <p:cNvSpPr>
              <a:spLocks/>
            </p:cNvSpPr>
            <p:nvPr/>
          </p:nvSpPr>
          <p:spPr bwMode="auto">
            <a:xfrm>
              <a:off x="908" y="1982"/>
              <a:ext cx="655" cy="639"/>
            </a:xfrm>
            <a:custGeom>
              <a:avLst/>
              <a:gdLst>
                <a:gd name="T0" fmla="*/ 489 w 717"/>
                <a:gd name="T1" fmla="*/ 102 h 772"/>
                <a:gd name="T2" fmla="*/ 216 w 717"/>
                <a:gd name="T3" fmla="*/ 0 h 772"/>
                <a:gd name="T4" fmla="*/ 78 w 717"/>
                <a:gd name="T5" fmla="*/ 102 h 772"/>
                <a:gd name="T6" fmla="*/ 78 w 717"/>
                <a:gd name="T7" fmla="*/ 408 h 772"/>
                <a:gd name="T8" fmla="*/ 546 w 717"/>
                <a:gd name="T9" fmla="*/ 281 h 7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17" h="772">
                  <a:moveTo>
                    <a:pt x="642" y="180"/>
                  </a:moveTo>
                  <a:cubicBezTo>
                    <a:pt x="507" y="90"/>
                    <a:pt x="372" y="0"/>
                    <a:pt x="282" y="0"/>
                  </a:cubicBezTo>
                  <a:cubicBezTo>
                    <a:pt x="192" y="0"/>
                    <a:pt x="132" y="60"/>
                    <a:pt x="102" y="180"/>
                  </a:cubicBezTo>
                  <a:cubicBezTo>
                    <a:pt x="72" y="300"/>
                    <a:pt x="0" y="668"/>
                    <a:pt x="102" y="720"/>
                  </a:cubicBezTo>
                  <a:cubicBezTo>
                    <a:pt x="204" y="772"/>
                    <a:pt x="589" y="542"/>
                    <a:pt x="717" y="495"/>
                  </a:cubicBezTo>
                </a:path>
              </a:pathLst>
            </a:custGeom>
            <a:noFill/>
            <a:ln w="476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6" name="Text Box 27"/>
            <p:cNvSpPr txBox="1">
              <a:spLocks noChangeArrowheads="1"/>
            </p:cNvSpPr>
            <p:nvPr/>
          </p:nvSpPr>
          <p:spPr bwMode="auto">
            <a:xfrm>
              <a:off x="2482" y="1536"/>
              <a:ext cx="49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b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7377" name="Text Box 28"/>
            <p:cNvSpPr txBox="1">
              <a:spLocks noChangeArrowheads="1"/>
            </p:cNvSpPr>
            <p:nvPr/>
          </p:nvSpPr>
          <p:spPr bwMode="auto">
            <a:xfrm>
              <a:off x="2592" y="3072"/>
              <a:ext cx="21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b="1">
                  <a:latin typeface="Times New Roman" panose="02020603050405020304" pitchFamily="18" charset="0"/>
                </a:rPr>
                <a:t>b</a:t>
              </a:r>
            </a:p>
          </p:txBody>
        </p:sp>
      </p:grpSp>
      <p:graphicFrame>
        <p:nvGraphicFramePr>
          <p:cNvPr id="26720" name="Group 96"/>
          <p:cNvGraphicFramePr>
            <a:graphicFrameLocks noGrp="1"/>
          </p:cNvGraphicFramePr>
          <p:nvPr/>
        </p:nvGraphicFramePr>
        <p:xfrm>
          <a:off x="7848600" y="2484438"/>
          <a:ext cx="2209800" cy="155437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state</a:t>
                      </a:r>
                    </a:p>
                  </a:txBody>
                  <a:tcPr marT="45703" marB="4570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a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b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0</a:t>
                      </a:r>
                    </a:p>
                  </a:txBody>
                  <a:tcPr marT="45703" marB="4570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0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1</a:t>
                      </a:r>
                    </a:p>
                  </a:txBody>
                  <a:tcPr marT="45703" marB="4570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0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</a:rPr>
                        <a:t>0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6682" name="Text Box 58"/>
          <p:cNvSpPr txBox="1">
            <a:spLocks noChangeArrowheads="1"/>
          </p:cNvSpPr>
          <p:nvPr/>
        </p:nvSpPr>
        <p:spPr bwMode="auto">
          <a:xfrm>
            <a:off x="8991600" y="2052638"/>
            <a:ext cx="1066800" cy="4619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dirty="0"/>
              <a:t>input</a:t>
            </a:r>
          </a:p>
        </p:txBody>
      </p:sp>
      <p:sp>
        <p:nvSpPr>
          <p:cNvPr id="26713" name="Rectangle 89"/>
          <p:cNvSpPr>
            <a:spLocks noChangeArrowheads="1"/>
          </p:cNvSpPr>
          <p:nvPr/>
        </p:nvSpPr>
        <p:spPr bwMode="auto">
          <a:xfrm>
            <a:off x="1676400" y="4267201"/>
            <a:ext cx="9144000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>
                <a:latin typeface="Helvetica" panose="020B0604020202020204" pitchFamily="34" charset="0"/>
                <a:cs typeface="Times New Roman" panose="02020603050405020304" pitchFamily="18" charset="0"/>
              </a:rPr>
              <a:t>A simple two-state finite automaton with state set </a:t>
            </a:r>
            <a:r>
              <a:rPr lang="en-US" sz="1800" b="1" i="1">
                <a:latin typeface="Helvetica" panose="020B0604020202020204" pitchFamily="34" charset="0"/>
                <a:cs typeface="Times New Roman" panose="02020603050405020304" pitchFamily="18" charset="0"/>
              </a:rPr>
              <a:t>Q</a:t>
            </a:r>
            <a:r>
              <a:rPr lang="en-US" sz="1800" i="1">
                <a:latin typeface="Helvetica" panose="020B0604020202020204" pitchFamily="34" charset="0"/>
                <a:cs typeface="Times New Roman" panose="02020603050405020304" pitchFamily="18" charset="0"/>
              </a:rPr>
              <a:t>= </a:t>
            </a:r>
            <a:r>
              <a:rPr lang="en-US" sz="1800">
                <a:latin typeface="Helvetica" panose="020B0604020202020204" pitchFamily="34" charset="0"/>
                <a:cs typeface="Times New Roman" panose="02020603050405020304" pitchFamily="18" charset="0"/>
              </a:rPr>
              <a:t>{0,1},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>
                <a:latin typeface="Helvetica" panose="020B0604020202020204" pitchFamily="34" charset="0"/>
                <a:cs typeface="Times New Roman" panose="02020603050405020304" pitchFamily="18" charset="0"/>
              </a:rPr>
              <a:t>start state </a:t>
            </a:r>
            <a:r>
              <a:rPr lang="en-US" sz="1800" b="1" i="1">
                <a:latin typeface="Helvetica" panose="020B0604020202020204" pitchFamily="34" charset="0"/>
                <a:cs typeface="Times New Roman" panose="02020603050405020304" pitchFamily="18" charset="0"/>
              </a:rPr>
              <a:t>q</a:t>
            </a:r>
            <a:r>
              <a:rPr lang="en-US" sz="1800" b="1" i="1" baseline="-30000">
                <a:latin typeface="Helvetica" panose="020B0604020202020204" pitchFamily="34" charset="0"/>
                <a:cs typeface="Times New Roman" panose="02020603050405020304" pitchFamily="18" charset="0"/>
              </a:rPr>
              <a:t>0</a:t>
            </a:r>
            <a:r>
              <a:rPr lang="en-US" sz="1800" i="1" baseline="-30000">
                <a:latin typeface="Helvetica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>
                <a:latin typeface="Helvetica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>
                <a:latin typeface="Helvetica" panose="020B0604020202020204" pitchFamily="34" charset="0"/>
                <a:cs typeface="Times New Roman" panose="02020603050405020304" pitchFamily="18" charset="0"/>
              </a:rPr>
              <a:t>= 0,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>
                <a:latin typeface="Helvetica" panose="020B0604020202020204" pitchFamily="34" charset="0"/>
                <a:cs typeface="Times New Roman" panose="02020603050405020304" pitchFamily="18" charset="0"/>
              </a:rPr>
              <a:t>Accepting state </a:t>
            </a:r>
            <a:r>
              <a:rPr lang="en-US" sz="1800" b="1" i="1">
                <a:latin typeface="Helvetica" panose="020B0604020202020204" pitchFamily="34" charset="0"/>
              </a:rPr>
              <a:t>A</a:t>
            </a:r>
            <a:r>
              <a:rPr lang="en-US" sz="1800">
                <a:latin typeface="Helvetica" panose="020B0604020202020204" pitchFamily="34" charset="0"/>
                <a:cs typeface="Times New Roman" panose="02020603050405020304" pitchFamily="18" charset="0"/>
              </a:rPr>
              <a:t> = 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>
                <a:latin typeface="Helvetica" panose="020B0604020202020204" pitchFamily="34" charset="0"/>
                <a:cs typeface="Times New Roman" panose="02020603050405020304" pitchFamily="18" charset="0"/>
              </a:rPr>
              <a:t>input alphabet </a:t>
            </a:r>
            <a:r>
              <a:rPr lang="en-US" sz="1800" b="1">
                <a:latin typeface="Helvetica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</a:t>
            </a:r>
            <a:r>
              <a:rPr lang="en-US" sz="1800">
                <a:latin typeface="Helvetica" panose="020B0604020202020204" pitchFamily="34" charset="0"/>
                <a:cs typeface="Times New Roman" panose="02020603050405020304" pitchFamily="18" charset="0"/>
              </a:rPr>
              <a:t> = {a,b}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>
                <a:latin typeface="Helvetica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A tabular representation of the transition function </a:t>
            </a:r>
            <a:r>
              <a:rPr lang="en-US" sz="1800" b="1">
                <a:latin typeface="Helvetica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sz="1800">
                <a:latin typeface="Helvetica" panose="020B0604020202020204" pitchFamily="34" charset="0"/>
              </a:rPr>
              <a:t> </a:t>
            </a:r>
          </a:p>
        </p:txBody>
      </p:sp>
      <p:sp>
        <p:nvSpPr>
          <p:cNvPr id="26719" name="Freeform 95"/>
          <p:cNvSpPr>
            <a:spLocks/>
          </p:cNvSpPr>
          <p:nvPr/>
        </p:nvSpPr>
        <p:spPr bwMode="auto">
          <a:xfrm>
            <a:off x="8077201" y="4114800"/>
            <a:ext cx="2724727" cy="1541462"/>
          </a:xfrm>
          <a:custGeom>
            <a:avLst/>
            <a:gdLst>
              <a:gd name="T0" fmla="*/ 0 w 944"/>
              <a:gd name="T1" fmla="*/ 2514600 h 1584"/>
              <a:gd name="T2" fmla="*/ 1371600 w 944"/>
              <a:gd name="T3" fmla="*/ 1676400 h 1584"/>
              <a:gd name="T4" fmla="*/ 762000 w 944"/>
              <a:gd name="T5" fmla="*/ 0 h 15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44" h="1584">
                <a:moveTo>
                  <a:pt x="0" y="1584"/>
                </a:moveTo>
                <a:cubicBezTo>
                  <a:pt x="392" y="1452"/>
                  <a:pt x="784" y="1320"/>
                  <a:pt x="864" y="1056"/>
                </a:cubicBezTo>
                <a:cubicBezTo>
                  <a:pt x="944" y="792"/>
                  <a:pt x="544" y="176"/>
                  <a:pt x="480" y="0"/>
                </a:cubicBezTo>
              </a:path>
            </a:pathLst>
          </a:custGeom>
          <a:noFill/>
          <a:ln w="47625">
            <a:solidFill>
              <a:schemeClr val="accent1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26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82" grpId="0" animBg="1" autoUpdateAnimBg="0"/>
      <p:bldP spid="2671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533400"/>
            <a:ext cx="7772400" cy="762000"/>
          </a:xfrm>
        </p:spPr>
        <p:txBody>
          <a:bodyPr/>
          <a:lstStyle/>
          <a:p>
            <a:r>
              <a:rPr lang="en-US" b="1">
                <a:cs typeface="Times New Roman" panose="02020603050405020304" pitchFamily="18" charset="0"/>
              </a:rPr>
              <a:t>Finite automata(contd.)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2590800"/>
            <a:ext cx="7772400" cy="3886200"/>
          </a:xfrm>
        </p:spPr>
        <p:txBody>
          <a:bodyPr/>
          <a:lstStyle/>
          <a:p>
            <a:r>
              <a:rPr lang="en-US" sz="2000" dirty="0">
                <a:cs typeface="Times New Roman" panose="02020603050405020304" pitchFamily="18" charset="0"/>
              </a:rPr>
              <a:t>Directed edges represent transitions.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For example, the edge from state 1 to state 0 labeled </a:t>
            </a:r>
            <a:r>
              <a:rPr lang="en-US" sz="2000" b="1" dirty="0">
                <a:cs typeface="Times New Roman" panose="02020603050405020304" pitchFamily="18" charset="0"/>
              </a:rPr>
              <a:t>b</a:t>
            </a:r>
            <a:r>
              <a:rPr lang="en-US" sz="2000" dirty="0">
                <a:cs typeface="Times New Roman" panose="02020603050405020304" pitchFamily="18" charset="0"/>
              </a:rPr>
              <a:t> indicates </a:t>
            </a:r>
            <a:r>
              <a:rPr 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sz="2000" dirty="0">
                <a:cs typeface="Times New Roman" panose="02020603050405020304" pitchFamily="18" charset="0"/>
              </a:rPr>
              <a:t> ( 1, b) = 0. 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This automaton accepts those strings that end in an odd number of </a:t>
            </a:r>
            <a:r>
              <a:rPr lang="en-US" sz="2000" b="1" i="1" dirty="0">
                <a:cs typeface="Times New Roman" panose="02020603050405020304" pitchFamily="18" charset="0"/>
              </a:rPr>
              <a:t>a</a:t>
            </a:r>
            <a:r>
              <a:rPr lang="en-US" sz="2000" dirty="0">
                <a:cs typeface="Times New Roman" panose="02020603050405020304" pitchFamily="18" charset="0"/>
              </a:rPr>
              <a:t>'s.</a:t>
            </a:r>
            <a:r>
              <a:rPr lang="en-US" sz="2000" dirty="0"/>
              <a:t> </a:t>
            </a:r>
          </a:p>
          <a:p>
            <a:pPr algn="just"/>
            <a:r>
              <a:rPr lang="en-US" sz="2000" dirty="0">
                <a:cs typeface="Times New Roman" panose="02020603050405020304" pitchFamily="18" charset="0"/>
              </a:rPr>
              <a:t>For example, the sequence of states this automaton enters for input </a:t>
            </a:r>
            <a:r>
              <a:rPr lang="en-US" sz="2000" b="1" dirty="0" err="1">
                <a:cs typeface="Times New Roman" panose="02020603050405020304" pitchFamily="18" charset="0"/>
              </a:rPr>
              <a:t>abaaa</a:t>
            </a:r>
            <a:r>
              <a:rPr lang="en-US" sz="2000" dirty="0">
                <a:cs typeface="Times New Roman" panose="02020603050405020304" pitchFamily="18" charset="0"/>
              </a:rPr>
              <a:t> (including the start state) is (0, 1, 0, 1, 0, 1) , and so it accepts this input. </a:t>
            </a:r>
          </a:p>
          <a:p>
            <a:pPr algn="just"/>
            <a:r>
              <a:rPr lang="en-US" sz="2000" dirty="0">
                <a:cs typeface="Times New Roman" panose="02020603050405020304" pitchFamily="18" charset="0"/>
              </a:rPr>
              <a:t>For input </a:t>
            </a:r>
            <a:r>
              <a:rPr lang="en-US" sz="2000" b="1" dirty="0" err="1">
                <a:cs typeface="Times New Roman" panose="02020603050405020304" pitchFamily="18" charset="0"/>
              </a:rPr>
              <a:t>abbaa</a:t>
            </a:r>
            <a:r>
              <a:rPr lang="en-US" sz="2000" dirty="0">
                <a:cs typeface="Times New Roman" panose="02020603050405020304" pitchFamily="18" charset="0"/>
              </a:rPr>
              <a:t>, the sequence of states is (0, 1,0,0, 1,0), and so it rejects this input.</a:t>
            </a:r>
          </a:p>
          <a:p>
            <a:endParaRPr lang="en-US" sz="2000" dirty="0"/>
          </a:p>
        </p:txBody>
      </p:sp>
      <p:sp>
        <p:nvSpPr>
          <p:cNvPr id="5837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D8F28BA-4566-4EA8-9442-FA4A9B3497E5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25</a:t>
            </a:fld>
            <a:endParaRPr lang="en-US" sz="800">
              <a:latin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11351"/>
            <a:ext cx="2786063" cy="155564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/>
              <a:t>Example. Accepts all strings ending in the string 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err="1" smtClean="0"/>
              <a:t>ababaca</a:t>
            </a:r>
            <a:r>
              <a:rPr lang="en-US" sz="3200" dirty="0"/>
              <a:t>. 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1800" i="1" dirty="0"/>
              <a:t>(a)</a:t>
            </a:r>
            <a:r>
              <a:rPr lang="en-US" sz="1800" dirty="0"/>
              <a:t> A state-transition diagram for the string-matching automaton that accepts all strings ending in the string </a:t>
            </a:r>
            <a:r>
              <a:rPr lang="en-US" sz="1800" dirty="0" err="1"/>
              <a:t>ababaca</a:t>
            </a:r>
            <a:r>
              <a:rPr lang="en-US" sz="1800" dirty="0"/>
              <a:t>. State 0 is the start state, and state 7 (shown blackened) is the only accepting state. A directed edge from state </a:t>
            </a:r>
            <a:r>
              <a:rPr lang="en-US" sz="1800" i="1" dirty="0" err="1"/>
              <a:t>i</a:t>
            </a:r>
            <a:r>
              <a:rPr lang="en-US" sz="1800" dirty="0"/>
              <a:t> to state </a:t>
            </a:r>
            <a:r>
              <a:rPr lang="en-US" sz="1800" i="1" dirty="0"/>
              <a:t>j</a:t>
            </a:r>
            <a:r>
              <a:rPr lang="en-US" sz="1800" dirty="0"/>
              <a:t> labeled </a:t>
            </a:r>
            <a:r>
              <a:rPr lang="en-US" sz="1800" i="1" dirty="0"/>
              <a:t>a</a:t>
            </a:r>
            <a:r>
              <a:rPr lang="en-US" sz="1800" dirty="0"/>
              <a:t> represents </a:t>
            </a:r>
            <a:r>
              <a:rPr lang="en-US" sz="1800" i="1" dirty="0"/>
              <a:t>δ</a:t>
            </a:r>
            <a:r>
              <a:rPr lang="en-US" sz="1800" dirty="0"/>
              <a:t>(</a:t>
            </a:r>
            <a:r>
              <a:rPr lang="en-US" sz="1800" i="1" dirty="0" err="1"/>
              <a:t>i</a:t>
            </a:r>
            <a:r>
              <a:rPr lang="en-US" sz="1800" i="1" dirty="0"/>
              <a:t>, a</a:t>
            </a:r>
            <a:r>
              <a:rPr lang="en-US" sz="1800" dirty="0"/>
              <a:t>) = </a:t>
            </a:r>
            <a:r>
              <a:rPr lang="en-US" sz="1800" i="1" dirty="0"/>
              <a:t>j</a:t>
            </a:r>
            <a:r>
              <a:rPr lang="en-US" sz="1800" dirty="0"/>
              <a:t>. The right-going edges forming the "spine" of the automaton, shown heavy in the figure, correspond to successful matches between pattern and input characters. The left-going edges correspond to failing matches. Some edges corresponding to failing matches are not shown; by convention, if a state </a:t>
            </a:r>
            <a:r>
              <a:rPr lang="en-US" sz="1800" i="1" dirty="0" err="1"/>
              <a:t>i</a:t>
            </a:r>
            <a:r>
              <a:rPr lang="en-US" sz="1800" dirty="0"/>
              <a:t> has no outgoing edge labeled </a:t>
            </a:r>
            <a:r>
              <a:rPr lang="en-US" sz="1800" i="1" dirty="0"/>
              <a:t>a</a:t>
            </a:r>
            <a:r>
              <a:rPr lang="en-US" sz="1800" dirty="0"/>
              <a:t> for some </a:t>
            </a:r>
            <a:r>
              <a:rPr lang="en-US" sz="1800" i="1" dirty="0"/>
              <a:t>a</a:t>
            </a:r>
            <a:r>
              <a:rPr lang="en-US" sz="1800" dirty="0"/>
              <a:t> ∈ Σ, then </a:t>
            </a:r>
            <a:r>
              <a:rPr lang="en-US" sz="1800" i="1" dirty="0"/>
              <a:t>δ</a:t>
            </a:r>
            <a:r>
              <a:rPr lang="en-US" sz="1800" dirty="0"/>
              <a:t>(</a:t>
            </a:r>
            <a:r>
              <a:rPr lang="en-US" sz="1800" i="1" dirty="0" err="1"/>
              <a:t>i</a:t>
            </a:r>
            <a:r>
              <a:rPr lang="en-US" sz="1800" i="1" dirty="0"/>
              <a:t>, a</a:t>
            </a:r>
            <a:r>
              <a:rPr lang="en-US" sz="1800" dirty="0"/>
              <a:t>) = 0. </a:t>
            </a:r>
          </a:p>
          <a:p>
            <a:pPr>
              <a:lnSpc>
                <a:spcPct val="80000"/>
              </a:lnSpc>
            </a:pPr>
            <a:r>
              <a:rPr lang="en-US" sz="1800" i="1" dirty="0"/>
              <a:t>(b)</a:t>
            </a:r>
            <a:r>
              <a:rPr lang="en-US" sz="1800" dirty="0"/>
              <a:t> The corresponding transition function </a:t>
            </a:r>
            <a:r>
              <a:rPr lang="en-US" sz="1800" i="1" dirty="0"/>
              <a:t>δ</a:t>
            </a:r>
            <a:r>
              <a:rPr lang="en-US" sz="1800" dirty="0"/>
              <a:t>, and the pattern string </a:t>
            </a:r>
            <a:r>
              <a:rPr lang="en-US" sz="1800" i="1" dirty="0"/>
              <a:t>P</a:t>
            </a:r>
            <a:r>
              <a:rPr lang="en-US" sz="1800" dirty="0"/>
              <a:t> = </a:t>
            </a:r>
            <a:r>
              <a:rPr lang="en-US" sz="1800" dirty="0" err="1"/>
              <a:t>ababaca</a:t>
            </a:r>
            <a:r>
              <a:rPr lang="en-US" sz="1800" dirty="0"/>
              <a:t>. The entries corresponding to successful matches between pattern and input characters are shown shaded. </a:t>
            </a:r>
          </a:p>
          <a:p>
            <a:pPr>
              <a:lnSpc>
                <a:spcPct val="80000"/>
              </a:lnSpc>
            </a:pPr>
            <a:r>
              <a:rPr lang="en-US" sz="1800" i="1" dirty="0"/>
              <a:t>(c)</a:t>
            </a:r>
            <a:r>
              <a:rPr lang="en-US" sz="1800" dirty="0"/>
              <a:t> The operation of the automaton on the text </a:t>
            </a:r>
            <a:r>
              <a:rPr lang="en-US" sz="1800" i="1" dirty="0"/>
              <a:t>T</a:t>
            </a:r>
            <a:r>
              <a:rPr lang="en-US" sz="1800" dirty="0"/>
              <a:t> = </a:t>
            </a:r>
            <a:r>
              <a:rPr lang="en-US" sz="1800" dirty="0" err="1"/>
              <a:t>abababacaba</a:t>
            </a:r>
            <a:r>
              <a:rPr lang="en-US" sz="1800" dirty="0"/>
              <a:t>. Under each text character </a:t>
            </a:r>
            <a:r>
              <a:rPr lang="en-US" sz="1800" i="1" dirty="0"/>
              <a:t>T</a:t>
            </a:r>
            <a:r>
              <a:rPr lang="en-US" sz="1800" dirty="0"/>
              <a:t> [</a:t>
            </a:r>
            <a:r>
              <a:rPr lang="en-US" sz="1800" i="1" dirty="0" err="1"/>
              <a:t>i</a:t>
            </a:r>
            <a:r>
              <a:rPr lang="en-US" sz="1800" dirty="0"/>
              <a:t>] is given the state </a:t>
            </a:r>
            <a:r>
              <a:rPr lang="en-US" sz="1800" i="1" dirty="0"/>
              <a:t>φ</a:t>
            </a:r>
            <a:r>
              <a:rPr lang="en-US" sz="1800" dirty="0"/>
              <a:t>(</a:t>
            </a:r>
            <a:r>
              <a:rPr lang="en-US" sz="1800" i="1" dirty="0"/>
              <a:t>Ti</a:t>
            </a:r>
            <a:r>
              <a:rPr lang="en-US" sz="1800" dirty="0"/>
              <a:t>) the automaton is in after processing the prefix </a:t>
            </a:r>
            <a:r>
              <a:rPr lang="en-US" sz="1800" i="1" dirty="0"/>
              <a:t>Ti</a:t>
            </a:r>
            <a:r>
              <a:rPr lang="en-US" sz="1800" dirty="0"/>
              <a:t>. One occurrence of the pattern is found, ending in position 9. </a:t>
            </a:r>
          </a:p>
        </p:txBody>
      </p:sp>
      <p:sp>
        <p:nvSpPr>
          <p:cNvPr id="5939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DA9609F-7398-4364-91BF-AC98F39A501A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26</a:t>
            </a:fld>
            <a:endParaRPr lang="en-US" sz="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9D1DA1A-A395-4CE8-9D6F-572F72FCF917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27</a:t>
            </a:fld>
            <a:endParaRPr lang="en-US" sz="800">
              <a:latin typeface="Tahoma" panose="020B0604030504040204" pitchFamily="34" charset="0"/>
            </a:endParaRPr>
          </a:p>
        </p:txBody>
      </p:sp>
      <p:pic>
        <p:nvPicPr>
          <p:cNvPr id="60419" name="Picture 1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838201"/>
            <a:ext cx="7151688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7772400" cy="838200"/>
          </a:xfrm>
        </p:spPr>
        <p:txBody>
          <a:bodyPr/>
          <a:lstStyle/>
          <a:p>
            <a:r>
              <a:rPr lang="en-US" b="1"/>
              <a:t>Summary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2133600"/>
            <a:ext cx="7772400" cy="2362200"/>
          </a:xfrm>
        </p:spPr>
        <p:txBody>
          <a:bodyPr/>
          <a:lstStyle/>
          <a:p>
            <a:r>
              <a:rPr lang="en-US" sz="2400"/>
              <a:t>String Matching</a:t>
            </a:r>
          </a:p>
          <a:p>
            <a:r>
              <a:rPr lang="en-US" sz="2400"/>
              <a:t>The naïve string matching algorithm</a:t>
            </a:r>
          </a:p>
          <a:p>
            <a:r>
              <a:rPr lang="en-US" sz="2400"/>
              <a:t>The Rabin-Karp Algorithm</a:t>
            </a:r>
          </a:p>
          <a:p>
            <a:r>
              <a:rPr lang="en-US" sz="2400"/>
              <a:t>Finite automata</a:t>
            </a:r>
          </a:p>
        </p:txBody>
      </p:sp>
      <p:sp>
        <p:nvSpPr>
          <p:cNvPr id="6144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0DCAF32-4782-4B81-B991-42B7E7055723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28</a:t>
            </a:fld>
            <a:endParaRPr lang="en-US" sz="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88ED978-1793-4645-B706-86B5D451987D}" vid="{EAE29390-8B5E-4EF4-A794-C1496CF16FC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" id="{401F985E-0293-41C8-8C9F-C12C54DD4161}" vid="{CD74E18F-C672-456A-83A3-0778133BEA75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0BC3DA50-FEEF-43B6-860E-C898C0E591E6}"/>
    </a:ext>
  </a:extLst>
</a:theme>
</file>

<file path=ppt/theme/theme5.xml><?xml version="1.0" encoding="utf-8"?>
<a:theme xmlns:a="http://schemas.openxmlformats.org/drawingml/2006/main" name="Presentation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55DFB19D-8CD7-374E-93C3-3427CC06C4CD}"/>
    </a:ext>
  </a:extLst>
</a:theme>
</file>

<file path=ppt/theme/theme6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812AAC09-44D3-5540-A76F-F76F8887BB39}"/>
    </a:ext>
  </a:extLst>
</a:theme>
</file>

<file path=ppt/theme/theme7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D494B3FE-53B0-E440-9A9B-ABF54A0C63FE}"/>
    </a:ext>
  </a:extLst>
</a:theme>
</file>

<file path=ppt/theme/theme8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ABB46C2A-DBBF-2F44-9DD8-9AA6E3D75EB1}"/>
    </a:ext>
  </a:extLst>
</a:theme>
</file>

<file path=ppt/theme/theme9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3B148348-D753-0A4F-BC14-61EDA13F40B8}"/>
    </a:ext>
  </a:extLst>
</a:theme>
</file>

<file path=ppt/theme/theme1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503644CC7B9D4680D6EE4CCCF2C992" ma:contentTypeVersion="13" ma:contentTypeDescription="Create a new document." ma:contentTypeScope="" ma:versionID="95ef87a509bdc92800ff280f96dbf963">
  <xsd:schema xmlns:xsd="http://www.w3.org/2001/XMLSchema" xmlns:xs="http://www.w3.org/2001/XMLSchema" xmlns:p="http://schemas.microsoft.com/office/2006/metadata/properties" xmlns:ns2="c1718f6a-3191-4b10-bab6-49a892608d4f" xmlns:ns3="f27f2145-870e-4375-be19-b1d2c8d61a99" targetNamespace="http://schemas.microsoft.com/office/2006/metadata/properties" ma:root="true" ma:fieldsID="a4ecfd0c422345b63dcc4cfcd9e8c470" ns2:_="" ns3:_="">
    <xsd:import namespace="c1718f6a-3191-4b10-bab6-49a892608d4f"/>
    <xsd:import namespace="f27f2145-870e-4375-be19-b1d2c8d61a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718f6a-3191-4b10-bab6-49a892608d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7f2145-870e-4375-be19-b1d2c8d61a9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d3b7e960-3d7b-437e-b317-07637589bdc5}" ma:internalName="TaxCatchAll" ma:showField="CatchAllData" ma:web="f27f2145-870e-4375-be19-b1d2c8d61a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718f6a-3191-4b10-bab6-49a892608d4f">
      <Terms xmlns="http://schemas.microsoft.com/office/infopath/2007/PartnerControls"/>
    </lcf76f155ced4ddcb4097134ff3c332f>
    <TaxCatchAll xmlns="f27f2145-870e-4375-be19-b1d2c8d61a99" xsi:nil="true"/>
  </documentManagement>
</p:properties>
</file>

<file path=customXml/itemProps1.xml><?xml version="1.0" encoding="utf-8"?>
<ds:datastoreItem xmlns:ds="http://schemas.openxmlformats.org/officeDocument/2006/customXml" ds:itemID="{A2B266A2-B839-4F72-ADAC-C0BD4B480858}"/>
</file>

<file path=customXml/itemProps2.xml><?xml version="1.0" encoding="utf-8"?>
<ds:datastoreItem xmlns:ds="http://schemas.openxmlformats.org/officeDocument/2006/customXml" ds:itemID="{522FC688-0E34-43D1-8567-177EF866D920}"/>
</file>

<file path=customXml/itemProps3.xml><?xml version="1.0" encoding="utf-8"?>
<ds:datastoreItem xmlns:ds="http://schemas.openxmlformats.org/officeDocument/2006/customXml" ds:itemID="{30BB5D4B-3952-47AE-BF1F-760597934030}"/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2763</TotalTime>
  <Words>1719</Words>
  <Application>Microsoft Office PowerPoint</Application>
  <PresentationFormat>Widescreen</PresentationFormat>
  <Paragraphs>465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28</vt:i4>
      </vt:variant>
    </vt:vector>
  </HeadingPairs>
  <TitlesOfParts>
    <vt:vector size="47" baseType="lpstr">
      <vt:lpstr>Arial</vt:lpstr>
      <vt:lpstr>Calibri</vt:lpstr>
      <vt:lpstr>Calibri Light</vt:lpstr>
      <vt:lpstr>Garamond</vt:lpstr>
      <vt:lpstr>Helvetica</vt:lpstr>
      <vt:lpstr>Palatino Linotype</vt:lpstr>
      <vt:lpstr>Symbol</vt:lpstr>
      <vt:lpstr>Tahoma</vt:lpstr>
      <vt:lpstr>Times New Roman</vt:lpstr>
      <vt:lpstr>Wingdings</vt:lpstr>
      <vt:lpstr>Theme1</vt:lpstr>
      <vt:lpstr>Custom Design</vt:lpstr>
      <vt:lpstr>lecture</vt:lpstr>
      <vt:lpstr>1_Custom Design</vt:lpstr>
      <vt:lpstr>Presentation3</vt:lpstr>
      <vt:lpstr>2_Custom Design</vt:lpstr>
      <vt:lpstr>3_Custom Design</vt:lpstr>
      <vt:lpstr>4_Custom Design</vt:lpstr>
      <vt:lpstr>5_Custom Design</vt:lpstr>
      <vt:lpstr>PowerPoint Presentation</vt:lpstr>
      <vt:lpstr>Contents</vt:lpstr>
      <vt:lpstr>String Matching</vt:lpstr>
      <vt:lpstr>PowerPoint Presentation</vt:lpstr>
      <vt:lpstr>Example</vt:lpstr>
      <vt:lpstr>String Matching problem</vt:lpstr>
      <vt:lpstr>String Matching problem(contd.)</vt:lpstr>
      <vt:lpstr>PowerPoint Presentation</vt:lpstr>
      <vt:lpstr>String Matching problem(contd.)</vt:lpstr>
      <vt:lpstr>The naive string-matching algorithm</vt:lpstr>
      <vt:lpstr>When does worst case happen?</vt:lpstr>
      <vt:lpstr>Worst case Analysis</vt:lpstr>
      <vt:lpstr>Best case analysis</vt:lpstr>
      <vt:lpstr>The Rabin-Karp Algorithm</vt:lpstr>
      <vt:lpstr>The Rabin-Karp Algorithm</vt:lpstr>
      <vt:lpstr>Method</vt:lpstr>
      <vt:lpstr>The Rabin-Karp Algorithm(contd.)</vt:lpstr>
      <vt:lpstr>The Rabin-Karp Algorithm </vt:lpstr>
      <vt:lpstr>PowerPoint Presentation</vt:lpstr>
      <vt:lpstr>Analysis of Rabin-Karp</vt:lpstr>
      <vt:lpstr>Worst case &amp; Best case</vt:lpstr>
      <vt:lpstr>String matching with finite automata</vt:lpstr>
      <vt:lpstr>Definition of a finite automaton </vt:lpstr>
      <vt:lpstr>Example</vt:lpstr>
      <vt:lpstr>Finite automata(contd.)</vt:lpstr>
      <vt:lpstr>Example. Accepts all strings ending in the string  ababaca. </vt:lpstr>
      <vt:lpstr>PowerPoint Presentation</vt:lpstr>
      <vt:lpstr>Summary</vt:lpstr>
    </vt:vector>
  </TitlesOfParts>
  <Company>SLIIT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 Searching Algorithms and Finite State Machines</dc:title>
  <dc:creator>batagoda</dc:creator>
  <cp:lastModifiedBy>Namalie Walgampaya</cp:lastModifiedBy>
  <cp:revision>94</cp:revision>
  <dcterms:created xsi:type="dcterms:W3CDTF">2002-08-04T08:51:31Z</dcterms:created>
  <dcterms:modified xsi:type="dcterms:W3CDTF">2022-10-16T16:46:55Z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0x01010013503644CC7B9D4680D6EE4CCCF2C992</vt:lpwstr>
  </property>
</Properties>
</file>