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703" r:id="rId3"/>
    <p:sldMasterId id="2147483717" r:id="rId4"/>
  </p:sldMasterIdLst>
  <p:notesMasterIdLst>
    <p:notesMasterId r:id="rId27"/>
  </p:notesMasterIdLst>
  <p:handoutMasterIdLst>
    <p:handoutMasterId r:id="rId28"/>
  </p:handoutMasterIdLst>
  <p:sldIdLst>
    <p:sldId id="293" r:id="rId5"/>
    <p:sldId id="260" r:id="rId6"/>
    <p:sldId id="261" r:id="rId7"/>
    <p:sldId id="263" r:id="rId8"/>
    <p:sldId id="264" r:id="rId9"/>
    <p:sldId id="265" r:id="rId10"/>
    <p:sldId id="267" r:id="rId11"/>
    <p:sldId id="286" r:id="rId12"/>
    <p:sldId id="268" r:id="rId13"/>
    <p:sldId id="269" r:id="rId14"/>
    <p:sldId id="272" r:id="rId15"/>
    <p:sldId id="273" r:id="rId16"/>
    <p:sldId id="274" r:id="rId17"/>
    <p:sldId id="276" r:id="rId18"/>
    <p:sldId id="277" r:id="rId19"/>
    <p:sldId id="278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242D66"/>
    <a:srgbClr val="F2F2F2"/>
    <a:srgbClr val="E87A23"/>
    <a:srgbClr val="ED7D31"/>
    <a:srgbClr val="FF33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8" autoAdjust="0"/>
    <p:restoredTop sz="94434" autoAdjust="0"/>
  </p:normalViewPr>
  <p:slideViewPr>
    <p:cSldViewPr>
      <p:cViewPr varScale="1">
        <p:scale>
          <a:sx n="76" d="100"/>
          <a:sy n="76" d="100"/>
        </p:scale>
        <p:origin x="798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20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718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C8AD6-EA24-4E2D-9486-ECD062062724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01983-CFC9-45C6-AE0C-6A741A3093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64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25425D0-3ECE-420E-9130-D13D915528F8}" type="datetimeFigureOut">
              <a:rPr lang="en-US" smtClean="0"/>
              <a:pPr/>
              <a:t>10/10/2022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D2F2318-E25A-4C0A-9D76-B30B703A94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FB2B112-A9C5-4C80-A4A5-914B4D05A5F3}" type="slidenum">
              <a:rPr lang="en-US"/>
              <a:pPr/>
              <a:t>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33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DE25-0E3B-014D-AB08-0AD4741190BF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385720"/>
            <a:ext cx="609600" cy="365125"/>
          </a:xfrm>
          <a:prstGeom prst="rect">
            <a:avLst/>
          </a:prstGeom>
        </p:spPr>
        <p:txBody>
          <a:bodyPr/>
          <a:lstStyle/>
          <a:p>
            <a:fld id="{82811DF7-A42A-4107-A9E6-6C3947535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DE25-0E3B-014D-AB08-0AD4741190BF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385720"/>
            <a:ext cx="609600" cy="365125"/>
          </a:xfrm>
          <a:prstGeom prst="rect">
            <a:avLst/>
          </a:prstGeom>
        </p:spPr>
        <p:txBody>
          <a:bodyPr/>
          <a:lstStyle/>
          <a:p>
            <a:fld id="{82811DF7-A42A-4107-A9E6-6C3947535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29E6-4FCB-2845-BF22-D83D87980FEA}" type="datetime1">
              <a:rPr lang="en-US" smtClean="0"/>
              <a:pPr/>
              <a:t>10/10/2022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28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03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93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6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4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49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10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5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88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856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475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601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5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25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51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91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560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906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54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698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88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85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pPr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48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EC29E6-4FCB-2845-BF22-D83D87980FEA}" type="datetime1">
              <a:rPr lang="en-US" smtClean="0"/>
              <a:pPr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1A71D3D-F011-47C0-9290-685F7D9F64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6393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=""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=""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=""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2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=""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10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sz="2700" dirty="0"/>
              <a:t>Lecture N</a:t>
            </a:r>
          </a:p>
          <a:p>
            <a:pPr lvl="0"/>
            <a:r>
              <a:rPr lang="en-GB" sz="2700" dirty="0"/>
              <a:t>Topic</a:t>
            </a:r>
          </a:p>
          <a:p>
            <a:pPr lvl="0"/>
            <a:r>
              <a:rPr lang="en-GB" sz="27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22166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556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652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042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261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445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125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541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321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241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00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028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pPr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</a:t>
            </a:r>
            <a:r>
              <a:rPr lang="en-US" sz="1600" b="1" baseline="0" dirty="0">
                <a:solidFill>
                  <a:schemeClr val="bg1"/>
                </a:solidFill>
              </a:rPr>
              <a:t> Structures and Algorithm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89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DF992-BBAE-4C66-81D1-4567276CD3DF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B05D-C163-41CF-96DA-99063196B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8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pPr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smtClean="0">
                <a:solidFill>
                  <a:srgbClr val="E87A23"/>
                </a:solidFill>
              </a:rPr>
              <a:t>SLIIT </a:t>
            </a:r>
            <a:r>
              <a:rPr lang="en-US" sz="1600" b="1" baseline="0" dirty="0" smtClean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Subject Name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</a:t>
            </a:r>
            <a:r>
              <a:rPr lang="en-US" sz="1600" b="1" baseline="0" dirty="0">
                <a:solidFill>
                  <a:schemeClr val="bg1"/>
                </a:solidFill>
              </a:rPr>
              <a:t> Structures and Algorithm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03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9F6CC-FCD5-4344-80DA-742BEEE0FBC1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4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685800" y="1737716"/>
            <a:ext cx="11053482" cy="815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 smtClean="0">
                <a:latin typeface="Garamond" panose="02020404030301010803" pitchFamily="18" charset="0"/>
              </a:rPr>
              <a:t>IT2070 – Data Structures and Algorithms</a:t>
            </a:r>
            <a:endParaRPr lang="en-US" sz="4800" b="1" dirty="0">
              <a:latin typeface="Garamond" panose="020204040303010108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2600" y="3105835"/>
            <a:ext cx="7391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Lecture 07</a:t>
            </a:r>
          </a:p>
          <a:p>
            <a:pPr algn="ctr"/>
            <a:r>
              <a:rPr lang="en-US" sz="2800" b="1" dirty="0">
                <a:latin typeface="Garamond" panose="02020404030301010803" pitchFamily="18" charset="0"/>
              </a:rPr>
              <a:t>Introduction to Divider and Conquer Method </a:t>
            </a:r>
            <a:endParaRPr lang="en-US" sz="28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23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457200"/>
            <a:ext cx="6875463" cy="1143000"/>
          </a:xfrm>
        </p:spPr>
        <p:txBody>
          <a:bodyPr/>
          <a:lstStyle/>
          <a:p>
            <a:pPr eaLnBrk="1" hangingPunct="1"/>
            <a:r>
              <a:rPr lang="en-US" sz="4800"/>
              <a:t>Today's Lecture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05000"/>
            <a:ext cx="7772400" cy="4114800"/>
          </a:xfrm>
        </p:spPr>
        <p:txBody>
          <a:bodyPr/>
          <a:lstStyle/>
          <a:p>
            <a:pPr marL="681038" indent="-681038"/>
            <a:r>
              <a:rPr lang="en-US" sz="2400" dirty="0"/>
              <a:t>Divide and Conquer </a:t>
            </a:r>
          </a:p>
          <a:p>
            <a:pPr marL="681038" indent="-681038"/>
            <a:r>
              <a:rPr lang="en-US" sz="2400" dirty="0"/>
              <a:t>Applications </a:t>
            </a:r>
          </a:p>
          <a:p>
            <a:pPr marL="0" indent="0">
              <a:buNone/>
            </a:pPr>
            <a:r>
              <a:rPr lang="en-US" sz="2400" dirty="0"/>
              <a:t>           -	Quick Sort</a:t>
            </a:r>
          </a:p>
          <a:p>
            <a:pPr marL="0" indent="0">
              <a:buNone/>
            </a:pPr>
            <a:r>
              <a:rPr lang="en-US" sz="2400" dirty="0"/>
              <a:t>           -	Merge Sort</a:t>
            </a:r>
          </a:p>
          <a:p>
            <a:r>
              <a:rPr lang="en-US" sz="2400" dirty="0"/>
              <a:t>       Analysis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B8D26DD-6DE3-475F-A24D-F6C8710CEE0E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6953250" cy="1143000"/>
          </a:xfrm>
        </p:spPr>
        <p:txBody>
          <a:bodyPr/>
          <a:lstStyle/>
          <a:p>
            <a:pPr eaLnBrk="1" hangingPunct="1"/>
            <a:r>
              <a:rPr lang="en-US" sz="4800"/>
              <a:t>Divide and Conquer</a:t>
            </a:r>
            <a:r>
              <a:rPr lang="en-US"/>
              <a:t>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1905000"/>
            <a:ext cx="7924800" cy="4114800"/>
          </a:xfrm>
        </p:spPr>
        <p:txBody>
          <a:bodyPr/>
          <a:lstStyle/>
          <a:p>
            <a:pPr marL="681038" indent="-681038">
              <a:buNone/>
            </a:pPr>
            <a:r>
              <a:rPr lang="en-US" sz="2400" dirty="0"/>
              <a:t>Divide: Break the problem into sub problem	recursively.</a:t>
            </a:r>
          </a:p>
          <a:p>
            <a:pPr marL="681038" indent="-681038">
              <a:buNone/>
            </a:pPr>
            <a:endParaRPr lang="en-US" sz="2400" dirty="0"/>
          </a:p>
          <a:p>
            <a:pPr marL="681038" indent="-681038">
              <a:buNone/>
            </a:pPr>
            <a:r>
              <a:rPr lang="en-US" sz="2400" dirty="0"/>
              <a:t>Conquer: Solve each sub problems.</a:t>
            </a:r>
          </a:p>
          <a:p>
            <a:pPr marL="681038" indent="-681038">
              <a:buNone/>
            </a:pPr>
            <a:endParaRPr lang="en-US" sz="2400" dirty="0"/>
          </a:p>
          <a:p>
            <a:pPr marL="681038" indent="-681038">
              <a:buNone/>
            </a:pPr>
            <a:r>
              <a:rPr lang="en-US" sz="2400" dirty="0"/>
              <a:t>Combine: All the solutions of sub problems  are combined to get the solution of the original problem.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0A62251-FF0A-4CAB-ABA4-DDADF3DEE939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105650" cy="1143000"/>
          </a:xfrm>
        </p:spPr>
        <p:txBody>
          <a:bodyPr/>
          <a:lstStyle/>
          <a:p>
            <a:pPr eaLnBrk="1" hangingPunct="1"/>
            <a:r>
              <a:rPr lang="en-US"/>
              <a:t>Applications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828800"/>
            <a:ext cx="7772400" cy="4114800"/>
          </a:xfrm>
        </p:spPr>
        <p:txBody>
          <a:bodyPr/>
          <a:lstStyle/>
          <a:p>
            <a:pPr marL="454025" indent="-454025"/>
            <a:r>
              <a:rPr lang="en-US" sz="2400" dirty="0"/>
              <a:t>Quick Sort </a:t>
            </a:r>
          </a:p>
          <a:p>
            <a:pPr marL="454025" indent="-454025">
              <a:buNone/>
            </a:pPr>
            <a:r>
              <a:rPr lang="en-US" sz="2400" dirty="0"/>
              <a:t>       	- More work on divide phase.</a:t>
            </a:r>
          </a:p>
          <a:p>
            <a:pPr marL="454025" indent="-454025">
              <a:buNone/>
            </a:pPr>
            <a:r>
              <a:rPr lang="en-US" sz="2400" dirty="0"/>
              <a:t>       	- Less work for others.</a:t>
            </a:r>
          </a:p>
          <a:p>
            <a:pPr marL="454025" indent="-454025"/>
            <a:r>
              <a:rPr lang="en-US" sz="2400" dirty="0"/>
              <a:t>Merge Sort</a:t>
            </a:r>
          </a:p>
          <a:p>
            <a:pPr marL="454025" indent="-454025">
              <a:buNone/>
            </a:pPr>
            <a:r>
              <a:rPr lang="en-US" sz="2400" dirty="0"/>
              <a:t>       	- Vice versa of Quick sort.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0CDA69-D202-4914-A443-64CAF0B13D27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105650" cy="1143000"/>
          </a:xfrm>
        </p:spPr>
        <p:txBody>
          <a:bodyPr/>
          <a:lstStyle/>
          <a:p>
            <a:pPr eaLnBrk="1" hangingPunct="1"/>
            <a:r>
              <a:rPr lang="en-US"/>
              <a:t>Quick Sort (contd.)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7BF00E1-00E8-4D52-B5F3-9BAECC0FBF6E}" type="slidenum">
              <a:rPr lang="en-US"/>
              <a:pPr/>
              <a:t>5</a:t>
            </a:fld>
            <a:endParaRPr lang="en-US"/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3375026" y="1905000"/>
            <a:ext cx="729297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Helvetica" pitchFamily="34" charset="0"/>
              </a:rPr>
              <a:t>Partition (rearrange) the array A[</a:t>
            </a:r>
            <a:r>
              <a:rPr lang="en-US" sz="2000" dirty="0" err="1">
                <a:latin typeface="Helvetica" pitchFamily="34" charset="0"/>
              </a:rPr>
              <a:t>p..r</a:t>
            </a:r>
            <a:r>
              <a:rPr lang="en-US" sz="2000" dirty="0">
                <a:latin typeface="Helvetica" pitchFamily="34" charset="0"/>
              </a:rPr>
              <a:t>] into two (possibly empty) sub arrays A[</a:t>
            </a:r>
            <a:r>
              <a:rPr lang="en-US" sz="2000" dirty="0" err="1">
                <a:latin typeface="Helvetica" pitchFamily="34" charset="0"/>
              </a:rPr>
              <a:t>p..q</a:t>
            </a:r>
            <a:r>
              <a:rPr lang="en-US" sz="2000" dirty="0">
                <a:latin typeface="Helvetica" pitchFamily="34" charset="0"/>
              </a:rPr>
              <a:t> - 1] and A[q + 1..r] 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Helvetica" pitchFamily="34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34" charset="0"/>
              </a:rPr>
              <a:t>Each element of A[</a:t>
            </a:r>
            <a:r>
              <a:rPr lang="en-US" sz="2000" dirty="0" err="1">
                <a:latin typeface="Helvetica" pitchFamily="34" charset="0"/>
              </a:rPr>
              <a:t>p..q</a:t>
            </a:r>
            <a:r>
              <a:rPr lang="en-US" sz="2000" dirty="0">
                <a:latin typeface="Helvetica" pitchFamily="34" charset="0"/>
              </a:rPr>
              <a:t> - 1] is less than or equal to A[q]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34" charset="0"/>
              </a:rPr>
              <a:t>Each element of A[q + 1..r]is greater than or equal to A[q].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34" charset="0"/>
              </a:rPr>
              <a:t>Compute the index q as part of this partitioning procedure. 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1905000" y="19050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dirty="0">
                <a:latin typeface="Helvetica" pitchFamily="34" charset="0"/>
              </a:rPr>
              <a:t>Divide:</a:t>
            </a: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1905000" y="5257800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dirty="0">
                <a:latin typeface="Helvetica" pitchFamily="34" charset="0"/>
              </a:rPr>
              <a:t>Combine:</a:t>
            </a: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1905001" y="4419600"/>
            <a:ext cx="1470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dirty="0">
                <a:latin typeface="Helvetica" pitchFamily="34" charset="0"/>
              </a:rPr>
              <a:t>Conquer: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3505200" y="4403726"/>
            <a:ext cx="6781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 dirty="0">
                <a:latin typeface="Helvetica" pitchFamily="34" charset="0"/>
              </a:rPr>
              <a:t>Sort the two </a:t>
            </a:r>
            <a:r>
              <a:rPr lang="en-US" sz="2000" dirty="0" err="1">
                <a:latin typeface="Helvetica" pitchFamily="34" charset="0"/>
              </a:rPr>
              <a:t>subarrays</a:t>
            </a:r>
            <a:r>
              <a:rPr lang="en-US" sz="2000" dirty="0">
                <a:latin typeface="Helvetica" pitchFamily="34" charset="0"/>
              </a:rPr>
              <a:t> A[</a:t>
            </a:r>
            <a:r>
              <a:rPr lang="en-US" sz="2000" dirty="0" err="1">
                <a:latin typeface="Helvetica" pitchFamily="34" charset="0"/>
              </a:rPr>
              <a:t>p..q</a:t>
            </a:r>
            <a:r>
              <a:rPr lang="en-US" sz="2000" dirty="0">
                <a:latin typeface="Helvetica" pitchFamily="34" charset="0"/>
              </a:rPr>
              <a:t> -1] and A[q +1..r] by recursive calls to quicksort. 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3505200" y="5318125"/>
            <a:ext cx="7086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 dirty="0">
                <a:latin typeface="Helvetica" pitchFamily="34" charset="0"/>
              </a:rPr>
              <a:t>Since the sub arrays are sorted in place, no work is needed to combine them: the entire array A[</a:t>
            </a:r>
            <a:r>
              <a:rPr lang="en-US" sz="2000" dirty="0" err="1">
                <a:latin typeface="Helvetica" pitchFamily="34" charset="0"/>
              </a:rPr>
              <a:t>p..r</a:t>
            </a:r>
            <a:r>
              <a:rPr lang="en-US" sz="2000" dirty="0">
                <a:latin typeface="Helvetica" pitchFamily="34" charset="0"/>
              </a:rPr>
              <a:t>] is now sorted.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/>
      <p:bldP spid="30729" grpId="0"/>
      <p:bldP spid="30730" grpId="0"/>
      <p:bldP spid="307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533400"/>
            <a:ext cx="5867400" cy="1143000"/>
          </a:xfrm>
        </p:spPr>
        <p:txBody>
          <a:bodyPr/>
          <a:lstStyle/>
          <a:p>
            <a:pPr eaLnBrk="1" hangingPunct="1"/>
            <a:r>
              <a:rPr lang="en-US"/>
              <a:t>Quick Sort procedure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F15B57C-985D-4B5C-A7B5-B2F6119EB164}" type="slidenum">
              <a:rPr lang="en-US"/>
              <a:pPr/>
              <a:t>6</a:t>
            </a:fld>
            <a:endParaRPr lang="en-US"/>
          </a:p>
        </p:txBody>
      </p:sp>
      <p:sp>
        <p:nvSpPr>
          <p:cNvPr id="11270" name="Text Box 5"/>
          <p:cNvSpPr txBox="1">
            <a:spLocks noChangeArrowheads="1"/>
          </p:cNvSpPr>
          <p:nvPr/>
        </p:nvSpPr>
        <p:spPr bwMode="auto">
          <a:xfrm>
            <a:off x="2133600" y="2681816"/>
            <a:ext cx="7924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b="1" dirty="0">
                <a:solidFill>
                  <a:srgbClr val="2619CB"/>
                </a:solidFill>
              </a:rPr>
              <a:t>QUICKSORT</a:t>
            </a:r>
            <a:r>
              <a:rPr lang="en-US" sz="2400" dirty="0">
                <a:solidFill>
                  <a:srgbClr val="2619CB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dirty="0" err="1"/>
              <a:t>A,p,r</a:t>
            </a:r>
            <a:r>
              <a:rPr lang="en-US" sz="2400" dirty="0"/>
              <a:t>)</a:t>
            </a:r>
          </a:p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dirty="0">
                <a:latin typeface="Helvetica" pitchFamily="34" charset="0"/>
              </a:rPr>
              <a:t> </a:t>
            </a:r>
            <a:r>
              <a:rPr lang="en-US" sz="2400" dirty="0"/>
              <a:t>1 </a:t>
            </a:r>
            <a:r>
              <a:rPr lang="en-US" sz="2400" b="1" dirty="0"/>
              <a:t>if</a:t>
            </a:r>
            <a:r>
              <a:rPr lang="en-US" sz="2400" dirty="0"/>
              <a:t> p &lt; r</a:t>
            </a:r>
          </a:p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dirty="0"/>
              <a:t> 2     q = </a:t>
            </a:r>
            <a:r>
              <a:rPr lang="en-US" sz="2400" b="1" dirty="0">
                <a:solidFill>
                  <a:srgbClr val="AE0808"/>
                </a:solidFill>
              </a:rPr>
              <a:t>PARTITION</a:t>
            </a:r>
            <a:r>
              <a:rPr lang="en-US" sz="2400" dirty="0">
                <a:solidFill>
                  <a:srgbClr val="AE0808"/>
                </a:solidFill>
              </a:rPr>
              <a:t>(</a:t>
            </a:r>
            <a:r>
              <a:rPr lang="en-US" sz="2400" dirty="0"/>
              <a:t>A, p, r)</a:t>
            </a:r>
          </a:p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dirty="0"/>
              <a:t> 3     </a:t>
            </a:r>
            <a:r>
              <a:rPr lang="en-US" sz="2400" b="1" dirty="0">
                <a:solidFill>
                  <a:srgbClr val="2619CB"/>
                </a:solidFill>
              </a:rPr>
              <a:t>QUICKSORT</a:t>
            </a:r>
            <a:r>
              <a:rPr lang="en-US" sz="2400" dirty="0"/>
              <a:t> (A, p, q-1)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 dirty="0"/>
              <a:t> 4     </a:t>
            </a:r>
            <a:r>
              <a:rPr lang="en-US" sz="2400" b="1" dirty="0">
                <a:solidFill>
                  <a:srgbClr val="2619CB"/>
                </a:solidFill>
              </a:rPr>
              <a:t>QUICKSORT</a:t>
            </a:r>
            <a:r>
              <a:rPr lang="en-US" sz="2400" dirty="0"/>
              <a:t> (A, q+1, r)</a:t>
            </a:r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1752600" y="1828801"/>
            <a:ext cx="7467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sz="1600" b="1" dirty="0">
                <a:latin typeface="Helvetica" pitchFamily="34" charset="0"/>
              </a:rPr>
              <a:t>Input: Unsorted Array (</a:t>
            </a:r>
            <a:r>
              <a:rPr lang="en-US" sz="1600" b="1" dirty="0" err="1">
                <a:latin typeface="Helvetica" pitchFamily="34" charset="0"/>
              </a:rPr>
              <a:t>A,p,r</a:t>
            </a:r>
            <a:r>
              <a:rPr lang="en-US" sz="1600" b="1" dirty="0">
                <a:latin typeface="Helvetica" pitchFamily="34" charset="0"/>
              </a:rPr>
              <a:t>)</a:t>
            </a:r>
          </a:p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sz="1600" b="1" dirty="0">
                <a:latin typeface="Helvetica" pitchFamily="34" charset="0"/>
              </a:rPr>
              <a:t>Output: Sorted sub array A(1..r)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sz="1600" b="1" dirty="0">
              <a:latin typeface="Helvetica" pitchFamily="34" charset="0"/>
            </a:endParaRPr>
          </a:p>
        </p:txBody>
      </p:sp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1752600" y="5486400"/>
            <a:ext cx="86868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sz="2000" dirty="0">
                <a:latin typeface="Helvetica" pitchFamily="34" charset="0"/>
              </a:rPr>
              <a:t>To sort an entire array A, the initial call is </a:t>
            </a:r>
          </a:p>
          <a:p>
            <a:pPr marL="342900" indent="-342900">
              <a:spcBef>
                <a:spcPct val="50000"/>
              </a:spcBef>
            </a:pPr>
            <a:r>
              <a:rPr lang="en-US" sz="2000" dirty="0">
                <a:latin typeface="Helvetica" pitchFamily="34" charset="0"/>
              </a:rPr>
              <a:t>                QUICKSORT(A, 1, </a:t>
            </a:r>
            <a:r>
              <a:rPr lang="en-US" sz="2000" dirty="0" err="1">
                <a:latin typeface="Helvetica" pitchFamily="34" charset="0"/>
              </a:rPr>
              <a:t>A.length</a:t>
            </a:r>
            <a:r>
              <a:rPr lang="en-US" sz="2000" dirty="0">
                <a:latin typeface="Helvetica" pitchFamily="34" charset="0"/>
              </a:rPr>
              <a:t>).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33400"/>
            <a:ext cx="7793038" cy="762000"/>
          </a:xfrm>
        </p:spPr>
        <p:txBody>
          <a:bodyPr/>
          <a:lstStyle/>
          <a:p>
            <a:pPr eaLnBrk="1" hangingPunct="1"/>
            <a:r>
              <a:rPr lang="en-US" sz="4000" dirty="0"/>
              <a:t>Partition Algorithm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7526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/>
              <a:t>PARTITION(</a:t>
            </a:r>
            <a:r>
              <a:rPr lang="en-US" sz="2400" b="1" i="1" dirty="0"/>
              <a:t>A</a:t>
            </a:r>
            <a:r>
              <a:rPr lang="en-US" sz="2400" b="1" dirty="0"/>
              <a:t>, </a:t>
            </a:r>
            <a:r>
              <a:rPr lang="en-US" sz="2400" b="1" i="1" dirty="0"/>
              <a:t>p</a:t>
            </a:r>
            <a:r>
              <a:rPr lang="en-US" sz="2400" b="1" dirty="0"/>
              <a:t>, </a:t>
            </a:r>
            <a:r>
              <a:rPr lang="en-US" sz="2400" b="1" i="1" dirty="0"/>
              <a:t>r</a:t>
            </a:r>
            <a:r>
              <a:rPr lang="en-US" sz="2400" b="1" dirty="0"/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b="1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1     </a:t>
            </a:r>
            <a:r>
              <a:rPr lang="en-US" sz="2400" i="1" dirty="0"/>
              <a:t>x</a:t>
            </a:r>
            <a:r>
              <a:rPr lang="en-US" sz="2400" dirty="0"/>
              <a:t> =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r</a:t>
            </a:r>
            <a:r>
              <a:rPr lang="en-US" sz="2400" dirty="0"/>
              <a:t>]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2     </a:t>
            </a:r>
            <a:r>
              <a:rPr lang="en-US" sz="2400" i="1" dirty="0" err="1"/>
              <a:t>i</a:t>
            </a:r>
            <a:r>
              <a:rPr lang="en-US" sz="2400" dirty="0"/>
              <a:t> = </a:t>
            </a:r>
            <a:r>
              <a:rPr lang="en-US" sz="2400" i="1" dirty="0"/>
              <a:t>p</a:t>
            </a:r>
            <a:r>
              <a:rPr lang="en-US" sz="2400" dirty="0"/>
              <a:t> - 1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3     </a:t>
            </a:r>
            <a:r>
              <a:rPr lang="en-US" sz="2400" b="1" dirty="0"/>
              <a:t>for</a:t>
            </a:r>
            <a:r>
              <a:rPr lang="en-US" sz="2400" dirty="0"/>
              <a:t> </a:t>
            </a:r>
            <a:r>
              <a:rPr lang="en-US" sz="2400" i="1" dirty="0"/>
              <a:t>j</a:t>
            </a:r>
            <a:r>
              <a:rPr lang="en-US" sz="2400" dirty="0"/>
              <a:t> =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en-US" sz="2400" b="1" dirty="0"/>
              <a:t>to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en-US" sz="2400" dirty="0"/>
              <a:t> - 1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4            </a:t>
            </a:r>
            <a:r>
              <a:rPr lang="en-US" sz="2400" b="1" dirty="0"/>
              <a:t>if</a:t>
            </a:r>
            <a:r>
              <a:rPr lang="en-US" sz="2400" dirty="0"/>
              <a:t>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j</a:t>
            </a:r>
            <a:r>
              <a:rPr lang="en-US" sz="2400" dirty="0"/>
              <a:t>] ≤ </a:t>
            </a:r>
            <a:r>
              <a:rPr lang="en-US" sz="2400" i="1" dirty="0"/>
              <a:t>x</a:t>
            </a:r>
            <a:r>
              <a:rPr lang="en-US" sz="24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5                    </a:t>
            </a:r>
            <a:r>
              <a:rPr lang="en-US" sz="2400" i="1" dirty="0" err="1"/>
              <a:t>i</a:t>
            </a:r>
            <a:r>
              <a:rPr lang="en-US" sz="2400" dirty="0"/>
              <a:t> = </a:t>
            </a:r>
            <a:r>
              <a:rPr lang="en-US" sz="2400" i="1" dirty="0" err="1"/>
              <a:t>i</a:t>
            </a:r>
            <a:r>
              <a:rPr lang="en-US" sz="2400" dirty="0"/>
              <a:t> + 1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6                    exchange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 err="1"/>
              <a:t>i</a:t>
            </a:r>
            <a:r>
              <a:rPr lang="en-US" sz="2400" dirty="0"/>
              <a:t>] with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j</a:t>
            </a:r>
            <a:r>
              <a:rPr lang="en-US" sz="2400" dirty="0"/>
              <a:t>]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7       exchange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 err="1"/>
              <a:t>i</a:t>
            </a:r>
            <a:r>
              <a:rPr lang="en-US" sz="2400" dirty="0"/>
              <a:t> + 1] with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r</a:t>
            </a:r>
            <a:r>
              <a:rPr lang="en-US" sz="2400" dirty="0"/>
              <a:t>]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8       </a:t>
            </a:r>
            <a:r>
              <a:rPr lang="en-US" sz="2400" b="1" dirty="0"/>
              <a:t>return</a:t>
            </a:r>
            <a:r>
              <a:rPr lang="en-US" sz="2400" dirty="0"/>
              <a:t> </a:t>
            </a:r>
            <a:r>
              <a:rPr lang="en-US" sz="2400" i="1" dirty="0" err="1"/>
              <a:t>i</a:t>
            </a:r>
            <a:r>
              <a:rPr lang="en-US" sz="2400" dirty="0"/>
              <a:t> + 1 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343F6CF-22F5-4615-9260-6A9E671FFFDF}" type="slidenum">
              <a:rPr lang="en-US"/>
              <a:pPr/>
              <a:t>7</a:t>
            </a:fld>
            <a:endParaRPr lang="en-US"/>
          </a:p>
        </p:txBody>
      </p:sp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2209800" y="5943600"/>
            <a:ext cx="8305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>
                <a:latin typeface="Helvetica" pitchFamily="34" charset="0"/>
                <a:cs typeface="Courier New" pitchFamily="49" charset="0"/>
              </a:rPr>
              <a:t>The key to the algorithm is the PARTITION procedure, which rearranges the sub array A [p..r] in place.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Sri Lanka Institute of Information Technology.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C065A2B-50A0-4429-8529-856B58E2737F}" type="slidenum">
              <a:rPr lang="en-US"/>
              <a:pPr/>
              <a:t>8</a:t>
            </a:fld>
            <a:endParaRPr lang="en-US"/>
          </a:p>
        </p:txBody>
      </p:sp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7501" y="609600"/>
            <a:ext cx="2832100" cy="581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4343400" y="1766005"/>
            <a:ext cx="6324600" cy="403187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AutoNum type="alphaLcParenBoth"/>
            </a:pPr>
            <a:r>
              <a:rPr lang="en-US" sz="1600" b="1" dirty="0">
                <a:latin typeface="Helvetica" pitchFamily="34" charset="0"/>
              </a:rPr>
              <a:t>The initial array </a:t>
            </a:r>
          </a:p>
          <a:p>
            <a:pPr marL="342900" indent="-342900">
              <a:spcBef>
                <a:spcPct val="50000"/>
              </a:spcBef>
              <a:buAutoNum type="alphaLcParenBoth"/>
            </a:pPr>
            <a:r>
              <a:rPr lang="en-US" sz="1600" b="1" dirty="0">
                <a:latin typeface="Helvetica" pitchFamily="34" charset="0"/>
              </a:rPr>
              <a:t>The value 2 is "swapped with itself" and put in the partition of smaller values. </a:t>
            </a:r>
          </a:p>
          <a:p>
            <a:pPr>
              <a:spcBef>
                <a:spcPct val="50000"/>
              </a:spcBef>
            </a:pPr>
            <a:r>
              <a:rPr lang="en-US" sz="1600" b="1" dirty="0">
                <a:latin typeface="Helvetica" pitchFamily="34" charset="0"/>
              </a:rPr>
              <a:t>(c)-(d) The values 8 and 7 are added to the partition of larger values.</a:t>
            </a:r>
          </a:p>
          <a:p>
            <a:pPr>
              <a:spcBef>
                <a:spcPct val="50000"/>
              </a:spcBef>
            </a:pPr>
            <a:r>
              <a:rPr lang="en-US" sz="1600" b="1" dirty="0">
                <a:latin typeface="Helvetica" pitchFamily="34" charset="0"/>
              </a:rPr>
              <a:t>(e) The values 1 and 8 are swapped, and the smaller partition Grows. </a:t>
            </a:r>
          </a:p>
          <a:p>
            <a:pPr>
              <a:spcBef>
                <a:spcPct val="50000"/>
              </a:spcBef>
            </a:pPr>
            <a:r>
              <a:rPr lang="en-US" sz="1600" b="1" dirty="0">
                <a:latin typeface="Helvetica" pitchFamily="34" charset="0"/>
              </a:rPr>
              <a:t>(f) The values 3 and 7 are swapped, and the smaller partition grows. </a:t>
            </a:r>
          </a:p>
          <a:p>
            <a:pPr>
              <a:spcBef>
                <a:spcPct val="50000"/>
              </a:spcBef>
            </a:pPr>
            <a:r>
              <a:rPr lang="en-US" sz="1600" b="1" dirty="0">
                <a:latin typeface="Helvetica" pitchFamily="34" charset="0"/>
              </a:rPr>
              <a:t>(g)-(h) The larger partition grows to include 5 and 6 and the loop terminates.</a:t>
            </a:r>
          </a:p>
          <a:p>
            <a:pPr>
              <a:spcBef>
                <a:spcPct val="50000"/>
              </a:spcBef>
            </a:pPr>
            <a:r>
              <a:rPr lang="en-US" sz="1600" b="1" dirty="0">
                <a:latin typeface="Helvetica" pitchFamily="34" charset="0"/>
              </a:rPr>
              <a:t>(</a:t>
            </a:r>
            <a:r>
              <a:rPr lang="en-US" sz="1600" b="1" dirty="0" err="1">
                <a:latin typeface="Helvetica" pitchFamily="34" charset="0"/>
              </a:rPr>
              <a:t>i</a:t>
            </a:r>
            <a:r>
              <a:rPr lang="en-US" sz="1600" b="1" dirty="0">
                <a:latin typeface="Helvetica" pitchFamily="34" charset="0"/>
              </a:rPr>
              <a:t>) Pivot element is swapped so that it lies between the two partitions. </a:t>
            </a:r>
          </a:p>
        </p:txBody>
      </p:sp>
      <p:sp>
        <p:nvSpPr>
          <p:cNvPr id="2" name="Rectangle 1"/>
          <p:cNvSpPr/>
          <p:nvPr/>
        </p:nvSpPr>
        <p:spPr>
          <a:xfrm>
            <a:off x="3581400" y="240268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b="1" dirty="0">
                <a:latin typeface="Helvetica" pitchFamily="34" charset="0"/>
              </a:rPr>
              <a:t>Operation of PARTITION on an 8-element array.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648201" y="838200"/>
            <a:ext cx="3684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b="1" dirty="0"/>
              <a:t>Element x = A[r] is the pivot element</a:t>
            </a:r>
          </a:p>
        </p:txBody>
      </p:sp>
      <p:cxnSp>
        <p:nvCxnSpPr>
          <p:cNvPr id="6" name="Straight Arrow Connector 5"/>
          <p:cNvCxnSpPr>
            <a:stCxn id="4" idx="1"/>
          </p:cNvCxnSpPr>
          <p:nvPr/>
        </p:nvCxnSpPr>
        <p:spPr>
          <a:xfrm flipH="1" flipV="1">
            <a:off x="3886200" y="990600"/>
            <a:ext cx="762000" cy="32266"/>
          </a:xfrm>
          <a:prstGeom prst="straightConnector1">
            <a:avLst/>
          </a:prstGeom>
          <a:ln w="31750">
            <a:solidFill>
              <a:srgbClr val="FF0000"/>
            </a:solidFill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3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C065A2B-50A0-4429-8529-856B58E2737F}" type="slidenum">
              <a:rPr lang="en-US"/>
              <a:pPr/>
              <a:t>9</a:t>
            </a:fld>
            <a:endParaRPr lang="en-US"/>
          </a:p>
        </p:txBody>
      </p:sp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52950" y="676066"/>
            <a:ext cx="3009552" cy="4290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3581400" y="240268"/>
            <a:ext cx="556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b="1" dirty="0">
                <a:latin typeface="Helvetica" pitchFamily="34" charset="0"/>
              </a:rPr>
              <a:t>Operation of PARTITION on an 8-element array. 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8400" y="5242135"/>
            <a:ext cx="36193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</a:rPr>
              <a:t>first partition with values &lt;=  pivot 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1581" y="5438870"/>
            <a:ext cx="37877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second partition with values &gt; pivot 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90912" y="5859761"/>
            <a:ext cx="2352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US" b="1" dirty="0"/>
              <a:t>white element - pivot. </a:t>
            </a:r>
          </a:p>
        </p:txBody>
      </p:sp>
      <p:sp>
        <p:nvSpPr>
          <p:cNvPr id="11" name="Left Brace 10"/>
          <p:cNvSpPr/>
          <p:nvPr/>
        </p:nvSpPr>
        <p:spPr>
          <a:xfrm rot="16200000">
            <a:off x="5342135" y="4802362"/>
            <a:ext cx="257912" cy="640221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/>
          <p:cNvSpPr/>
          <p:nvPr/>
        </p:nvSpPr>
        <p:spPr>
          <a:xfrm rot="16200000">
            <a:off x="6444886" y="4692284"/>
            <a:ext cx="262211" cy="868823"/>
          </a:xfrm>
          <a:prstGeom prst="lef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958216" y="4966919"/>
            <a:ext cx="1043" cy="8928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609600"/>
            <a:ext cx="710565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/>
              <a:t>Analysis of Quick sort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752600"/>
            <a:ext cx="8915400" cy="1668940"/>
          </a:xfrm>
        </p:spPr>
        <p:txBody>
          <a:bodyPr/>
          <a:lstStyle/>
          <a:p>
            <a:pPr marL="566738" indent="-566738">
              <a:lnSpc>
                <a:spcPct val="80000"/>
              </a:lnSpc>
              <a:buNone/>
            </a:pPr>
            <a:r>
              <a:rPr lang="en-US" sz="2000" dirty="0"/>
              <a:t>The running time of quick sort depends on the partitioning of the sub arrays:</a:t>
            </a:r>
          </a:p>
          <a:p>
            <a:pPr marL="566738" indent="-566738">
              <a:lnSpc>
                <a:spcPct val="80000"/>
              </a:lnSpc>
              <a:buNone/>
            </a:pPr>
            <a:r>
              <a:rPr lang="en-US" sz="2000" b="1" dirty="0"/>
              <a:t> </a:t>
            </a:r>
            <a:r>
              <a:rPr lang="en-US" sz="2400" b="1" dirty="0"/>
              <a:t>(a) Worst case partitioning (Unbalanced partitioning)</a:t>
            </a:r>
            <a:endParaRPr lang="en-US" sz="2400" i="1" dirty="0">
              <a:solidFill>
                <a:schemeClr val="tx2"/>
              </a:solidFill>
              <a:cs typeface="Times New Roman" pitchFamily="18" charset="0"/>
            </a:endParaRP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E11F0AF-8BB1-4953-AB56-F17E3B34FDA6}" type="slidenum">
              <a:rPr lang="en-US"/>
              <a:pPr/>
              <a:t>10</a:t>
            </a:fld>
            <a:endParaRPr lang="en-US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2774950" y="3627438"/>
            <a:ext cx="7131050" cy="36933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n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679826" y="4176712"/>
            <a:ext cx="6226175" cy="36933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n-1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774950" y="4202668"/>
            <a:ext cx="806450" cy="36933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4495801" y="4802188"/>
            <a:ext cx="5410200" cy="37941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n-2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3575573" y="4802188"/>
            <a:ext cx="767828" cy="369908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5486401" y="5334000"/>
            <a:ext cx="4419600" cy="3810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n-3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4549776" y="5334000"/>
            <a:ext cx="784225" cy="381000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6400800" y="5867400"/>
            <a:ext cx="3505200" cy="36933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n-4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5486401" y="5867400"/>
            <a:ext cx="762000" cy="369332"/>
          </a:xfrm>
          <a:prstGeom prst="rect">
            <a:avLst/>
          </a:prstGeom>
          <a:solidFill>
            <a:srgbClr val="80808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1" y="2609570"/>
            <a:ext cx="8038577" cy="89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Worst case occurs when the sub arrays are completely unbalanced. i.e. 0 elements in one sub array and </a:t>
            </a:r>
            <a:r>
              <a:rPr lang="en-US" sz="2000" i="1" dirty="0"/>
              <a:t>n </a:t>
            </a:r>
            <a:r>
              <a:rPr lang="en-US" sz="2000" dirty="0"/>
              <a:t>− 1 elements in the other sub array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  <p:bldP spid="33796" grpId="0" animBg="1" autoUpdateAnimBg="0"/>
      <p:bldP spid="33797" grpId="0" animBg="1" autoUpdateAnimBg="0"/>
      <p:bldP spid="33798" grpId="0" animBg="1" autoUpdateAnimBg="0"/>
      <p:bldP spid="33799" grpId="0" animBg="1" autoUpdateAnimBg="0"/>
      <p:bldP spid="33801" grpId="0" animBg="1" autoUpdateAnimBg="0"/>
      <p:bldP spid="33802" grpId="0" animBg="1" autoUpdateAnimBg="0"/>
      <p:bldP spid="33804" grpId="0" animBg="1" autoUpdateAnimBg="0"/>
      <p:bldP spid="33805" grpId="0" animBg="1" autoUpdateAnimBg="0"/>
      <p:bldP spid="33807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33400"/>
            <a:ext cx="82296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/>
              <a:t>Analysis of Quick sort</a:t>
            </a:r>
            <a:endParaRPr lang="en-US" sz="2400" dirty="0"/>
          </a:p>
        </p:txBody>
      </p:sp>
      <p:sp>
        <p:nvSpPr>
          <p:cNvPr id="18438" name="Rectangle 3"/>
          <p:cNvSpPr>
            <a:spLocks noGrp="1" noChangeArrowheads="1"/>
          </p:cNvSpPr>
          <p:nvPr>
            <p:ph idx="1"/>
          </p:nvPr>
        </p:nvSpPr>
        <p:spPr>
          <a:xfrm>
            <a:off x="2156891" y="2971801"/>
            <a:ext cx="7749109" cy="38099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cs typeface="Times New Roman" pitchFamily="18" charset="0"/>
              </a:rPr>
              <a:t>Therefore </a:t>
            </a:r>
            <a:r>
              <a:rPr lang="en-US" sz="2000" b="1" dirty="0">
                <a:solidFill>
                  <a:srgbClr val="FF0000"/>
                </a:solidFill>
                <a:cs typeface="Times New Roman" pitchFamily="18" charset="0"/>
              </a:rPr>
              <a:t>Recurrence</a:t>
            </a:r>
            <a:r>
              <a:rPr lang="en-US" sz="2000" dirty="0">
                <a:cs typeface="Times New Roman" pitchFamily="18" charset="0"/>
              </a:rPr>
              <a:t> Equation is</a:t>
            </a:r>
          </a:p>
          <a:p>
            <a:pPr>
              <a:buNone/>
            </a:pPr>
            <a:r>
              <a:rPr lang="en-US" sz="2000" dirty="0">
                <a:cs typeface="Times New Roman" pitchFamily="18" charset="0"/>
              </a:rPr>
              <a:t>      T(n) = T(n-1) +T(0)+ 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</a:rPr>
              <a:t>(n)</a:t>
            </a:r>
            <a:endParaRPr lang="en-US" sz="2000" i="1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cs typeface="Times New Roman" pitchFamily="18" charset="0"/>
              </a:rPr>
              <a:t>               =         T(n-1)        +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</a:rPr>
              <a:t>(n)</a:t>
            </a:r>
            <a:r>
              <a:rPr lang="en-US" sz="2000" i="1" dirty="0"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000" i="1" dirty="0">
                <a:cs typeface="Times New Roman" pitchFamily="18" charset="0"/>
              </a:rPr>
              <a:t>               </a:t>
            </a:r>
          </a:p>
          <a:p>
            <a:pPr>
              <a:buNone/>
            </a:pPr>
            <a:r>
              <a:rPr lang="en-US" sz="2000" i="1" dirty="0">
                <a:cs typeface="Times New Roman" pitchFamily="18" charset="0"/>
              </a:rPr>
              <a:t>               = </a:t>
            </a:r>
            <a:r>
              <a:rPr lang="en-US" sz="2000" dirty="0">
                <a:cs typeface="Times New Roman" pitchFamily="18" charset="0"/>
              </a:rPr>
              <a:t>T(n-2) +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</a:rPr>
              <a:t>(n - 1)  +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</a:rPr>
              <a:t>(n)</a:t>
            </a:r>
          </a:p>
          <a:p>
            <a:pPr>
              <a:buNone/>
            </a:pPr>
            <a:r>
              <a:rPr lang="en-US" sz="2000" dirty="0">
                <a:cs typeface="Times New Roman" pitchFamily="18" charset="0"/>
              </a:rPr>
              <a:t>		………………….</a:t>
            </a:r>
          </a:p>
          <a:p>
            <a:pPr>
              <a:buNone/>
            </a:pPr>
            <a:r>
              <a:rPr lang="en-US" sz="2000" i="1" dirty="0">
                <a:cs typeface="Times New Roman" pitchFamily="18" charset="0"/>
              </a:rPr>
              <a:t>               = </a:t>
            </a:r>
            <a:r>
              <a:rPr lang="en-US" sz="2000" dirty="0">
                <a:cs typeface="Times New Roman" pitchFamily="18" charset="0"/>
              </a:rPr>
              <a:t>T(0) +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(1</a:t>
            </a:r>
            <a:r>
              <a:rPr lang="en-US" sz="2000" dirty="0">
                <a:cs typeface="Times New Roman" pitchFamily="18" charset="0"/>
              </a:rPr>
              <a:t>) +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(2</a:t>
            </a:r>
            <a:r>
              <a:rPr lang="en-US" sz="2000" dirty="0">
                <a:cs typeface="Times New Roman" pitchFamily="18" charset="0"/>
              </a:rPr>
              <a:t>) + …. +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</a:rPr>
              <a:t>(n - 1)  +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</a:rPr>
              <a:t>(n)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cs typeface="Times New Roman" pitchFamily="18" charset="0"/>
              </a:rPr>
              <a:t>                     </a:t>
            </a:r>
            <a:r>
              <a:rPr lang="en-US" sz="2000" i="1" baseline="-30000" dirty="0">
                <a:cs typeface="Times New Roman" pitchFamily="18" charset="0"/>
              </a:rPr>
              <a:t>n                                              </a:t>
            </a:r>
            <a:r>
              <a:rPr lang="en-US" sz="2000" i="1" baseline="-30000" dirty="0" err="1">
                <a:cs typeface="Times New Roman" pitchFamily="18" charset="0"/>
              </a:rPr>
              <a:t>n</a:t>
            </a:r>
            <a:r>
              <a:rPr lang="en-US" sz="2000" i="1" baseline="-30000" dirty="0">
                <a:cs typeface="Times New Roman" pitchFamily="18" charset="0"/>
              </a:rPr>
              <a:t>    </a:t>
            </a:r>
            <a:endParaRPr lang="en-US" sz="2000" dirty="0">
              <a:cs typeface="Times New Roman" pitchFamily="18" charset="0"/>
            </a:endParaRPr>
          </a:p>
          <a:p>
            <a:pPr>
              <a:buNone/>
            </a:pPr>
            <a:r>
              <a:rPr lang="en-US" sz="2000" dirty="0">
                <a:cs typeface="Times New Roman" pitchFamily="18" charset="0"/>
              </a:rPr>
              <a:t>                =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</a:t>
            </a:r>
            <a:r>
              <a:rPr lang="en-US" sz="2000" dirty="0">
                <a:cs typeface="Times New Roman" pitchFamily="18" charset="0"/>
              </a:rPr>
              <a:t>   </a:t>
            </a:r>
            <a:r>
              <a:rPr lang="en-US" dirty="0">
                <a:cs typeface="Times New Roman" pitchFamily="18" charset="0"/>
              </a:rPr>
              <a:t> (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000" dirty="0">
                <a:cs typeface="Times New Roman" pitchFamily="18" charset="0"/>
              </a:rPr>
              <a:t>(</a:t>
            </a:r>
            <a:r>
              <a:rPr lang="en-US" sz="2000" i="1" dirty="0">
                <a:cs typeface="Times New Roman" pitchFamily="18" charset="0"/>
              </a:rPr>
              <a:t>k</a:t>
            </a:r>
            <a:r>
              <a:rPr lang="en-US" sz="2000" dirty="0">
                <a:cs typeface="Times New Roman" pitchFamily="18" charset="0"/>
              </a:rPr>
              <a:t>)</a:t>
            </a:r>
            <a:r>
              <a:rPr lang="en-US" dirty="0">
                <a:cs typeface="Times New Roman" pitchFamily="18" charset="0"/>
              </a:rPr>
              <a:t>)</a:t>
            </a:r>
            <a:r>
              <a:rPr lang="en-US" sz="2000" dirty="0">
                <a:cs typeface="Times New Roman" pitchFamily="18" charset="0"/>
              </a:rPr>
              <a:t>      =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   k   =  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(n</a:t>
            </a:r>
            <a:r>
              <a:rPr lang="en-US" sz="2000" baseline="30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latin typeface="Times New Roman" pitchFamily="18" charset="0"/>
                <a:sym typeface="Symbol" pitchFamily="18" charset="2"/>
              </a:rPr>
              <a:t>)</a:t>
            </a:r>
            <a:endParaRPr lang="en-US" sz="2000" dirty="0">
              <a:cs typeface="Times New Roman" pitchFamily="18" charset="0"/>
            </a:endParaRPr>
          </a:p>
          <a:p>
            <a:pPr>
              <a:buNone/>
            </a:pPr>
            <a:r>
              <a:rPr lang="en-US" sz="2000" i="1" baseline="30000" dirty="0">
                <a:cs typeface="Times New Roman" pitchFamily="18" charset="0"/>
              </a:rPr>
              <a:t>                            k = 1                                         k = 1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cs typeface="Times New Roman" pitchFamily="18" charset="0"/>
              </a:rPr>
              <a:t>Worst case Running Time is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(n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endParaRPr lang="en-US" sz="2000" i="1" dirty="0">
              <a:cs typeface="Times New Roman" pitchFamily="18" charset="0"/>
            </a:endParaRP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83AD351-8C23-4802-A682-2145A5EA49E2}" type="slidenum">
              <a:rPr lang="en-US"/>
              <a:pPr/>
              <a:t>11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156891" y="1912886"/>
            <a:ext cx="5030244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itchFamily="18" charset="0"/>
              </a:rPr>
              <a:t>Partitioning  </a:t>
            </a:r>
            <a:r>
              <a:rPr lang="en-US" dirty="0"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</a:t>
            </a:r>
            <a:r>
              <a:rPr lang="en-US" dirty="0">
                <a:cs typeface="Times New Roman" pitchFamily="18" charset="0"/>
              </a:rPr>
              <a:t>(n)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itchFamily="18" charset="0"/>
              </a:rPr>
              <a:t>Recursive call on an array of size 0 </a:t>
            </a:r>
            <a:r>
              <a:rPr lang="en-US" dirty="0">
                <a:cs typeface="Times New Roman" pitchFamily="18" charset="0"/>
                <a:sym typeface="Wingdings" panose="05000000000000000000" pitchFamily="2" charset="2"/>
              </a:rPr>
              <a:t> T(0) =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</a:t>
            </a:r>
            <a:r>
              <a:rPr lang="en-US" dirty="0">
                <a:cs typeface="Times New Roman" pitchFamily="18" charset="0"/>
              </a:rPr>
              <a:t>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itchFamily="18" charset="0"/>
              </a:rPr>
              <a:t>Recursive call on an array of size (n-1) </a:t>
            </a:r>
            <a:r>
              <a:rPr lang="en-US" dirty="0">
                <a:cs typeface="Times New Roman" pitchFamily="18" charset="0"/>
                <a:sym typeface="Wingdings" panose="05000000000000000000" pitchFamily="2" charset="2"/>
              </a:rPr>
              <a:t> T(n-1)</a:t>
            </a:r>
            <a:endParaRPr lang="en-US" dirty="0"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82190" y="1432137"/>
            <a:ext cx="78238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Worst case partitioning (Repeated  Substituted method)</a:t>
            </a:r>
          </a:p>
        </p:txBody>
      </p:sp>
      <p:sp>
        <p:nvSpPr>
          <p:cNvPr id="2" name="Right Brace 1"/>
          <p:cNvSpPr/>
          <p:nvPr/>
        </p:nvSpPr>
        <p:spPr>
          <a:xfrm rot="5400000">
            <a:off x="3794294" y="3356147"/>
            <a:ext cx="240962" cy="127635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0"/>
            <a:ext cx="7793038" cy="838200"/>
          </a:xfrm>
        </p:spPr>
        <p:txBody>
          <a:bodyPr/>
          <a:lstStyle/>
          <a:p>
            <a:pPr eaLnBrk="1" hangingPunct="1"/>
            <a:r>
              <a:rPr lang="en-US" sz="4000"/>
              <a:t>Analysis of Quick sort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05000"/>
            <a:ext cx="8305800" cy="2667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/>
              <a:t>(b) Best case partitioning</a:t>
            </a:r>
          </a:p>
          <a:p>
            <a:pPr>
              <a:buNone/>
            </a:pPr>
            <a:r>
              <a:rPr lang="en-US" sz="2400" b="1" dirty="0"/>
              <a:t>     </a:t>
            </a:r>
            <a:r>
              <a:rPr lang="en-US" sz="2400" dirty="0"/>
              <a:t>Best case occurs when PARTITION produces two sub arrays , one is of size (n-1)/2 and the other is of size (n-1)/2.   In this case, quicksort runs much faster. 	</a:t>
            </a:r>
          </a:p>
          <a:p>
            <a:pPr>
              <a:buNone/>
            </a:pPr>
            <a:r>
              <a:rPr lang="en-US" sz="2400" dirty="0"/>
              <a:t>    </a:t>
            </a:r>
          </a:p>
          <a:p>
            <a:pPr>
              <a:buNone/>
            </a:pPr>
            <a:r>
              <a:rPr lang="en-US" sz="2400" dirty="0"/>
              <a:t>    Recurrence equation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               T(n) = 2T(n/2) +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cs typeface="Times New Roman" pitchFamily="18" charset="0"/>
              </a:rPr>
              <a:t>(n)</a:t>
            </a:r>
            <a:r>
              <a:rPr lang="en-US" sz="2400" i="1" dirty="0">
                <a:cs typeface="Times New Roman" pitchFamily="18" charset="0"/>
              </a:rPr>
              <a:t> </a:t>
            </a:r>
            <a:endParaRPr lang="en-US" sz="24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E7CE6D4-FF76-4D59-A412-C9BC0AE07BD3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7410450" cy="1143000"/>
          </a:xfrm>
        </p:spPr>
        <p:txBody>
          <a:bodyPr/>
          <a:lstStyle/>
          <a:p>
            <a:pPr eaLnBrk="1" hangingPunct="1"/>
            <a:r>
              <a:rPr lang="en-US" sz="3200" dirty="0"/>
              <a:t>Analysis of Quick Sort (with recursion tree)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/>
              <a:t>Best Case: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EBCCCA8-A7AD-4E49-BF4E-3C46F6A9AEBA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21511" name="Text Box 49"/>
          <p:cNvSpPr txBox="1">
            <a:spLocks noChangeArrowheads="1"/>
          </p:cNvSpPr>
          <p:nvPr/>
        </p:nvSpPr>
        <p:spPr bwMode="auto">
          <a:xfrm>
            <a:off x="5535613" y="2168525"/>
            <a:ext cx="6223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</a:t>
            </a:r>
          </a:p>
        </p:txBody>
      </p:sp>
      <p:sp>
        <p:nvSpPr>
          <p:cNvPr id="21512" name="Line 50"/>
          <p:cNvSpPr>
            <a:spLocks noChangeShapeType="1"/>
          </p:cNvSpPr>
          <p:nvPr/>
        </p:nvSpPr>
        <p:spPr bwMode="auto">
          <a:xfrm flipH="1">
            <a:off x="4073526" y="2559051"/>
            <a:ext cx="1552575" cy="423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3" name="Line 51"/>
          <p:cNvSpPr>
            <a:spLocks noChangeShapeType="1"/>
          </p:cNvSpPr>
          <p:nvPr/>
        </p:nvSpPr>
        <p:spPr bwMode="auto">
          <a:xfrm>
            <a:off x="5781676" y="2559051"/>
            <a:ext cx="1554163" cy="423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4" name="Text Box 52"/>
          <p:cNvSpPr txBox="1">
            <a:spLocks noChangeArrowheads="1"/>
          </p:cNvSpPr>
          <p:nvPr/>
        </p:nvSpPr>
        <p:spPr bwMode="auto">
          <a:xfrm>
            <a:off x="3659189" y="2982913"/>
            <a:ext cx="77628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n/2</a:t>
            </a:r>
          </a:p>
        </p:txBody>
      </p:sp>
      <p:sp>
        <p:nvSpPr>
          <p:cNvPr id="21515" name="Text Box 53"/>
          <p:cNvSpPr txBox="1">
            <a:spLocks noChangeArrowheads="1"/>
          </p:cNvSpPr>
          <p:nvPr/>
        </p:nvSpPr>
        <p:spPr bwMode="auto">
          <a:xfrm>
            <a:off x="2986088" y="3621088"/>
            <a:ext cx="6223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Times New Roman" pitchFamily="18" charset="0"/>
              </a:rPr>
              <a:t>n/4</a:t>
            </a:r>
          </a:p>
        </p:txBody>
      </p:sp>
      <p:sp>
        <p:nvSpPr>
          <p:cNvPr id="21516" name="Text Box 54"/>
          <p:cNvSpPr txBox="1">
            <a:spLocks noChangeArrowheads="1"/>
          </p:cNvSpPr>
          <p:nvPr/>
        </p:nvSpPr>
        <p:spPr bwMode="auto">
          <a:xfrm>
            <a:off x="2520951" y="4470400"/>
            <a:ext cx="620713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17" name="Text Box 55"/>
          <p:cNvSpPr txBox="1">
            <a:spLocks noChangeArrowheads="1"/>
          </p:cNvSpPr>
          <p:nvPr/>
        </p:nvSpPr>
        <p:spPr bwMode="auto">
          <a:xfrm>
            <a:off x="7205664" y="2982913"/>
            <a:ext cx="77628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n/2</a:t>
            </a:r>
          </a:p>
        </p:txBody>
      </p:sp>
      <p:sp>
        <p:nvSpPr>
          <p:cNvPr id="21518" name="Text Box 56"/>
          <p:cNvSpPr txBox="1">
            <a:spLocks noChangeArrowheads="1"/>
          </p:cNvSpPr>
          <p:nvPr/>
        </p:nvSpPr>
        <p:spPr bwMode="auto">
          <a:xfrm>
            <a:off x="4229101" y="3621088"/>
            <a:ext cx="6207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n/4</a:t>
            </a:r>
          </a:p>
        </p:txBody>
      </p:sp>
      <p:sp>
        <p:nvSpPr>
          <p:cNvPr id="21519" name="Text Box 57"/>
          <p:cNvSpPr txBox="1">
            <a:spLocks noChangeArrowheads="1"/>
          </p:cNvSpPr>
          <p:nvPr/>
        </p:nvSpPr>
        <p:spPr bwMode="auto">
          <a:xfrm>
            <a:off x="8112126" y="3621088"/>
            <a:ext cx="6207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n/4</a:t>
            </a:r>
          </a:p>
        </p:txBody>
      </p:sp>
      <p:sp>
        <p:nvSpPr>
          <p:cNvPr id="21520" name="Text Box 58"/>
          <p:cNvSpPr txBox="1">
            <a:spLocks noChangeArrowheads="1"/>
          </p:cNvSpPr>
          <p:nvPr/>
        </p:nvSpPr>
        <p:spPr bwMode="auto">
          <a:xfrm>
            <a:off x="6183313" y="3621088"/>
            <a:ext cx="62071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n/4</a:t>
            </a:r>
          </a:p>
        </p:txBody>
      </p:sp>
      <p:sp>
        <p:nvSpPr>
          <p:cNvPr id="21521" name="Text Box 59"/>
          <p:cNvSpPr txBox="1">
            <a:spLocks noChangeArrowheads="1"/>
          </p:cNvSpPr>
          <p:nvPr/>
        </p:nvSpPr>
        <p:spPr bwMode="auto">
          <a:xfrm>
            <a:off x="3297238" y="4470400"/>
            <a:ext cx="62071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22" name="Text Box 60"/>
          <p:cNvSpPr txBox="1">
            <a:spLocks noChangeArrowheads="1"/>
          </p:cNvSpPr>
          <p:nvPr/>
        </p:nvSpPr>
        <p:spPr bwMode="auto">
          <a:xfrm>
            <a:off x="3917950" y="4470400"/>
            <a:ext cx="6223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23" name="Text Box 61"/>
          <p:cNvSpPr txBox="1">
            <a:spLocks noChangeArrowheads="1"/>
          </p:cNvSpPr>
          <p:nvPr/>
        </p:nvSpPr>
        <p:spPr bwMode="auto">
          <a:xfrm>
            <a:off x="4849813" y="4470400"/>
            <a:ext cx="6223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24" name="Text Box 62"/>
          <p:cNvSpPr txBox="1">
            <a:spLocks noChangeArrowheads="1"/>
          </p:cNvSpPr>
          <p:nvPr/>
        </p:nvSpPr>
        <p:spPr bwMode="auto">
          <a:xfrm>
            <a:off x="5626100" y="4470400"/>
            <a:ext cx="6223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25" name="Text Box 63"/>
          <p:cNvSpPr txBox="1">
            <a:spLocks noChangeArrowheads="1"/>
          </p:cNvSpPr>
          <p:nvPr/>
        </p:nvSpPr>
        <p:spPr bwMode="auto">
          <a:xfrm>
            <a:off x="8577263" y="4470400"/>
            <a:ext cx="6223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26" name="Text Box 64"/>
          <p:cNvSpPr txBox="1">
            <a:spLocks noChangeArrowheads="1"/>
          </p:cNvSpPr>
          <p:nvPr/>
        </p:nvSpPr>
        <p:spPr bwMode="auto">
          <a:xfrm>
            <a:off x="6713538" y="4470400"/>
            <a:ext cx="6223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27" name="Text Box 65"/>
          <p:cNvSpPr txBox="1">
            <a:spLocks noChangeArrowheads="1"/>
          </p:cNvSpPr>
          <p:nvPr/>
        </p:nvSpPr>
        <p:spPr bwMode="auto">
          <a:xfrm>
            <a:off x="7426326" y="4470400"/>
            <a:ext cx="620713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>
                <a:latin typeface="Times New Roman" pitchFamily="18" charset="0"/>
              </a:rPr>
              <a:t>n/8</a:t>
            </a:r>
          </a:p>
        </p:txBody>
      </p:sp>
      <p:sp>
        <p:nvSpPr>
          <p:cNvPr id="21528" name="Line 66"/>
          <p:cNvSpPr>
            <a:spLocks noChangeShapeType="1"/>
          </p:cNvSpPr>
          <p:nvPr/>
        </p:nvSpPr>
        <p:spPr bwMode="auto">
          <a:xfrm flipH="1">
            <a:off x="3375025" y="3408364"/>
            <a:ext cx="465138" cy="212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29" name="Line 67"/>
          <p:cNvSpPr>
            <a:spLocks noChangeShapeType="1"/>
          </p:cNvSpPr>
          <p:nvPr/>
        </p:nvSpPr>
        <p:spPr bwMode="auto">
          <a:xfrm>
            <a:off x="4073525" y="3408364"/>
            <a:ext cx="311150" cy="212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0" name="Line 68"/>
          <p:cNvSpPr>
            <a:spLocks noChangeShapeType="1"/>
          </p:cNvSpPr>
          <p:nvPr/>
        </p:nvSpPr>
        <p:spPr bwMode="auto">
          <a:xfrm flipH="1">
            <a:off x="6713538" y="3408363"/>
            <a:ext cx="622300" cy="425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1" name="Line 69"/>
          <p:cNvSpPr>
            <a:spLocks noChangeShapeType="1"/>
          </p:cNvSpPr>
          <p:nvPr/>
        </p:nvSpPr>
        <p:spPr bwMode="auto">
          <a:xfrm>
            <a:off x="7491413" y="3408363"/>
            <a:ext cx="620712" cy="425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2" name="Line 70"/>
          <p:cNvSpPr>
            <a:spLocks noChangeShapeType="1"/>
          </p:cNvSpPr>
          <p:nvPr/>
        </p:nvSpPr>
        <p:spPr bwMode="auto">
          <a:xfrm flipH="1">
            <a:off x="2830513" y="4046538"/>
            <a:ext cx="311150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3" name="Line 71"/>
          <p:cNvSpPr>
            <a:spLocks noChangeShapeType="1"/>
          </p:cNvSpPr>
          <p:nvPr/>
        </p:nvSpPr>
        <p:spPr bwMode="auto">
          <a:xfrm>
            <a:off x="3297238" y="4046538"/>
            <a:ext cx="311150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4" name="Line 72"/>
          <p:cNvSpPr>
            <a:spLocks noChangeShapeType="1"/>
          </p:cNvSpPr>
          <p:nvPr/>
        </p:nvSpPr>
        <p:spPr bwMode="auto">
          <a:xfrm flipH="1">
            <a:off x="4229100" y="4046538"/>
            <a:ext cx="311150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5" name="Line 73"/>
          <p:cNvSpPr>
            <a:spLocks noChangeShapeType="1"/>
          </p:cNvSpPr>
          <p:nvPr/>
        </p:nvSpPr>
        <p:spPr bwMode="auto">
          <a:xfrm>
            <a:off x="4694238" y="4046538"/>
            <a:ext cx="311150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6" name="Line 74"/>
          <p:cNvSpPr>
            <a:spLocks noChangeShapeType="1"/>
          </p:cNvSpPr>
          <p:nvPr/>
        </p:nvSpPr>
        <p:spPr bwMode="auto">
          <a:xfrm flipH="1">
            <a:off x="5937251" y="4046538"/>
            <a:ext cx="466725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7" name="Line 75"/>
          <p:cNvSpPr>
            <a:spLocks noChangeShapeType="1"/>
          </p:cNvSpPr>
          <p:nvPr/>
        </p:nvSpPr>
        <p:spPr bwMode="auto">
          <a:xfrm>
            <a:off x="6559551" y="4046538"/>
            <a:ext cx="309563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8" name="Line 76"/>
          <p:cNvSpPr>
            <a:spLocks noChangeShapeType="1"/>
          </p:cNvSpPr>
          <p:nvPr/>
        </p:nvSpPr>
        <p:spPr bwMode="auto">
          <a:xfrm flipH="1">
            <a:off x="7800976" y="4046538"/>
            <a:ext cx="466725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39" name="Line 77"/>
          <p:cNvSpPr>
            <a:spLocks noChangeShapeType="1"/>
          </p:cNvSpPr>
          <p:nvPr/>
        </p:nvSpPr>
        <p:spPr bwMode="auto">
          <a:xfrm>
            <a:off x="8423276" y="4046538"/>
            <a:ext cx="309563" cy="423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0" name="Line 78"/>
          <p:cNvSpPr>
            <a:spLocks noChangeShapeType="1"/>
          </p:cNvSpPr>
          <p:nvPr/>
        </p:nvSpPr>
        <p:spPr bwMode="auto">
          <a:xfrm flipH="1">
            <a:off x="2520951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1" name="Line 79"/>
          <p:cNvSpPr>
            <a:spLocks noChangeShapeType="1"/>
          </p:cNvSpPr>
          <p:nvPr/>
        </p:nvSpPr>
        <p:spPr bwMode="auto">
          <a:xfrm>
            <a:off x="2830514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2" name="Line 80"/>
          <p:cNvSpPr>
            <a:spLocks noChangeShapeType="1"/>
          </p:cNvSpPr>
          <p:nvPr/>
        </p:nvSpPr>
        <p:spPr bwMode="auto">
          <a:xfrm flipH="1">
            <a:off x="3375026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3" name="Line 81"/>
          <p:cNvSpPr>
            <a:spLocks noChangeShapeType="1"/>
          </p:cNvSpPr>
          <p:nvPr/>
        </p:nvSpPr>
        <p:spPr bwMode="auto">
          <a:xfrm>
            <a:off x="3608389" y="4897439"/>
            <a:ext cx="153987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4" name="Line 82"/>
          <p:cNvSpPr>
            <a:spLocks noChangeShapeType="1"/>
          </p:cNvSpPr>
          <p:nvPr/>
        </p:nvSpPr>
        <p:spPr bwMode="auto">
          <a:xfrm flipH="1">
            <a:off x="3917951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5" name="Line 83"/>
          <p:cNvSpPr>
            <a:spLocks noChangeShapeType="1"/>
          </p:cNvSpPr>
          <p:nvPr/>
        </p:nvSpPr>
        <p:spPr bwMode="auto">
          <a:xfrm>
            <a:off x="4229101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6" name="Line 84"/>
          <p:cNvSpPr>
            <a:spLocks noChangeShapeType="1"/>
          </p:cNvSpPr>
          <p:nvPr/>
        </p:nvSpPr>
        <p:spPr bwMode="auto">
          <a:xfrm flipH="1">
            <a:off x="4849814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7" name="Line 85"/>
          <p:cNvSpPr>
            <a:spLocks noChangeShapeType="1"/>
          </p:cNvSpPr>
          <p:nvPr/>
        </p:nvSpPr>
        <p:spPr bwMode="auto">
          <a:xfrm>
            <a:off x="5160964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8" name="Line 86"/>
          <p:cNvSpPr>
            <a:spLocks noChangeShapeType="1"/>
          </p:cNvSpPr>
          <p:nvPr/>
        </p:nvSpPr>
        <p:spPr bwMode="auto">
          <a:xfrm flipH="1">
            <a:off x="5626101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49" name="Line 87"/>
          <p:cNvSpPr>
            <a:spLocks noChangeShapeType="1"/>
          </p:cNvSpPr>
          <p:nvPr/>
        </p:nvSpPr>
        <p:spPr bwMode="auto">
          <a:xfrm>
            <a:off x="5937251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0" name="Line 88"/>
          <p:cNvSpPr>
            <a:spLocks noChangeShapeType="1"/>
          </p:cNvSpPr>
          <p:nvPr/>
        </p:nvSpPr>
        <p:spPr bwMode="auto">
          <a:xfrm flipH="1">
            <a:off x="6713539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1" name="Line 89"/>
          <p:cNvSpPr>
            <a:spLocks noChangeShapeType="1"/>
          </p:cNvSpPr>
          <p:nvPr/>
        </p:nvSpPr>
        <p:spPr bwMode="auto">
          <a:xfrm>
            <a:off x="7024689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2" name="Line 90"/>
          <p:cNvSpPr>
            <a:spLocks noChangeShapeType="1"/>
          </p:cNvSpPr>
          <p:nvPr/>
        </p:nvSpPr>
        <p:spPr bwMode="auto">
          <a:xfrm flipH="1">
            <a:off x="7491414" y="4897439"/>
            <a:ext cx="153987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3" name="Line 91"/>
          <p:cNvSpPr>
            <a:spLocks noChangeShapeType="1"/>
          </p:cNvSpPr>
          <p:nvPr/>
        </p:nvSpPr>
        <p:spPr bwMode="auto">
          <a:xfrm>
            <a:off x="7723189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4" name="Line 92"/>
          <p:cNvSpPr>
            <a:spLocks noChangeShapeType="1"/>
          </p:cNvSpPr>
          <p:nvPr/>
        </p:nvSpPr>
        <p:spPr bwMode="auto">
          <a:xfrm flipH="1">
            <a:off x="8577264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5" name="Line 93"/>
          <p:cNvSpPr>
            <a:spLocks noChangeShapeType="1"/>
          </p:cNvSpPr>
          <p:nvPr/>
        </p:nvSpPr>
        <p:spPr bwMode="auto">
          <a:xfrm>
            <a:off x="8888414" y="4897439"/>
            <a:ext cx="155575" cy="21113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6" name="Line 94"/>
          <p:cNvSpPr>
            <a:spLocks noChangeShapeType="1"/>
          </p:cNvSpPr>
          <p:nvPr/>
        </p:nvSpPr>
        <p:spPr bwMode="auto">
          <a:xfrm>
            <a:off x="2520950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7" name="Line 95"/>
          <p:cNvSpPr>
            <a:spLocks noChangeShapeType="1"/>
          </p:cNvSpPr>
          <p:nvPr/>
        </p:nvSpPr>
        <p:spPr bwMode="auto">
          <a:xfrm>
            <a:off x="9043988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8" name="Line 96"/>
          <p:cNvSpPr>
            <a:spLocks noChangeShapeType="1"/>
          </p:cNvSpPr>
          <p:nvPr/>
        </p:nvSpPr>
        <p:spPr bwMode="auto">
          <a:xfrm>
            <a:off x="7956550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59" name="Line 97"/>
          <p:cNvSpPr>
            <a:spLocks noChangeShapeType="1"/>
          </p:cNvSpPr>
          <p:nvPr/>
        </p:nvSpPr>
        <p:spPr bwMode="auto">
          <a:xfrm>
            <a:off x="2986088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0" name="Line 98"/>
          <p:cNvSpPr>
            <a:spLocks noChangeShapeType="1"/>
          </p:cNvSpPr>
          <p:nvPr/>
        </p:nvSpPr>
        <p:spPr bwMode="auto">
          <a:xfrm>
            <a:off x="3297238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1" name="Line 99"/>
          <p:cNvSpPr>
            <a:spLocks noChangeShapeType="1"/>
          </p:cNvSpPr>
          <p:nvPr/>
        </p:nvSpPr>
        <p:spPr bwMode="auto">
          <a:xfrm>
            <a:off x="4384675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2" name="Line 100"/>
          <p:cNvSpPr>
            <a:spLocks noChangeShapeType="1"/>
          </p:cNvSpPr>
          <p:nvPr/>
        </p:nvSpPr>
        <p:spPr bwMode="auto">
          <a:xfrm>
            <a:off x="4849813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3" name="Line 101"/>
          <p:cNvSpPr>
            <a:spLocks noChangeShapeType="1"/>
          </p:cNvSpPr>
          <p:nvPr/>
        </p:nvSpPr>
        <p:spPr bwMode="auto">
          <a:xfrm>
            <a:off x="3762375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4" name="Line 102"/>
          <p:cNvSpPr>
            <a:spLocks noChangeShapeType="1"/>
          </p:cNvSpPr>
          <p:nvPr/>
        </p:nvSpPr>
        <p:spPr bwMode="auto">
          <a:xfrm>
            <a:off x="3917950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5" name="Line 103"/>
          <p:cNvSpPr>
            <a:spLocks noChangeShapeType="1"/>
          </p:cNvSpPr>
          <p:nvPr/>
        </p:nvSpPr>
        <p:spPr bwMode="auto">
          <a:xfrm>
            <a:off x="7491413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6" name="Line 104"/>
          <p:cNvSpPr>
            <a:spLocks noChangeShapeType="1"/>
          </p:cNvSpPr>
          <p:nvPr/>
        </p:nvSpPr>
        <p:spPr bwMode="auto">
          <a:xfrm>
            <a:off x="5626100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7" name="Line 105"/>
          <p:cNvSpPr>
            <a:spLocks noChangeShapeType="1"/>
          </p:cNvSpPr>
          <p:nvPr/>
        </p:nvSpPr>
        <p:spPr bwMode="auto">
          <a:xfrm>
            <a:off x="5316538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8" name="Line 106"/>
          <p:cNvSpPr>
            <a:spLocks noChangeShapeType="1"/>
          </p:cNvSpPr>
          <p:nvPr/>
        </p:nvSpPr>
        <p:spPr bwMode="auto">
          <a:xfrm>
            <a:off x="8577263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69" name="Line 107"/>
          <p:cNvSpPr>
            <a:spLocks noChangeShapeType="1"/>
          </p:cNvSpPr>
          <p:nvPr/>
        </p:nvSpPr>
        <p:spPr bwMode="auto">
          <a:xfrm>
            <a:off x="6713538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70" name="Line 108"/>
          <p:cNvSpPr>
            <a:spLocks noChangeShapeType="1"/>
          </p:cNvSpPr>
          <p:nvPr/>
        </p:nvSpPr>
        <p:spPr bwMode="auto">
          <a:xfrm>
            <a:off x="6092825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71" name="Line 109"/>
          <p:cNvSpPr>
            <a:spLocks noChangeShapeType="1"/>
          </p:cNvSpPr>
          <p:nvPr/>
        </p:nvSpPr>
        <p:spPr bwMode="auto">
          <a:xfrm>
            <a:off x="7180263" y="5321300"/>
            <a:ext cx="0" cy="4254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72" name="Text Box 110"/>
          <p:cNvSpPr txBox="1">
            <a:spLocks noChangeArrowheads="1"/>
          </p:cNvSpPr>
          <p:nvPr/>
        </p:nvSpPr>
        <p:spPr bwMode="auto">
          <a:xfrm>
            <a:off x="2209800" y="5746750"/>
            <a:ext cx="714533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b="1">
                <a:latin typeface="Times New Roman" pitchFamily="18" charset="0"/>
              </a:rPr>
              <a:t>  1     1    1     1 1    1     1      1   1      1      1       1    1    1       1      1 </a:t>
            </a:r>
          </a:p>
        </p:txBody>
      </p:sp>
      <p:sp>
        <p:nvSpPr>
          <p:cNvPr id="21573" name="Line 112"/>
          <p:cNvSpPr>
            <a:spLocks noChangeShapeType="1"/>
          </p:cNvSpPr>
          <p:nvPr/>
        </p:nvSpPr>
        <p:spPr bwMode="auto">
          <a:xfrm>
            <a:off x="9043989" y="4684713"/>
            <a:ext cx="46513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74" name="Line 113"/>
          <p:cNvSpPr>
            <a:spLocks noChangeShapeType="1"/>
          </p:cNvSpPr>
          <p:nvPr/>
        </p:nvSpPr>
        <p:spPr bwMode="auto">
          <a:xfrm>
            <a:off x="8732839" y="3833813"/>
            <a:ext cx="77628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75" name="Line 114"/>
          <p:cNvSpPr>
            <a:spLocks noChangeShapeType="1"/>
          </p:cNvSpPr>
          <p:nvPr/>
        </p:nvSpPr>
        <p:spPr bwMode="auto">
          <a:xfrm>
            <a:off x="7747000" y="3195638"/>
            <a:ext cx="13970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76" name="Line 115"/>
          <p:cNvSpPr>
            <a:spLocks noChangeShapeType="1"/>
          </p:cNvSpPr>
          <p:nvPr/>
        </p:nvSpPr>
        <p:spPr bwMode="auto">
          <a:xfrm flipV="1">
            <a:off x="5937251" y="2344739"/>
            <a:ext cx="2640013" cy="1587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77" name="Text Box 116"/>
          <p:cNvSpPr txBox="1">
            <a:spLocks noChangeArrowheads="1"/>
          </p:cNvSpPr>
          <p:nvPr/>
        </p:nvSpPr>
        <p:spPr bwMode="auto">
          <a:xfrm>
            <a:off x="8839201" y="2133600"/>
            <a:ext cx="4667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400" dirty="0">
                <a:latin typeface="Times New Roman" pitchFamily="18" charset="0"/>
              </a:rPr>
              <a:t>n</a:t>
            </a:r>
          </a:p>
        </p:txBody>
      </p:sp>
      <p:sp>
        <p:nvSpPr>
          <p:cNvPr id="21578" name="Text Box 117"/>
          <p:cNvSpPr txBox="1">
            <a:spLocks noChangeArrowheads="1"/>
          </p:cNvSpPr>
          <p:nvPr/>
        </p:nvSpPr>
        <p:spPr bwMode="auto">
          <a:xfrm>
            <a:off x="9355139" y="2982913"/>
            <a:ext cx="1312861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latin typeface="Times New Roman" pitchFamily="18" charset="0"/>
              </a:rPr>
              <a:t>2.n/2 = n</a:t>
            </a:r>
          </a:p>
        </p:txBody>
      </p:sp>
      <p:sp>
        <p:nvSpPr>
          <p:cNvPr id="21579" name="Text Box 118"/>
          <p:cNvSpPr txBox="1">
            <a:spLocks noChangeArrowheads="1"/>
          </p:cNvSpPr>
          <p:nvPr/>
        </p:nvSpPr>
        <p:spPr bwMode="auto">
          <a:xfrm>
            <a:off x="9509126" y="3621088"/>
            <a:ext cx="11509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latin typeface="Times New Roman" pitchFamily="18" charset="0"/>
              </a:rPr>
              <a:t>4.n/4 =n</a:t>
            </a:r>
          </a:p>
        </p:txBody>
      </p:sp>
      <p:sp>
        <p:nvSpPr>
          <p:cNvPr id="21580" name="Text Box 119"/>
          <p:cNvSpPr txBox="1">
            <a:spLocks noChangeArrowheads="1"/>
          </p:cNvSpPr>
          <p:nvPr/>
        </p:nvSpPr>
        <p:spPr bwMode="auto">
          <a:xfrm>
            <a:off x="9509125" y="4470400"/>
            <a:ext cx="12366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latin typeface="Times New Roman" pitchFamily="18" charset="0"/>
              </a:rPr>
              <a:t>8.n/8 = n</a:t>
            </a:r>
          </a:p>
        </p:txBody>
      </p:sp>
      <p:sp>
        <p:nvSpPr>
          <p:cNvPr id="21581" name="Text Box 120"/>
          <p:cNvSpPr txBox="1">
            <a:spLocks noChangeArrowheads="1"/>
          </p:cNvSpPr>
          <p:nvPr/>
        </p:nvSpPr>
        <p:spPr bwMode="auto">
          <a:xfrm>
            <a:off x="9509126" y="5746750"/>
            <a:ext cx="4667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sz="1200">
              <a:latin typeface="Times New Roman" pitchFamily="18" charset="0"/>
            </a:endParaRPr>
          </a:p>
        </p:txBody>
      </p:sp>
      <p:sp>
        <p:nvSpPr>
          <p:cNvPr id="21582" name="Text Box 125"/>
          <p:cNvSpPr txBox="1">
            <a:spLocks noChangeArrowheads="1"/>
          </p:cNvSpPr>
          <p:nvPr/>
        </p:nvSpPr>
        <p:spPr bwMode="auto">
          <a:xfrm>
            <a:off x="7924800" y="1828801"/>
            <a:ext cx="274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/>
              <a:t>         </a:t>
            </a:r>
            <a:r>
              <a:rPr lang="en-US" sz="2000" b="1" dirty="0" err="1"/>
              <a:t>No.of</a:t>
            </a:r>
            <a:r>
              <a:rPr lang="en-US" sz="2000" b="1" dirty="0"/>
              <a:t> Comparisons</a:t>
            </a:r>
          </a:p>
        </p:txBody>
      </p:sp>
      <p:sp>
        <p:nvSpPr>
          <p:cNvPr id="21583" name="Text Box 127"/>
          <p:cNvSpPr txBox="1">
            <a:spLocks noChangeArrowheads="1"/>
          </p:cNvSpPr>
          <p:nvPr/>
        </p:nvSpPr>
        <p:spPr bwMode="auto">
          <a:xfrm>
            <a:off x="9220200" y="6003926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000" b="1" dirty="0"/>
              <a:t>(n </a:t>
            </a:r>
            <a:r>
              <a:rPr lang="en-US" sz="2000" b="1" dirty="0" err="1"/>
              <a:t>lg</a:t>
            </a:r>
            <a:r>
              <a:rPr lang="en-US" sz="2000" b="1" dirty="0"/>
              <a:t> n) </a:t>
            </a:r>
          </a:p>
        </p:txBody>
      </p:sp>
      <p:sp>
        <p:nvSpPr>
          <p:cNvPr id="21584" name="Line 128"/>
          <p:cNvSpPr>
            <a:spLocks noChangeShapeType="1"/>
          </p:cNvSpPr>
          <p:nvPr/>
        </p:nvSpPr>
        <p:spPr bwMode="auto">
          <a:xfrm>
            <a:off x="9271000" y="5791200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828800" y="6096000"/>
            <a:ext cx="3952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cs typeface="Times New Roman" pitchFamily="18" charset="0"/>
              </a:rPr>
              <a:t>Best case Running Time is 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(</a:t>
            </a:r>
            <a:r>
              <a:rPr lang="en-US" sz="2000" dirty="0"/>
              <a:t>n </a:t>
            </a:r>
            <a:r>
              <a:rPr lang="en-US" sz="2000" dirty="0" err="1"/>
              <a:t>lg</a:t>
            </a:r>
            <a:r>
              <a:rPr lang="en-US" sz="2000" dirty="0"/>
              <a:t> n)</a:t>
            </a:r>
            <a:r>
              <a:rPr lang="en-US" sz="2000" b="1" dirty="0"/>
              <a:t> </a:t>
            </a:r>
          </a:p>
        </p:txBody>
      </p:sp>
      <p:sp>
        <p:nvSpPr>
          <p:cNvPr id="81" name="Line 112"/>
          <p:cNvSpPr>
            <a:spLocks noChangeShapeType="1"/>
          </p:cNvSpPr>
          <p:nvPr/>
        </p:nvSpPr>
        <p:spPr bwMode="auto">
          <a:xfrm>
            <a:off x="9144001" y="5257800"/>
            <a:ext cx="46513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" name="Text Box 116"/>
          <p:cNvSpPr txBox="1">
            <a:spLocks noChangeArrowheads="1"/>
          </p:cNvSpPr>
          <p:nvPr/>
        </p:nvSpPr>
        <p:spPr bwMode="auto">
          <a:xfrm>
            <a:off x="9744076" y="4984750"/>
            <a:ext cx="4667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2000" dirty="0">
                <a:latin typeface="Times New Roman" pitchFamily="18" charset="0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609600"/>
            <a:ext cx="7486650" cy="1143000"/>
          </a:xfrm>
        </p:spPr>
        <p:txBody>
          <a:bodyPr/>
          <a:lstStyle/>
          <a:p>
            <a:pPr eaLnBrk="1" hangingPunct="1"/>
            <a:r>
              <a:rPr lang="en-US"/>
              <a:t>Merge sort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81200"/>
            <a:ext cx="8915400" cy="4419600"/>
          </a:xfrm>
        </p:spPr>
        <p:txBody>
          <a:bodyPr>
            <a:normAutofit fontScale="92500"/>
          </a:bodyPr>
          <a:lstStyle/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r>
              <a:rPr lang="en-US" sz="2400" dirty="0"/>
              <a:t>Merge Sort is a sorting algorithm based on divide and conquer. </a:t>
            </a:r>
          </a:p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r>
              <a:rPr lang="en-US" sz="2400" dirty="0"/>
              <a:t>Its worst-case running time has a lower order of growth than insertion sort.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merge sort algorithm closely follows the divide-and-conquer paradigm. Intuitively, it operates as follows.</a:t>
            </a:r>
          </a:p>
          <a:p>
            <a:pPr marL="0" indent="0">
              <a:buNone/>
            </a:pPr>
            <a:endParaRPr lang="en-US" sz="2400" dirty="0"/>
          </a:p>
          <a:p>
            <a:pPr marL="635000" indent="-635000"/>
            <a:r>
              <a:rPr lang="en-US" sz="2400" b="1" dirty="0"/>
              <a:t>Divide:</a:t>
            </a:r>
            <a:r>
              <a:rPr lang="en-US" sz="2400" dirty="0"/>
              <a:t> Divide the </a:t>
            </a:r>
            <a:r>
              <a:rPr lang="en-US" sz="2400" i="1" dirty="0"/>
              <a:t>n</a:t>
            </a:r>
            <a:r>
              <a:rPr lang="en-US" sz="2400" dirty="0"/>
              <a:t>-element sequence to be sorted into two subsequences of </a:t>
            </a:r>
            <a:r>
              <a:rPr lang="en-US" sz="2400" i="1" dirty="0"/>
              <a:t>n</a:t>
            </a:r>
            <a:r>
              <a:rPr lang="en-US" sz="2400" dirty="0"/>
              <a:t>/2 elements each.</a:t>
            </a:r>
          </a:p>
          <a:p>
            <a:pPr marL="635000" indent="-635000"/>
            <a:r>
              <a:rPr lang="en-US" sz="2400" b="1" dirty="0"/>
              <a:t>Conquer:</a:t>
            </a:r>
            <a:r>
              <a:rPr lang="en-US" sz="2400" dirty="0"/>
              <a:t> Sort the two subsequences recursively using merge sort.</a:t>
            </a:r>
          </a:p>
          <a:p>
            <a:pPr marL="635000" indent="-635000"/>
            <a:r>
              <a:rPr lang="en-US" sz="2400" b="1" dirty="0"/>
              <a:t>Combine:</a:t>
            </a:r>
            <a:r>
              <a:rPr lang="en-US" sz="2400" dirty="0"/>
              <a:t> Merge the two sorted subsequences to produce the sorted answer.</a:t>
            </a:r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CC85A79-3FB5-40D8-AB93-8595A00430C3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7258050" cy="1143000"/>
          </a:xfrm>
        </p:spPr>
        <p:txBody>
          <a:bodyPr/>
          <a:lstStyle/>
          <a:p>
            <a:pPr eaLnBrk="1" hangingPunct="1"/>
            <a:r>
              <a:rPr lang="en-US" sz="4800" dirty="0"/>
              <a:t>Merge sort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981200"/>
            <a:ext cx="8534400" cy="4114800"/>
          </a:xfrm>
        </p:spPr>
        <p:txBody>
          <a:bodyPr>
            <a:normAutofit/>
          </a:bodyPr>
          <a:lstStyle/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r>
              <a:rPr lang="en-US" sz="2000" b="1" dirty="0"/>
              <a:t>Divide </a:t>
            </a:r>
            <a:r>
              <a:rPr lang="en-US" sz="2000" dirty="0"/>
              <a:t>by splitting into two </a:t>
            </a:r>
            <a:r>
              <a:rPr lang="en-US" sz="2000" dirty="0" err="1"/>
              <a:t>subarrays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p . . q</a:t>
            </a:r>
            <a:r>
              <a:rPr lang="en-US" sz="2000" dirty="0"/>
              <a:t>] and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q </a:t>
            </a:r>
            <a:r>
              <a:rPr lang="en-US" sz="2000" dirty="0"/>
              <a:t>+ 1 </a:t>
            </a:r>
            <a:r>
              <a:rPr lang="en-US" sz="2000" i="1" dirty="0"/>
              <a:t>. . r</a:t>
            </a:r>
            <a:r>
              <a:rPr lang="en-US" sz="2000" dirty="0"/>
              <a:t>], where </a:t>
            </a:r>
            <a:r>
              <a:rPr lang="en-US" sz="2000" i="1" dirty="0"/>
              <a:t>q </a:t>
            </a:r>
            <a:r>
              <a:rPr lang="en-US" sz="2000" dirty="0"/>
              <a:t>is the halfway point of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p . . r</a:t>
            </a:r>
            <a:r>
              <a:rPr lang="en-US" sz="2000" dirty="0"/>
              <a:t>].</a:t>
            </a:r>
          </a:p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endParaRPr lang="en-US" sz="2000" dirty="0"/>
          </a:p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r>
              <a:rPr lang="en-US" sz="2000" b="1" dirty="0"/>
              <a:t>Conquer </a:t>
            </a:r>
            <a:r>
              <a:rPr lang="en-US" sz="2000" dirty="0"/>
              <a:t>by recursively sorting the two </a:t>
            </a:r>
            <a:r>
              <a:rPr lang="en-US" sz="2000" dirty="0" err="1"/>
              <a:t>subarrays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p . . q</a:t>
            </a:r>
            <a:r>
              <a:rPr lang="en-US" sz="2000" dirty="0"/>
              <a:t>] and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q </a:t>
            </a:r>
            <a:r>
              <a:rPr lang="en-US" sz="2000" dirty="0"/>
              <a:t>+ 1 </a:t>
            </a:r>
            <a:r>
              <a:rPr lang="en-US" sz="2000" i="1" dirty="0"/>
              <a:t>. . r</a:t>
            </a:r>
            <a:r>
              <a:rPr lang="en-US" sz="2000" dirty="0"/>
              <a:t>].</a:t>
            </a:r>
          </a:p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endParaRPr lang="en-US" sz="2000" dirty="0"/>
          </a:p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r>
              <a:rPr lang="en-US" sz="2000" b="1" dirty="0"/>
              <a:t>Combine </a:t>
            </a:r>
            <a:r>
              <a:rPr lang="en-US" sz="2000" dirty="0"/>
              <a:t>by merging the two sorted </a:t>
            </a:r>
            <a:r>
              <a:rPr lang="en-US" sz="2000" dirty="0" err="1"/>
              <a:t>subarrays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p . . q</a:t>
            </a:r>
            <a:r>
              <a:rPr lang="en-US" sz="2000" dirty="0"/>
              <a:t>] and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q </a:t>
            </a:r>
            <a:r>
              <a:rPr lang="en-US" sz="2000" dirty="0"/>
              <a:t>+ 1 </a:t>
            </a:r>
            <a:r>
              <a:rPr lang="en-US" sz="2000" i="1" dirty="0"/>
              <a:t>. . r</a:t>
            </a:r>
            <a:r>
              <a:rPr lang="en-US" sz="2000" dirty="0"/>
              <a:t>] to produce a single sorted </a:t>
            </a:r>
            <a:r>
              <a:rPr lang="en-US" sz="2000" dirty="0" err="1"/>
              <a:t>subarray</a:t>
            </a:r>
            <a:r>
              <a:rPr lang="en-US" sz="2000" dirty="0"/>
              <a:t> </a:t>
            </a:r>
            <a:r>
              <a:rPr lang="en-US" sz="2000" i="1" dirty="0"/>
              <a:t>A</a:t>
            </a:r>
            <a:r>
              <a:rPr lang="en-US" sz="2000" dirty="0"/>
              <a:t>[</a:t>
            </a:r>
            <a:r>
              <a:rPr lang="en-US" sz="2000" i="1" dirty="0"/>
              <a:t>p . . r</a:t>
            </a:r>
            <a:r>
              <a:rPr lang="en-US" sz="2000" dirty="0"/>
              <a:t>]. </a:t>
            </a:r>
          </a:p>
          <a:p>
            <a:pPr marL="862013" indent="-862013">
              <a:lnSpc>
                <a:spcPct val="80000"/>
              </a:lnSpc>
              <a:buNone/>
              <a:tabLst>
                <a:tab pos="566738" algn="l"/>
              </a:tabLst>
            </a:pPr>
            <a:r>
              <a:rPr lang="en-US" sz="2000" dirty="0"/>
              <a:t>		To accomplish this step, we’ll define a procedure MERGE</a:t>
            </a:r>
            <a:r>
              <a:rPr lang="en-US" sz="2000" i="1" dirty="0"/>
              <a:t>(A, p, q, r)</a:t>
            </a:r>
            <a:r>
              <a:rPr lang="en-US" sz="2000" dirty="0"/>
              <a:t>.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8B824A6-2626-4481-A7C3-E78499FC357A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410450" cy="1143000"/>
          </a:xfrm>
        </p:spPr>
        <p:txBody>
          <a:bodyPr/>
          <a:lstStyle/>
          <a:p>
            <a:pPr eaLnBrk="1" hangingPunct="1"/>
            <a:r>
              <a:rPr lang="en-US"/>
              <a:t>Merge sort procedure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2743200"/>
            <a:ext cx="8305800" cy="35814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sz="2400" b="1" dirty="0">
                <a:solidFill>
                  <a:srgbClr val="2619CB"/>
                </a:solidFill>
                <a:cs typeface="Times New Roman" pitchFamily="18" charset="0"/>
              </a:rPr>
              <a:t>MERGESORT</a:t>
            </a:r>
            <a:r>
              <a:rPr lang="en-US" sz="2400" dirty="0">
                <a:solidFill>
                  <a:schemeClr val="tx2"/>
                </a:solidFill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(A, p, r)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1.   </a:t>
            </a:r>
            <a:r>
              <a:rPr lang="en-US" sz="2400" b="1" dirty="0">
                <a:cs typeface="Times New Roman" pitchFamily="18" charset="0"/>
              </a:rPr>
              <a:t>if</a:t>
            </a:r>
            <a:r>
              <a:rPr lang="en-US" sz="2400" dirty="0">
                <a:cs typeface="Times New Roman" pitchFamily="18" charset="0"/>
              </a:rPr>
              <a:t> p &lt; r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2.    	q =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</a:t>
            </a:r>
            <a:r>
              <a:rPr lang="en-US" sz="2400" dirty="0">
                <a:cs typeface="Times New Roman" pitchFamily="18" charset="0"/>
              </a:rPr>
              <a:t>(</a:t>
            </a:r>
            <a:r>
              <a:rPr lang="en-US" sz="2400" dirty="0" err="1">
                <a:cs typeface="Times New Roman" pitchFamily="18" charset="0"/>
              </a:rPr>
              <a:t>p+r</a:t>
            </a:r>
            <a:r>
              <a:rPr lang="en-US" sz="2400" dirty="0">
                <a:cs typeface="Times New Roman" pitchFamily="18" charset="0"/>
              </a:rPr>
              <a:t> )/2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</a:t>
            </a:r>
            <a:r>
              <a:rPr lang="en-US" sz="2400" dirty="0">
                <a:cs typeface="Times New Roman" pitchFamily="18" charset="0"/>
              </a:rPr>
              <a:t>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3.</a:t>
            </a:r>
            <a:r>
              <a:rPr lang="en-US" sz="2400" dirty="0">
                <a:solidFill>
                  <a:schemeClr val="tx2"/>
                </a:solidFill>
                <a:cs typeface="Times New Roman" pitchFamily="18" charset="0"/>
              </a:rPr>
              <a:t>      </a:t>
            </a:r>
            <a:r>
              <a:rPr lang="en-US" sz="2400" b="1" dirty="0" smtClean="0">
                <a:solidFill>
                  <a:srgbClr val="2619CB"/>
                </a:solidFill>
                <a:cs typeface="Times New Roman" pitchFamily="18" charset="0"/>
              </a:rPr>
              <a:t>MERGESORT</a:t>
            </a:r>
            <a:r>
              <a:rPr lang="en-US" sz="2400" dirty="0" smtClean="0">
                <a:solidFill>
                  <a:schemeClr val="tx2"/>
                </a:solidFill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(A, p, q)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4.</a:t>
            </a:r>
            <a:r>
              <a:rPr lang="en-US" sz="2400" dirty="0">
                <a:solidFill>
                  <a:schemeClr val="tx2"/>
                </a:solidFill>
                <a:cs typeface="Times New Roman" pitchFamily="18" charset="0"/>
              </a:rPr>
              <a:t>      </a:t>
            </a:r>
            <a:r>
              <a:rPr lang="en-US" sz="2400" b="1" dirty="0" smtClean="0">
                <a:solidFill>
                  <a:srgbClr val="2619CB"/>
                </a:solidFill>
                <a:cs typeface="Times New Roman" pitchFamily="18" charset="0"/>
              </a:rPr>
              <a:t>MERGESORT</a:t>
            </a:r>
            <a:r>
              <a:rPr lang="en-US" sz="2400" dirty="0" smtClean="0">
                <a:solidFill>
                  <a:schemeClr val="tx2"/>
                </a:solidFill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(A, q+1, r)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dirty="0">
                <a:cs typeface="Times New Roman" pitchFamily="18" charset="0"/>
              </a:rPr>
              <a:t>5.</a:t>
            </a:r>
            <a:r>
              <a:rPr lang="en-US" sz="2400" dirty="0">
                <a:solidFill>
                  <a:schemeClr val="tx2"/>
                </a:solidFill>
                <a:cs typeface="Times New Roman" pitchFamily="18" charset="0"/>
              </a:rPr>
              <a:t>  	</a:t>
            </a:r>
            <a:r>
              <a:rPr lang="en-US" sz="2400" b="1" dirty="0">
                <a:solidFill>
                  <a:srgbClr val="AE0808"/>
                </a:solidFill>
                <a:cs typeface="Times New Roman" pitchFamily="18" charset="0"/>
              </a:rPr>
              <a:t>MERGE</a:t>
            </a:r>
            <a:r>
              <a:rPr lang="en-US" sz="2400" dirty="0">
                <a:solidFill>
                  <a:srgbClr val="AE0808"/>
                </a:solidFill>
                <a:cs typeface="Times New Roman" pitchFamily="18" charset="0"/>
              </a:rPr>
              <a:t> </a:t>
            </a:r>
            <a:r>
              <a:rPr lang="en-US" sz="2400" dirty="0">
                <a:cs typeface="Times New Roman" pitchFamily="18" charset="0"/>
              </a:rPr>
              <a:t>(A, p, q, r)</a:t>
            </a:r>
            <a:endParaRPr lang="en-US" sz="2400" dirty="0"/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167B14B-A941-4491-BEA7-28D85FCB0B3D}" type="slidenum">
              <a:rPr lang="en-US"/>
              <a:pPr/>
              <a:t>16</a:t>
            </a:fld>
            <a:endParaRPr lang="en-US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905000" y="1792069"/>
            <a:ext cx="7543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000" b="1"/>
              <a:t>Input   :</a:t>
            </a:r>
            <a:r>
              <a:rPr lang="en-US" sz="2000"/>
              <a:t> A an array in the range 1 to n.</a:t>
            </a:r>
          </a:p>
          <a:p>
            <a:pPr algn="just">
              <a:lnSpc>
                <a:spcPct val="90000"/>
              </a:lnSpc>
            </a:pPr>
            <a:r>
              <a:rPr lang="en-US" sz="2000" b="1"/>
              <a:t>Output :</a:t>
            </a:r>
            <a:r>
              <a:rPr lang="en-US" sz="2000"/>
              <a:t> Sorted array 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  <p:bldP spid="4096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1000"/>
            <a:ext cx="7793038" cy="762000"/>
          </a:xfrm>
        </p:spPr>
        <p:txBody>
          <a:bodyPr/>
          <a:lstStyle/>
          <a:p>
            <a:pPr eaLnBrk="1" hangingPunct="1"/>
            <a:r>
              <a:rPr lang="en-US" sz="4000" dirty="0"/>
              <a:t>Merge procedure 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600200"/>
            <a:ext cx="7772400" cy="51816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MERGE(</a:t>
            </a:r>
            <a:r>
              <a:rPr lang="en-US" sz="1800" i="1" dirty="0"/>
              <a:t>A</a:t>
            </a:r>
            <a:r>
              <a:rPr lang="en-US" sz="1800" dirty="0"/>
              <a:t>, </a:t>
            </a:r>
            <a:r>
              <a:rPr lang="en-US" sz="1800" i="1" dirty="0"/>
              <a:t>p</a:t>
            </a:r>
            <a:r>
              <a:rPr lang="en-US" sz="1800" dirty="0"/>
              <a:t>, </a:t>
            </a:r>
            <a:r>
              <a:rPr lang="en-US" sz="1800" i="1" dirty="0"/>
              <a:t>q</a:t>
            </a:r>
            <a:r>
              <a:rPr lang="en-US" sz="1800" dirty="0"/>
              <a:t>, </a:t>
            </a:r>
            <a:r>
              <a:rPr lang="en-US" sz="1800" i="1" dirty="0"/>
              <a:t>r</a:t>
            </a:r>
            <a:r>
              <a:rPr lang="en-US" sz="1800" dirty="0"/>
              <a:t>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 	</a:t>
            </a:r>
            <a:r>
              <a:rPr lang="en-US" sz="1800" i="1" dirty="0"/>
              <a:t>n</a:t>
            </a:r>
            <a:r>
              <a:rPr lang="en-US" sz="1800" baseline="-25000" dirty="0"/>
              <a:t>1</a:t>
            </a:r>
            <a:r>
              <a:rPr lang="en-US" sz="1800" dirty="0"/>
              <a:t> = </a:t>
            </a:r>
            <a:r>
              <a:rPr lang="en-US" sz="1800" i="1" dirty="0"/>
              <a:t>q</a:t>
            </a:r>
            <a:r>
              <a:rPr lang="en-US" sz="1800" dirty="0"/>
              <a:t> - </a:t>
            </a:r>
            <a:r>
              <a:rPr lang="en-US" sz="1800" i="1" dirty="0"/>
              <a:t>p</a:t>
            </a:r>
            <a:r>
              <a:rPr lang="en-US" sz="1800" dirty="0"/>
              <a:t> + 1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2 	</a:t>
            </a:r>
            <a:r>
              <a:rPr lang="en-US" sz="1800" i="1" dirty="0"/>
              <a:t>n</a:t>
            </a:r>
            <a:r>
              <a:rPr lang="en-US" sz="1800" baseline="-25000" dirty="0"/>
              <a:t>2</a:t>
            </a:r>
            <a:r>
              <a:rPr lang="en-US" sz="1800" dirty="0"/>
              <a:t> = </a:t>
            </a:r>
            <a:r>
              <a:rPr lang="en-US" sz="1800" i="1" dirty="0"/>
              <a:t>r</a:t>
            </a:r>
            <a:r>
              <a:rPr lang="en-US" sz="1800" dirty="0"/>
              <a:t> - </a:t>
            </a:r>
            <a:r>
              <a:rPr lang="en-US" sz="1800" i="1" dirty="0"/>
              <a:t>q</a:t>
            </a:r>
            <a:r>
              <a:rPr lang="en-US" sz="1800" dirty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3	create arrays </a:t>
            </a:r>
            <a:r>
              <a:rPr lang="en-US" sz="1800" i="1" dirty="0"/>
              <a:t>L</a:t>
            </a:r>
            <a:r>
              <a:rPr lang="en-US" sz="1800" dirty="0"/>
              <a:t>[1.. </a:t>
            </a:r>
            <a:r>
              <a:rPr lang="en-US" sz="1800" i="1" dirty="0"/>
              <a:t>n</a:t>
            </a:r>
            <a:r>
              <a:rPr lang="en-US" sz="1800" baseline="-25000" dirty="0"/>
              <a:t>1</a:t>
            </a:r>
            <a:r>
              <a:rPr lang="en-US" sz="1800" dirty="0"/>
              <a:t> + 1] and </a:t>
            </a:r>
            <a:r>
              <a:rPr lang="en-US" sz="1800" i="1" dirty="0"/>
              <a:t>R</a:t>
            </a:r>
            <a:r>
              <a:rPr lang="en-US" sz="1800" dirty="0"/>
              <a:t>[1.. </a:t>
            </a:r>
            <a:r>
              <a:rPr lang="en-US" sz="1800" i="1" dirty="0"/>
              <a:t>n</a:t>
            </a:r>
            <a:r>
              <a:rPr lang="en-US" sz="1800" baseline="-25000" dirty="0"/>
              <a:t>2 </a:t>
            </a:r>
            <a:r>
              <a:rPr lang="en-US" sz="1800" dirty="0"/>
              <a:t>+ 1]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4 	</a:t>
            </a:r>
            <a:r>
              <a:rPr lang="en-US" sz="1800" b="1" dirty="0"/>
              <a:t>for</a:t>
            </a:r>
            <a:r>
              <a:rPr lang="en-US" sz="1800" dirty="0"/>
              <a:t> </a:t>
            </a:r>
            <a:r>
              <a:rPr lang="en-US" sz="1800" i="1" dirty="0" err="1"/>
              <a:t>i</a:t>
            </a:r>
            <a:r>
              <a:rPr lang="en-US" sz="1800" dirty="0"/>
              <a:t> = 1 </a:t>
            </a:r>
            <a:r>
              <a:rPr lang="en-US" sz="1800" b="1" dirty="0"/>
              <a:t>to</a:t>
            </a:r>
            <a:r>
              <a:rPr lang="en-US" sz="1800" dirty="0"/>
              <a:t> </a:t>
            </a:r>
            <a:r>
              <a:rPr lang="en-US" sz="1800" i="1" dirty="0"/>
              <a:t>n</a:t>
            </a:r>
            <a:r>
              <a:rPr lang="en-US" sz="1800" baseline="-25000" dirty="0"/>
              <a:t>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 	5 		 </a:t>
            </a:r>
            <a:r>
              <a:rPr lang="en-US" sz="1800" i="1" dirty="0"/>
              <a:t>L</a:t>
            </a:r>
            <a:r>
              <a:rPr lang="en-US" sz="1800" dirty="0"/>
              <a:t>[</a:t>
            </a:r>
            <a:r>
              <a:rPr lang="en-US" sz="1800" i="1" dirty="0" err="1"/>
              <a:t>i</a:t>
            </a:r>
            <a:r>
              <a:rPr lang="en-US" sz="1800" dirty="0"/>
              <a:t>] = </a:t>
            </a:r>
            <a:r>
              <a:rPr lang="en-US" sz="1800" i="1" dirty="0"/>
              <a:t>A</a:t>
            </a:r>
            <a:r>
              <a:rPr lang="en-US" sz="1800" dirty="0"/>
              <a:t>[</a:t>
            </a:r>
            <a:r>
              <a:rPr lang="en-US" sz="1800" i="1" dirty="0"/>
              <a:t>p</a:t>
            </a:r>
            <a:r>
              <a:rPr lang="en-US" sz="1800" dirty="0"/>
              <a:t> + </a:t>
            </a:r>
            <a:r>
              <a:rPr lang="en-US" sz="1800" i="1" dirty="0" err="1"/>
              <a:t>i</a:t>
            </a:r>
            <a:r>
              <a:rPr lang="en-US" sz="1800" dirty="0"/>
              <a:t> - 1]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 	6	 </a:t>
            </a:r>
            <a:r>
              <a:rPr lang="en-US" sz="1800" b="1" dirty="0"/>
              <a:t>for</a:t>
            </a:r>
            <a:r>
              <a:rPr lang="en-US" sz="1800" dirty="0"/>
              <a:t> </a:t>
            </a:r>
            <a:r>
              <a:rPr lang="en-US" sz="1800" i="1" dirty="0"/>
              <a:t>j</a:t>
            </a:r>
            <a:r>
              <a:rPr lang="en-US" sz="1800" dirty="0"/>
              <a:t> = 1 </a:t>
            </a:r>
            <a:r>
              <a:rPr lang="en-US" sz="1800" b="1" dirty="0"/>
              <a:t>to</a:t>
            </a:r>
            <a:r>
              <a:rPr lang="en-US" sz="1800" dirty="0"/>
              <a:t> </a:t>
            </a:r>
            <a:r>
              <a:rPr lang="en-US" sz="1800" i="1" dirty="0"/>
              <a:t>n</a:t>
            </a:r>
            <a:r>
              <a:rPr lang="en-US" sz="1800" baseline="-25000" dirty="0"/>
              <a:t>2</a:t>
            </a:r>
            <a:r>
              <a:rPr lang="en-US" sz="1800" dirty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7 		 </a:t>
            </a:r>
            <a:r>
              <a:rPr lang="en-US" sz="1800" i="1" dirty="0"/>
              <a:t>R</a:t>
            </a:r>
            <a:r>
              <a:rPr lang="en-US" sz="1800" dirty="0"/>
              <a:t>[</a:t>
            </a:r>
            <a:r>
              <a:rPr lang="en-US" sz="1800" i="1" dirty="0"/>
              <a:t>j</a:t>
            </a:r>
            <a:r>
              <a:rPr lang="en-US" sz="1800" dirty="0"/>
              <a:t>] = </a:t>
            </a:r>
            <a:r>
              <a:rPr lang="en-US" sz="1800" i="1" dirty="0"/>
              <a:t>A</a:t>
            </a:r>
            <a:r>
              <a:rPr lang="en-US" sz="1800" dirty="0"/>
              <a:t>[</a:t>
            </a:r>
            <a:r>
              <a:rPr lang="en-US" sz="1800" i="1" dirty="0"/>
              <a:t>q</a:t>
            </a:r>
            <a:r>
              <a:rPr lang="en-US" sz="1800" dirty="0"/>
              <a:t> + </a:t>
            </a:r>
            <a:r>
              <a:rPr lang="en-US" sz="1800" i="1" dirty="0"/>
              <a:t>j</a:t>
            </a:r>
            <a:r>
              <a:rPr lang="en-US" sz="1800" dirty="0"/>
              <a:t>]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8 	</a:t>
            </a:r>
            <a:r>
              <a:rPr lang="en-US" sz="1800" i="1" dirty="0"/>
              <a:t>L</a:t>
            </a:r>
            <a:r>
              <a:rPr lang="en-US" sz="1800" dirty="0"/>
              <a:t>[</a:t>
            </a:r>
            <a:r>
              <a:rPr lang="en-US" sz="1800" i="1" dirty="0"/>
              <a:t>n</a:t>
            </a:r>
            <a:r>
              <a:rPr lang="en-US" sz="1800" baseline="-25000" dirty="0"/>
              <a:t>1</a:t>
            </a:r>
            <a:r>
              <a:rPr lang="en-US" sz="1800" dirty="0"/>
              <a:t> + 1] = </a:t>
            </a:r>
            <a:r>
              <a:rPr lang="en-US" sz="2200" dirty="0"/>
              <a:t>∞</a:t>
            </a:r>
            <a:r>
              <a:rPr lang="en-US" sz="1800" dirty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9 	</a:t>
            </a:r>
            <a:r>
              <a:rPr lang="en-US" sz="1800" i="1" dirty="0"/>
              <a:t>R</a:t>
            </a:r>
            <a:r>
              <a:rPr lang="en-US" sz="1800" dirty="0"/>
              <a:t>[</a:t>
            </a:r>
            <a:r>
              <a:rPr lang="en-US" sz="1800" i="1" dirty="0"/>
              <a:t>n</a:t>
            </a:r>
            <a:r>
              <a:rPr lang="en-US" sz="1800" baseline="-25000" dirty="0"/>
              <a:t>2</a:t>
            </a:r>
            <a:r>
              <a:rPr lang="en-US" sz="1800" dirty="0"/>
              <a:t> + 1] = </a:t>
            </a:r>
            <a:r>
              <a:rPr lang="en-US" sz="2200" dirty="0"/>
              <a:t>∞</a:t>
            </a:r>
            <a:r>
              <a:rPr lang="en-US" sz="1800" dirty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10 	</a:t>
            </a:r>
            <a:r>
              <a:rPr lang="en-US" sz="1800" i="1" dirty="0" err="1"/>
              <a:t>i</a:t>
            </a:r>
            <a:r>
              <a:rPr lang="en-US" sz="1800" dirty="0"/>
              <a:t> = 1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11 	</a:t>
            </a:r>
            <a:r>
              <a:rPr lang="en-US" sz="1800" i="1" dirty="0"/>
              <a:t>j</a:t>
            </a:r>
            <a:r>
              <a:rPr lang="en-US" sz="1800" dirty="0"/>
              <a:t> = 1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12 	</a:t>
            </a:r>
            <a:r>
              <a:rPr lang="en-US" sz="1800" b="1" dirty="0"/>
              <a:t>for</a:t>
            </a:r>
            <a:r>
              <a:rPr lang="en-US" sz="1800" dirty="0"/>
              <a:t> </a:t>
            </a:r>
            <a:r>
              <a:rPr lang="en-US" sz="1800" i="1" dirty="0"/>
              <a:t>k</a:t>
            </a:r>
            <a:r>
              <a:rPr lang="en-US" sz="1800" dirty="0"/>
              <a:t> = </a:t>
            </a:r>
            <a:r>
              <a:rPr lang="en-US" sz="1800" i="1" dirty="0"/>
              <a:t>p</a:t>
            </a:r>
            <a:r>
              <a:rPr lang="en-US" sz="1800" dirty="0"/>
              <a:t> </a:t>
            </a:r>
            <a:r>
              <a:rPr lang="en-US" sz="1800" b="1" dirty="0"/>
              <a:t>to</a:t>
            </a:r>
            <a:r>
              <a:rPr lang="en-US" sz="1800" dirty="0"/>
              <a:t> </a:t>
            </a:r>
            <a:r>
              <a:rPr lang="en-US" sz="1800" i="1" dirty="0"/>
              <a:t>r</a:t>
            </a:r>
            <a:r>
              <a:rPr lang="en-US" sz="1800" dirty="0"/>
              <a:t>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13		 </a:t>
            </a:r>
            <a:r>
              <a:rPr lang="en-US" sz="1800" b="1" dirty="0"/>
              <a:t> if</a:t>
            </a:r>
            <a:r>
              <a:rPr lang="en-US" sz="1800" dirty="0"/>
              <a:t> </a:t>
            </a:r>
            <a:r>
              <a:rPr lang="en-US" sz="1800" i="1" dirty="0"/>
              <a:t>L</a:t>
            </a:r>
            <a:r>
              <a:rPr lang="en-US" sz="1800" dirty="0"/>
              <a:t>[</a:t>
            </a:r>
            <a:r>
              <a:rPr lang="en-US" sz="1800" i="1" dirty="0" err="1"/>
              <a:t>i</a:t>
            </a:r>
            <a:r>
              <a:rPr lang="en-US" sz="1800" dirty="0"/>
              <a:t>] ≤ </a:t>
            </a:r>
            <a:r>
              <a:rPr lang="en-US" sz="1800" i="1" dirty="0"/>
              <a:t>R</a:t>
            </a:r>
            <a:r>
              <a:rPr lang="en-US" sz="1800" dirty="0"/>
              <a:t>[</a:t>
            </a:r>
            <a:r>
              <a:rPr lang="en-US" sz="1800" i="1" dirty="0"/>
              <a:t>j</a:t>
            </a:r>
            <a:r>
              <a:rPr lang="en-US" sz="1800" dirty="0"/>
              <a:t>]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14 			</a:t>
            </a:r>
            <a:r>
              <a:rPr lang="en-US" sz="1800" i="1" dirty="0"/>
              <a:t>A</a:t>
            </a:r>
            <a:r>
              <a:rPr lang="en-US" sz="1800" dirty="0"/>
              <a:t>[</a:t>
            </a:r>
            <a:r>
              <a:rPr lang="en-US" sz="1800" i="1" dirty="0"/>
              <a:t>k</a:t>
            </a:r>
            <a:r>
              <a:rPr lang="en-US" sz="1800" dirty="0"/>
              <a:t>] = </a:t>
            </a:r>
            <a:r>
              <a:rPr lang="en-US" sz="1800" i="1" dirty="0"/>
              <a:t>L</a:t>
            </a:r>
            <a:r>
              <a:rPr lang="en-US" sz="1800" dirty="0"/>
              <a:t>[</a:t>
            </a:r>
            <a:r>
              <a:rPr lang="en-US" sz="1800" i="1" dirty="0" err="1"/>
              <a:t>i</a:t>
            </a:r>
            <a:r>
              <a:rPr lang="en-US" sz="1800" dirty="0"/>
              <a:t>]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15		 	</a:t>
            </a:r>
            <a:r>
              <a:rPr lang="en-US" sz="1800" i="1" dirty="0" err="1"/>
              <a:t>i</a:t>
            </a:r>
            <a:r>
              <a:rPr lang="en-US" sz="1800" dirty="0"/>
              <a:t> = </a:t>
            </a:r>
            <a:r>
              <a:rPr lang="en-US" sz="1800" i="1" dirty="0" err="1"/>
              <a:t>i</a:t>
            </a:r>
            <a:r>
              <a:rPr lang="en-US" sz="1800" dirty="0"/>
              <a:t> + 1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16 		  </a:t>
            </a:r>
            <a:r>
              <a:rPr lang="en-US" sz="1800" b="1" dirty="0"/>
              <a:t>else</a:t>
            </a:r>
            <a:r>
              <a:rPr lang="en-US" sz="1800" dirty="0"/>
              <a:t>         </a:t>
            </a:r>
            <a:r>
              <a:rPr lang="en-US" sz="1800" i="1" dirty="0"/>
              <a:t>A</a:t>
            </a:r>
            <a:r>
              <a:rPr lang="en-US" sz="1800" dirty="0"/>
              <a:t>[</a:t>
            </a:r>
            <a:r>
              <a:rPr lang="en-US" sz="1800" i="1" dirty="0"/>
              <a:t>k</a:t>
            </a:r>
            <a:r>
              <a:rPr lang="en-US" sz="1800" dirty="0"/>
              <a:t>] = </a:t>
            </a:r>
            <a:r>
              <a:rPr lang="en-US" sz="1800" i="1" dirty="0"/>
              <a:t>R</a:t>
            </a:r>
            <a:r>
              <a:rPr lang="en-US" sz="1800" dirty="0"/>
              <a:t>[</a:t>
            </a:r>
            <a:r>
              <a:rPr lang="en-US" sz="1800" i="1" dirty="0"/>
              <a:t>j</a:t>
            </a:r>
            <a:r>
              <a:rPr lang="en-US" sz="1800" dirty="0"/>
              <a:t>]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800" dirty="0"/>
              <a:t>	17			 </a:t>
            </a:r>
            <a:r>
              <a:rPr lang="en-US" sz="1800" i="1" dirty="0"/>
              <a:t>j</a:t>
            </a:r>
            <a:r>
              <a:rPr lang="en-US" sz="1800" dirty="0"/>
              <a:t> = </a:t>
            </a:r>
            <a:r>
              <a:rPr lang="en-US" sz="1800" i="1" dirty="0"/>
              <a:t>j</a:t>
            </a:r>
            <a:r>
              <a:rPr lang="en-US" sz="1800" dirty="0"/>
              <a:t> + 1 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BE1D9A2-4D18-4796-979B-BC49785B92A9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33400"/>
            <a:ext cx="7793038" cy="1143000"/>
          </a:xfrm>
        </p:spPr>
        <p:txBody>
          <a:bodyPr/>
          <a:lstStyle/>
          <a:p>
            <a:pPr eaLnBrk="1" hangingPunct="1"/>
            <a:r>
              <a:rPr lang="en-US" sz="2800"/>
              <a:t>Illustration when the subarray </a:t>
            </a:r>
            <a:r>
              <a:rPr lang="en-US" sz="2800" i="1"/>
              <a:t>A</a:t>
            </a:r>
            <a:r>
              <a:rPr lang="en-US" sz="2800"/>
              <a:t>[9..16] contains the sequence 〈2, 4, 5, 7, 1, 2, 3, 6〉</a:t>
            </a:r>
            <a:r>
              <a:rPr lang="en-US" sz="4000"/>
              <a:t> </a:t>
            </a: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Sri Lanka Institute of Information Technology.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C364AB9-57B6-443E-BF39-E363B707C829}" type="slidenum">
              <a:rPr lang="en-US"/>
              <a:pPr/>
              <a:t>18</a:t>
            </a:fld>
            <a:endParaRPr lang="en-US"/>
          </a:p>
        </p:txBody>
      </p:sp>
      <p:pic>
        <p:nvPicPr>
          <p:cNvPr id="2867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1" y="2057400"/>
            <a:ext cx="7751763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Sri Lanka Institute of Information Technology.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690EA01-C9FE-4EF4-86C0-D78CD2C9A93E}" type="slidenum">
              <a:rPr lang="en-US"/>
              <a:pPr/>
              <a:t>19</a:t>
            </a:fld>
            <a:endParaRPr lang="en-US"/>
          </a:p>
        </p:txBody>
      </p:sp>
      <p:pic>
        <p:nvPicPr>
          <p:cNvPr id="2970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742950"/>
            <a:ext cx="7837488" cy="56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533400"/>
            <a:ext cx="7486650" cy="1143000"/>
          </a:xfrm>
        </p:spPr>
        <p:txBody>
          <a:bodyPr/>
          <a:lstStyle/>
          <a:p>
            <a:pPr eaLnBrk="1" hangingPunct="1"/>
            <a:r>
              <a:rPr lang="en-US"/>
              <a:t>Analysis of Merge Sort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2057400"/>
            <a:ext cx="8534400" cy="4114800"/>
          </a:xfrm>
        </p:spPr>
        <p:txBody>
          <a:bodyPr/>
          <a:lstStyle/>
          <a:p>
            <a:pPr marL="793750" indent="-793750"/>
            <a:r>
              <a:rPr lang="en-US" sz="2400" dirty="0"/>
              <a:t>To find the middle of the sub array will take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cs typeface="Times New Roman" pitchFamily="18" charset="0"/>
              </a:rPr>
              <a:t>(1).</a:t>
            </a:r>
          </a:p>
          <a:p>
            <a:pPr marL="793750" indent="-793750"/>
            <a:r>
              <a:rPr lang="en-US" sz="2400" dirty="0">
                <a:cs typeface="Times New Roman" pitchFamily="18" charset="0"/>
              </a:rPr>
              <a:t>To recursively solve each sub problem will take 2T(n/2).</a:t>
            </a:r>
          </a:p>
          <a:p>
            <a:pPr marL="793750" indent="-793750"/>
            <a:r>
              <a:rPr lang="en-US" sz="2400" dirty="0">
                <a:cs typeface="Times New Roman" pitchFamily="18" charset="0"/>
              </a:rPr>
              <a:t>To combine sub arrays will take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cs typeface="Times New Roman" pitchFamily="18" charset="0"/>
              </a:rPr>
              <a:t>(n).</a:t>
            </a:r>
          </a:p>
          <a:p>
            <a:pPr marL="793750" indent="-793750">
              <a:buNone/>
            </a:pPr>
            <a:r>
              <a:rPr lang="en-US" sz="2400" dirty="0">
                <a:cs typeface="Times New Roman" pitchFamily="18" charset="0"/>
              </a:rPr>
              <a:t> </a:t>
            </a:r>
          </a:p>
          <a:p>
            <a:pPr marL="793750" indent="-793750">
              <a:buNone/>
            </a:pPr>
            <a:r>
              <a:rPr lang="en-US" sz="2400" dirty="0">
                <a:cs typeface="Times New Roman" pitchFamily="18" charset="0"/>
              </a:rPr>
              <a:t>	Therefore </a:t>
            </a:r>
            <a:r>
              <a:rPr lang="en-US" sz="2400" b="1" dirty="0">
                <a:cs typeface="Times New Roman" pitchFamily="18" charset="0"/>
              </a:rPr>
              <a:t>T(n)=2T(n/2)+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b="1" dirty="0">
                <a:cs typeface="Times New Roman" pitchFamily="18" charset="0"/>
              </a:rPr>
              <a:t>(n)</a:t>
            </a:r>
            <a:r>
              <a:rPr lang="en-US" sz="2400" b="1" i="1" dirty="0">
                <a:cs typeface="Times New Roman" pitchFamily="18" charset="0"/>
              </a:rPr>
              <a:t> </a:t>
            </a:r>
            <a:r>
              <a:rPr lang="en-US" sz="2400" b="1" dirty="0">
                <a:cs typeface="Times New Roman" pitchFamily="18" charset="0"/>
              </a:rPr>
              <a:t>+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b="1" dirty="0">
                <a:cs typeface="Times New Roman" pitchFamily="18" charset="0"/>
              </a:rPr>
              <a:t>(1)</a:t>
            </a:r>
            <a:r>
              <a:rPr lang="en-US" sz="2400" b="1" i="1" dirty="0">
                <a:cs typeface="Times New Roman" pitchFamily="18" charset="0"/>
              </a:rPr>
              <a:t> </a:t>
            </a:r>
          </a:p>
          <a:p>
            <a:pPr marL="793750" indent="-793750">
              <a:buNone/>
            </a:pPr>
            <a:r>
              <a:rPr lang="en-US" sz="2400" dirty="0">
                <a:cs typeface="Times New Roman" pitchFamily="18" charset="0"/>
              </a:rPr>
              <a:t>			We can ignore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cs typeface="Times New Roman" pitchFamily="18" charset="0"/>
              </a:rPr>
              <a:t>(1) term.</a:t>
            </a:r>
          </a:p>
          <a:p>
            <a:pPr marL="793750" indent="-793750">
              <a:buNone/>
            </a:pPr>
            <a:r>
              <a:rPr lang="en-US" sz="2400" dirty="0">
                <a:cs typeface="Times New Roman" pitchFamily="18" charset="0"/>
              </a:rPr>
              <a:t>                  </a:t>
            </a:r>
          </a:p>
          <a:p>
            <a:pPr marL="793750" indent="-793750">
              <a:buNone/>
            </a:pPr>
            <a:r>
              <a:rPr lang="en-US" sz="2400" dirty="0">
                <a:cs typeface="Times New Roman" pitchFamily="18" charset="0"/>
              </a:rPr>
              <a:t>                             </a:t>
            </a:r>
            <a:r>
              <a:rPr lang="en-US" sz="2400" b="1" dirty="0">
                <a:cs typeface="Times New Roman" pitchFamily="18" charset="0"/>
              </a:rPr>
              <a:t>T(n)=2T(n/2)+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b="1" dirty="0">
                <a:cs typeface="Times New Roman" pitchFamily="18" charset="0"/>
              </a:rPr>
              <a:t>(n)</a:t>
            </a:r>
            <a:endParaRPr lang="en-US" sz="2400" dirty="0">
              <a:cs typeface="Times New Roman" pitchFamily="18" charset="0"/>
            </a:endParaRP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FDEACC2-C133-4682-B7E2-0F1F7A13462F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7486650" cy="762000"/>
          </a:xfrm>
        </p:spPr>
        <p:txBody>
          <a:bodyPr/>
          <a:lstStyle/>
          <a:p>
            <a:pPr eaLnBrk="1" hangingPunct="1"/>
            <a:r>
              <a:rPr lang="en-US" sz="4000" dirty="0"/>
              <a:t>Analysis of Merge Sort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676400"/>
            <a:ext cx="83058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      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T(n) = </a:t>
            </a:r>
            <a:r>
              <a:rPr lang="en-US" sz="2000" b="1" dirty="0">
                <a:solidFill>
                  <a:srgbClr val="2619CB"/>
                </a:solidFill>
                <a:latin typeface="Arial Unicode MS" pitchFamily="34" charset="-128"/>
              </a:rPr>
              <a:t>2T(n/2)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+ </a:t>
            </a:r>
            <a:r>
              <a:rPr lang="en-US" sz="2000" b="1" dirty="0" err="1">
                <a:solidFill>
                  <a:schemeClr val="tx2"/>
                </a:solidFill>
                <a:latin typeface="Arial Unicode MS" pitchFamily="34" charset="-128"/>
              </a:rPr>
              <a:t>cn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      </a:t>
            </a:r>
            <a:r>
              <a:rPr lang="en-US" sz="2000" b="1" dirty="0">
                <a:solidFill>
                  <a:srgbClr val="2619CB"/>
                </a:solidFill>
                <a:latin typeface="Arial Unicode MS" pitchFamily="34" charset="-128"/>
              </a:rPr>
              <a:t>2T(n/2)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= </a:t>
            </a:r>
            <a:r>
              <a:rPr lang="en-US" sz="2000" b="1" dirty="0">
                <a:solidFill>
                  <a:srgbClr val="F40C0C"/>
                </a:solidFill>
                <a:latin typeface="Arial Unicode MS" pitchFamily="34" charset="-128"/>
              </a:rPr>
              <a:t>4T(n/4)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+ 2cn/2      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      </a:t>
            </a:r>
            <a:r>
              <a:rPr lang="en-US" sz="2000" b="1" dirty="0">
                <a:solidFill>
                  <a:srgbClr val="F40C0C"/>
                </a:solidFill>
                <a:latin typeface="Arial Unicode MS" pitchFamily="34" charset="-128"/>
              </a:rPr>
              <a:t>4T(n/4)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= </a:t>
            </a:r>
            <a:r>
              <a:rPr lang="en-US" sz="2000" b="1" dirty="0">
                <a:solidFill>
                  <a:srgbClr val="040404"/>
                </a:solidFill>
                <a:latin typeface="Arial Unicode MS" pitchFamily="34" charset="-128"/>
              </a:rPr>
              <a:t>8T(n/8)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+ 4cn/4                                                                                                          	 -                                                                                    	   -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             - 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              -                                                                                               	T(2)  = </a:t>
            </a:r>
            <a:r>
              <a:rPr lang="en-US" sz="2000" b="1" dirty="0" err="1">
                <a:solidFill>
                  <a:schemeClr val="tx2"/>
                </a:solidFill>
                <a:latin typeface="Arial Unicode MS" pitchFamily="34" charset="-128"/>
              </a:rPr>
              <a:t>nT</a:t>
            </a:r>
            <a:r>
              <a:rPr lang="en-US" sz="2000" b="1" dirty="0">
                <a:solidFill>
                  <a:schemeClr val="tx2"/>
                </a:solidFill>
                <a:latin typeface="Arial Unicode MS" pitchFamily="34" charset="-128"/>
              </a:rPr>
              <a:t>(1)  +  (n/2) c*2                 	                                                       -----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------------------------ -----------------               	                                  add and cancel:              	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	  T(n) = </a:t>
            </a:r>
            <a:r>
              <a:rPr lang="en-US" sz="2400" b="1" dirty="0" err="1">
                <a:solidFill>
                  <a:schemeClr val="tx2"/>
                </a:solidFill>
                <a:latin typeface="Arial Unicode MS" pitchFamily="34" charset="-128"/>
              </a:rPr>
              <a:t>nT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(1) +</a:t>
            </a:r>
            <a:r>
              <a:rPr lang="en-US" sz="2400" b="1" dirty="0" err="1">
                <a:solidFill>
                  <a:schemeClr val="tx2"/>
                </a:solidFill>
                <a:latin typeface="Arial Unicode MS" pitchFamily="34" charset="-128"/>
              </a:rPr>
              <a:t>cn+cn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+...+</a:t>
            </a:r>
            <a:r>
              <a:rPr lang="en-US" sz="2400" b="1" dirty="0" err="1">
                <a:solidFill>
                  <a:schemeClr val="tx2"/>
                </a:solidFill>
                <a:latin typeface="Arial Unicode MS" pitchFamily="34" charset="-128"/>
              </a:rPr>
              <a:t>cn</a:t>
            </a:r>
            <a:endParaRPr lang="en-US" sz="2400" b="1" dirty="0">
              <a:solidFill>
                <a:schemeClr val="tx2"/>
              </a:solidFill>
              <a:latin typeface="Arial Unicode MS" pitchFamily="34" charset="-128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                    = </a:t>
            </a:r>
            <a:r>
              <a:rPr lang="en-US" sz="2400" b="1" dirty="0" err="1">
                <a:solidFill>
                  <a:schemeClr val="tx2"/>
                </a:solidFill>
                <a:latin typeface="Arial Unicode MS" pitchFamily="34" charset="-128"/>
              </a:rPr>
              <a:t>nT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(1) +  </a:t>
            </a:r>
            <a:r>
              <a:rPr lang="en-US" sz="2400" b="1" dirty="0" err="1">
                <a:solidFill>
                  <a:schemeClr val="tx2"/>
                </a:solidFill>
                <a:latin typeface="Arial Unicode MS" pitchFamily="34" charset="-128"/>
              </a:rPr>
              <a:t>cn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 * log</a:t>
            </a:r>
            <a:r>
              <a:rPr lang="en-US" sz="2400" b="1" baseline="-25000" dirty="0">
                <a:solidFill>
                  <a:schemeClr val="tx2"/>
                </a:solidFill>
                <a:latin typeface="Arial Unicode MS" pitchFamily="34" charset="-128"/>
              </a:rPr>
              <a:t>2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 n  =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(</a:t>
            </a:r>
            <a:r>
              <a:rPr lang="en-US" sz="2400" b="1" dirty="0" err="1">
                <a:solidFill>
                  <a:schemeClr val="tx2"/>
                </a:solidFill>
                <a:latin typeface="Arial Unicode MS" pitchFamily="34" charset="-128"/>
              </a:rPr>
              <a:t>nlog</a:t>
            </a:r>
            <a:r>
              <a:rPr lang="en-US" sz="2400" b="1" dirty="0">
                <a:solidFill>
                  <a:schemeClr val="tx2"/>
                </a:solidFill>
                <a:latin typeface="Arial Unicode MS" pitchFamily="34" charset="-128"/>
              </a:rPr>
              <a:t> n) </a:t>
            </a:r>
            <a:endParaRPr lang="en-US" sz="2400" b="1" dirty="0">
              <a:solidFill>
                <a:schemeClr val="tx2"/>
              </a:solidFill>
            </a:endParaRPr>
          </a:p>
          <a:p>
            <a:pPr marL="0" indent="0"/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1A6DC4C-700D-4AE2-B65D-8595A23D1242}" type="slidenum">
              <a:rPr lang="en-US"/>
              <a:pPr/>
              <a:t>21</a:t>
            </a:fld>
            <a:endParaRPr lang="en-US"/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 flipV="1">
            <a:off x="3048000" y="2057400"/>
            <a:ext cx="609600" cy="15240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 type="triangle"/>
            <a:tailEnd type="non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 flipV="1">
            <a:off x="3048000" y="2514600"/>
            <a:ext cx="838200" cy="10795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 type="triangle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flipV="1">
            <a:off x="3048000" y="2895600"/>
            <a:ext cx="787400" cy="184150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  <a:headEnd type="triangle"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5" y="1787046"/>
            <a:ext cx="3821750" cy="25563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nimBg="1"/>
      <p:bldP spid="44037" grpId="0" animBg="1"/>
      <p:bldP spid="440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7793038" cy="1143000"/>
          </a:xfrm>
        </p:spPr>
        <p:txBody>
          <a:bodyPr/>
          <a:lstStyle/>
          <a:p>
            <a:pPr eaLnBrk="1" hangingPunct="1"/>
            <a:r>
              <a:rPr lang="en-US"/>
              <a:t>Summary.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76400"/>
            <a:ext cx="7772400" cy="4114800"/>
          </a:xfrm>
        </p:spPr>
        <p:txBody>
          <a:bodyPr/>
          <a:lstStyle/>
          <a:p>
            <a:pPr lvl="2"/>
            <a:r>
              <a:rPr lang="en-AU" b="1" dirty="0">
                <a:solidFill>
                  <a:srgbClr val="333333"/>
                </a:solidFill>
                <a:latin typeface="Arial" charset="0"/>
              </a:rPr>
              <a:t>Divide and conquer method.</a:t>
            </a:r>
          </a:p>
          <a:p>
            <a:pPr lvl="2"/>
            <a:r>
              <a:rPr lang="en-AU" b="1" dirty="0">
                <a:solidFill>
                  <a:srgbClr val="333333"/>
                </a:solidFill>
                <a:latin typeface="Arial" charset="0"/>
              </a:rPr>
              <a:t>Quicksort algorithm.</a:t>
            </a:r>
          </a:p>
          <a:p>
            <a:pPr lvl="2"/>
            <a:r>
              <a:rPr lang="en-AU" b="1" dirty="0">
                <a:solidFill>
                  <a:srgbClr val="333333"/>
                </a:solidFill>
                <a:latin typeface="Arial" charset="0"/>
              </a:rPr>
              <a:t>Quicksort analysis.</a:t>
            </a:r>
          </a:p>
          <a:p>
            <a:pPr lvl="2"/>
            <a:r>
              <a:rPr lang="en-AU" b="1" dirty="0" err="1">
                <a:solidFill>
                  <a:srgbClr val="333333"/>
                </a:solidFill>
                <a:latin typeface="Arial" charset="0"/>
              </a:rPr>
              <a:t>Mergesort</a:t>
            </a:r>
            <a:r>
              <a:rPr lang="en-AU" b="1" dirty="0">
                <a:solidFill>
                  <a:srgbClr val="333333"/>
                </a:solidFill>
                <a:latin typeface="Arial" charset="0"/>
              </a:rPr>
              <a:t> algorithm.</a:t>
            </a:r>
          </a:p>
          <a:p>
            <a:pPr lvl="2"/>
            <a:r>
              <a:rPr lang="en-AU" b="1" dirty="0" err="1">
                <a:solidFill>
                  <a:srgbClr val="333333"/>
                </a:solidFill>
                <a:latin typeface="Arial" charset="0"/>
              </a:rPr>
              <a:t>Mergesort</a:t>
            </a:r>
            <a:r>
              <a:rPr lang="en-AU" b="1" dirty="0">
                <a:solidFill>
                  <a:srgbClr val="333333"/>
                </a:solidFill>
                <a:latin typeface="Arial" charset="0"/>
              </a:rPr>
              <a:t> analysis.</a:t>
            </a:r>
          </a:p>
          <a:p>
            <a:pPr marL="914400" lvl="2" indent="0">
              <a:buNone/>
            </a:pPr>
            <a:endParaRPr lang="en-AU" b="1" dirty="0">
              <a:solidFill>
                <a:srgbClr val="333333"/>
              </a:solidFill>
              <a:latin typeface="Arial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BAA604B-AA50-4FFF-A3A4-CAA2B2744374}" type="slidenum">
              <a:rPr lang="en-US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88ED978-1793-4645-B706-86B5D451987D}" vid="{EAE29390-8B5E-4EF4-A794-C1496CF16FC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10129</TotalTime>
  <Words>1107</Words>
  <Application>Microsoft Office PowerPoint</Application>
  <PresentationFormat>Widescreen</PresentationFormat>
  <Paragraphs>222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6" baseType="lpstr">
      <vt:lpstr>Arial Unicode MS</vt:lpstr>
      <vt:lpstr>Arial</vt:lpstr>
      <vt:lpstr>Calibri</vt:lpstr>
      <vt:lpstr>Calibri Light</vt:lpstr>
      <vt:lpstr>Courier New</vt:lpstr>
      <vt:lpstr>Garamond</vt:lpstr>
      <vt:lpstr>Helvetica</vt:lpstr>
      <vt:lpstr>Symbol</vt:lpstr>
      <vt:lpstr>Times New Roman</vt:lpstr>
      <vt:lpstr>Wingdings</vt:lpstr>
      <vt:lpstr>Custom Design</vt:lpstr>
      <vt:lpstr>1_Custom Design</vt:lpstr>
      <vt:lpstr>Theme1</vt:lpstr>
      <vt:lpstr>2_Custom Design</vt:lpstr>
      <vt:lpstr>PowerPoint Presentation</vt:lpstr>
      <vt:lpstr>Today's Lecture</vt:lpstr>
      <vt:lpstr>Divide and Conquer </vt:lpstr>
      <vt:lpstr>Applications </vt:lpstr>
      <vt:lpstr>Quick Sort (contd.)</vt:lpstr>
      <vt:lpstr>Quick Sort procedure</vt:lpstr>
      <vt:lpstr>Partition Algorithm</vt:lpstr>
      <vt:lpstr>PowerPoint Presentation</vt:lpstr>
      <vt:lpstr>PowerPoint Presentation</vt:lpstr>
      <vt:lpstr>Analysis of Quick sort</vt:lpstr>
      <vt:lpstr>Analysis of Quick sort</vt:lpstr>
      <vt:lpstr>Analysis of Quick sort</vt:lpstr>
      <vt:lpstr>Analysis of Quick Sort (with recursion tree)</vt:lpstr>
      <vt:lpstr>Merge sort</vt:lpstr>
      <vt:lpstr>Merge sort</vt:lpstr>
      <vt:lpstr>Merge sort procedure</vt:lpstr>
      <vt:lpstr>Merge procedure </vt:lpstr>
      <vt:lpstr>Illustration when the subarray A[9..16] contains the sequence 〈2, 4, 5, 7, 1, 2, 3, 6〉 </vt:lpstr>
      <vt:lpstr>PowerPoint Presentation</vt:lpstr>
      <vt:lpstr>Analysis of Merge Sort</vt:lpstr>
      <vt:lpstr>Analysis of Merge Sort</vt:lpstr>
      <vt:lpstr>Summary.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Losini Shanmugam</dc:creator>
  <cp:lastModifiedBy>Namalie Walgampaya</cp:lastModifiedBy>
  <cp:revision>94</cp:revision>
  <dcterms:created xsi:type="dcterms:W3CDTF">2017-06-04T15:05:52Z</dcterms:created>
  <dcterms:modified xsi:type="dcterms:W3CDTF">2022-10-10T01:59:17Z</dcterms:modified>
</cp:coreProperties>
</file>